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Arimo" charset="1" panose="020B0604020202020204"/>
      <p:regular r:id="rId12"/>
    </p:embeddedFont>
    <p:embeddedFont>
      <p:font typeface="Arimo Bold" charset="1" panose="020B0704020202020204"/>
      <p:regular r:id="rId13"/>
    </p:embeddedFont>
    <p:embeddedFont>
      <p:font typeface="Arimo Italics" charset="1" panose="020B0604020202090204"/>
      <p:regular r:id="rId14"/>
    </p:embeddedFont>
    <p:embeddedFont>
      <p:font typeface="Calibri (MS) Bold" charset="1" panose="020F0702030404030204"/>
      <p:regular r:id="rId15"/>
    </p:embeddedFont>
    <p:embeddedFont>
      <p:font typeface="Calibri (MS)" charset="1" panose="020F0502020204030204"/>
      <p:regular r:id="rId16"/>
    </p:embeddedFont>
    <p:embeddedFont>
      <p:font typeface="Calibri (MS) Bold Italics" charset="1" panose="020F07020304040A0204"/>
      <p:regular r:id="rId17"/>
    </p:embeddedFont>
    <p:embeddedFont>
      <p:font typeface="Calibri (MS) Italics" charset="1" panose="020F05020202040A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3547865" y="9644777"/>
            <a:ext cx="3597135" cy="184671"/>
            <a:chOff x="0" y="0"/>
            <a:chExt cx="4796180" cy="246228"/>
          </a:xfrm>
        </p:grpSpPr>
        <p:sp>
          <p:nvSpPr>
            <p:cNvPr name="Freeform 4" id="4"/>
            <p:cNvSpPr/>
            <p:nvPr/>
          </p:nvSpPr>
          <p:spPr>
            <a:xfrm flipH="false" flipV="false" rot="0">
              <a:off x="0" y="0"/>
              <a:ext cx="4796184" cy="246222"/>
            </a:xfrm>
            <a:custGeom>
              <a:avLst/>
              <a:gdLst/>
              <a:ahLst/>
              <a:cxnLst/>
              <a:rect r="r" b="b" t="t" l="l"/>
              <a:pathLst>
                <a:path h="246222" w="4796184">
                  <a:moveTo>
                    <a:pt x="0" y="0"/>
                  </a:moveTo>
                  <a:lnTo>
                    <a:pt x="4796184" y="0"/>
                  </a:lnTo>
                  <a:lnTo>
                    <a:pt x="4796184" y="246222"/>
                  </a:lnTo>
                  <a:lnTo>
                    <a:pt x="0" y="246222"/>
                  </a:lnTo>
                  <a:close/>
                </a:path>
              </a:pathLst>
            </a:custGeom>
            <a:blipFill>
              <a:blip r:embed="rId3">
                <a:alphaModFix amt="0"/>
              </a:blip>
              <a:stretch>
                <a:fillRect l="0" t="-329549" r="0" b="-329551"/>
              </a:stretch>
            </a:blipFill>
          </p:spPr>
        </p:sp>
        <p:sp>
          <p:nvSpPr>
            <p:cNvPr name="TextBox 5" id="5"/>
            <p:cNvSpPr txBox="true"/>
            <p:nvPr/>
          </p:nvSpPr>
          <p:spPr>
            <a:xfrm>
              <a:off x="0" y="-19050"/>
              <a:ext cx="4796180" cy="265278"/>
            </a:xfrm>
            <a:prstGeom prst="rect">
              <a:avLst/>
            </a:prstGeom>
          </p:spPr>
          <p:txBody>
            <a:bodyPr anchor="ctr" rtlCol="false" tIns="0" lIns="0" bIns="0" rIns="0"/>
            <a:lstStyle/>
            <a:p>
              <a:pPr algn="r">
                <a:lnSpc>
                  <a:spcPts val="1439"/>
                </a:lnSpc>
              </a:pPr>
              <a:r>
                <a:rPr lang="en-US" sz="1200">
                  <a:solidFill>
                    <a:srgbClr val="808080"/>
                  </a:solidFill>
                  <a:latin typeface="Arimo"/>
                  <a:ea typeface="Arimo"/>
                  <a:cs typeface="Arimo"/>
                  <a:sym typeface="Arimo"/>
                </a:rPr>
                <a:t>Copyright © 2025 Accenture. All rights reserved.</a:t>
              </a:r>
            </a:p>
          </p:txBody>
        </p:sp>
      </p:grpSp>
      <p:grpSp>
        <p:nvGrpSpPr>
          <p:cNvPr name="Group 6" id="6"/>
          <p:cNvGrpSpPr/>
          <p:nvPr/>
        </p:nvGrpSpPr>
        <p:grpSpPr>
          <a:xfrm rot="0">
            <a:off x="17528943" y="9644777"/>
            <a:ext cx="187557" cy="184671"/>
            <a:chOff x="0" y="0"/>
            <a:chExt cx="250076" cy="246228"/>
          </a:xfrm>
        </p:grpSpPr>
        <p:sp>
          <p:nvSpPr>
            <p:cNvPr name="Freeform 7" id="7"/>
            <p:cNvSpPr/>
            <p:nvPr/>
          </p:nvSpPr>
          <p:spPr>
            <a:xfrm flipH="false" flipV="false" rot="0">
              <a:off x="0" y="0"/>
              <a:ext cx="250070" cy="246222"/>
            </a:xfrm>
            <a:custGeom>
              <a:avLst/>
              <a:gdLst/>
              <a:ahLst/>
              <a:cxnLst/>
              <a:rect r="r" b="b" t="t" l="l"/>
              <a:pathLst>
                <a:path h="246222" w="250070">
                  <a:moveTo>
                    <a:pt x="0" y="0"/>
                  </a:moveTo>
                  <a:lnTo>
                    <a:pt x="250070" y="0"/>
                  </a:lnTo>
                  <a:lnTo>
                    <a:pt x="250070" y="246222"/>
                  </a:lnTo>
                  <a:lnTo>
                    <a:pt x="0" y="246222"/>
                  </a:lnTo>
                  <a:close/>
                </a:path>
              </a:pathLst>
            </a:custGeom>
            <a:blipFill>
              <a:blip r:embed="rId3">
                <a:alphaModFix amt="0"/>
              </a:blip>
              <a:stretch>
                <a:fillRect l="-76331" t="0" r="-76333" b="-2"/>
              </a:stretch>
            </a:blipFill>
          </p:spPr>
        </p:sp>
        <p:sp>
          <p:nvSpPr>
            <p:cNvPr name="TextBox 8" id="8"/>
            <p:cNvSpPr txBox="true"/>
            <p:nvPr/>
          </p:nvSpPr>
          <p:spPr>
            <a:xfrm>
              <a:off x="0" y="-19050"/>
              <a:ext cx="250076" cy="265278"/>
            </a:xfrm>
            <a:prstGeom prst="rect">
              <a:avLst/>
            </a:prstGeom>
          </p:spPr>
          <p:txBody>
            <a:bodyPr anchor="ctr" rtlCol="false" tIns="0" lIns="0" bIns="0" rIns="0"/>
            <a:lstStyle/>
            <a:p>
              <a:pPr algn="r">
                <a:lnSpc>
                  <a:spcPts val="1439"/>
                </a:lnSpc>
              </a:pPr>
              <a:r>
                <a:rPr lang="en-US" sz="1200">
                  <a:solidFill>
                    <a:srgbClr val="808080"/>
                  </a:solidFill>
                  <a:latin typeface="Arimo"/>
                  <a:ea typeface="Arimo"/>
                  <a:cs typeface="Arimo"/>
                  <a:sym typeface="Arimo"/>
                </a:rPr>
                <a:t>‹#›</a:t>
              </a:r>
            </a:p>
          </p:txBody>
        </p:sp>
      </p:grpSp>
      <p:grpSp>
        <p:nvGrpSpPr>
          <p:cNvPr name="Group 9" id="9"/>
          <p:cNvGrpSpPr/>
          <p:nvPr/>
        </p:nvGrpSpPr>
        <p:grpSpPr>
          <a:xfrm rot="0">
            <a:off x="829761" y="9586236"/>
            <a:ext cx="274806" cy="301752"/>
            <a:chOff x="0" y="0"/>
            <a:chExt cx="366408" cy="402336"/>
          </a:xfrm>
        </p:grpSpPr>
        <p:sp>
          <p:nvSpPr>
            <p:cNvPr name="Freeform 10" id="10"/>
            <p:cNvSpPr/>
            <p:nvPr/>
          </p:nvSpPr>
          <p:spPr>
            <a:xfrm flipH="false" flipV="false" rot="0">
              <a:off x="0" y="0"/>
              <a:ext cx="366395" cy="402336"/>
            </a:xfrm>
            <a:custGeom>
              <a:avLst/>
              <a:gdLst/>
              <a:ahLst/>
              <a:cxnLst/>
              <a:rect r="r" b="b" t="t" l="l"/>
              <a:pathLst>
                <a:path h="402336" w="366395">
                  <a:moveTo>
                    <a:pt x="0" y="402336"/>
                  </a:moveTo>
                  <a:lnTo>
                    <a:pt x="366395" y="253619"/>
                  </a:lnTo>
                  <a:lnTo>
                    <a:pt x="366395" y="148717"/>
                  </a:lnTo>
                  <a:lnTo>
                    <a:pt x="0" y="0"/>
                  </a:lnTo>
                  <a:lnTo>
                    <a:pt x="0" y="105029"/>
                  </a:lnTo>
                  <a:lnTo>
                    <a:pt x="236855" y="201168"/>
                  </a:lnTo>
                  <a:lnTo>
                    <a:pt x="0" y="297307"/>
                  </a:lnTo>
                  <a:lnTo>
                    <a:pt x="0" y="402336"/>
                  </a:lnTo>
                  <a:close/>
                </a:path>
              </a:pathLst>
            </a:custGeom>
            <a:solidFill>
              <a:srgbClr val="A100FF"/>
            </a:solidFill>
          </p:spPr>
        </p:sp>
      </p:grpSp>
      <p:grpSp>
        <p:nvGrpSpPr>
          <p:cNvPr name="Group 11" id="11"/>
          <p:cNvGrpSpPr/>
          <p:nvPr/>
        </p:nvGrpSpPr>
        <p:grpSpPr>
          <a:xfrm rot="0">
            <a:off x="1757924" y="836381"/>
            <a:ext cx="1865728" cy="492766"/>
            <a:chOff x="0" y="0"/>
            <a:chExt cx="2487638" cy="657022"/>
          </a:xfrm>
        </p:grpSpPr>
        <p:sp>
          <p:nvSpPr>
            <p:cNvPr name="Freeform 12" id="12" descr="accenture logo"/>
            <p:cNvSpPr/>
            <p:nvPr/>
          </p:nvSpPr>
          <p:spPr>
            <a:xfrm flipH="false" flipV="false" rot="0">
              <a:off x="0" y="0"/>
              <a:ext cx="2487676" cy="656971"/>
            </a:xfrm>
            <a:custGeom>
              <a:avLst/>
              <a:gdLst/>
              <a:ahLst/>
              <a:cxnLst/>
              <a:rect r="r" b="b" t="t" l="l"/>
              <a:pathLst>
                <a:path h="656971" w="2487676">
                  <a:moveTo>
                    <a:pt x="0" y="0"/>
                  </a:moveTo>
                  <a:lnTo>
                    <a:pt x="2487676" y="0"/>
                  </a:lnTo>
                  <a:lnTo>
                    <a:pt x="2487676" y="656971"/>
                  </a:lnTo>
                  <a:lnTo>
                    <a:pt x="0" y="656971"/>
                  </a:lnTo>
                  <a:lnTo>
                    <a:pt x="0" y="0"/>
                  </a:lnTo>
                  <a:close/>
                </a:path>
              </a:pathLst>
            </a:custGeom>
            <a:blipFill>
              <a:blip r:embed="rId4"/>
              <a:stretch>
                <a:fillRect l="0" t="-112" r="1" b="-119"/>
              </a:stretch>
            </a:blipFill>
          </p:spPr>
        </p:sp>
      </p:grpSp>
      <p:grpSp>
        <p:nvGrpSpPr>
          <p:cNvPr name="Group 13" id="13"/>
          <p:cNvGrpSpPr/>
          <p:nvPr/>
        </p:nvGrpSpPr>
        <p:grpSpPr>
          <a:xfrm rot="0">
            <a:off x="29" y="1924"/>
            <a:ext cx="18287971" cy="10285076"/>
            <a:chOff x="0" y="0"/>
            <a:chExt cx="24383962" cy="13713435"/>
          </a:xfrm>
        </p:grpSpPr>
        <p:sp>
          <p:nvSpPr>
            <p:cNvPr name="Freeform 14" id="14"/>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5"/>
              <a:stretch>
                <a:fillRect l="0" t="0" r="-210" b="-3129"/>
              </a:stretch>
            </a:blipFill>
          </p:spPr>
        </p:sp>
      </p:grpSp>
      <p:sp>
        <p:nvSpPr>
          <p:cNvPr name="TextBox 15" id="15"/>
          <p:cNvSpPr txBox="true"/>
          <p:nvPr/>
        </p:nvSpPr>
        <p:spPr>
          <a:xfrm rot="0">
            <a:off x="4576429" y="8295751"/>
            <a:ext cx="9135142" cy="625440"/>
          </a:xfrm>
          <a:prstGeom prst="rect">
            <a:avLst/>
          </a:prstGeom>
        </p:spPr>
        <p:txBody>
          <a:bodyPr anchor="t" rtlCol="false" tIns="0" lIns="0" bIns="0" rIns="0">
            <a:spAutoFit/>
          </a:bodyPr>
          <a:lstStyle/>
          <a:p>
            <a:pPr algn="ctr">
              <a:lnSpc>
                <a:spcPts val="5580"/>
              </a:lnSpc>
            </a:pPr>
            <a:r>
              <a:rPr lang="en-US" b="true" sz="6000" spc="-225">
                <a:solidFill>
                  <a:srgbClr val="FFFFFF"/>
                </a:solidFill>
                <a:latin typeface="Arimo Bold"/>
                <a:ea typeface="Arimo Bold"/>
                <a:cs typeface="Arimo Bold"/>
                <a:sym typeface="Arimo Bold"/>
              </a:rPr>
              <a:t>AI reinvention made real</a:t>
            </a:r>
          </a:p>
        </p:txBody>
      </p:sp>
      <p:grpSp>
        <p:nvGrpSpPr>
          <p:cNvPr name="Group 16" id="16"/>
          <p:cNvGrpSpPr/>
          <p:nvPr/>
        </p:nvGrpSpPr>
        <p:grpSpPr>
          <a:xfrm rot="0">
            <a:off x="5788114" y="8985714"/>
            <a:ext cx="6711772" cy="528971"/>
            <a:chOff x="0" y="0"/>
            <a:chExt cx="8949030" cy="705294"/>
          </a:xfrm>
        </p:grpSpPr>
        <p:sp>
          <p:nvSpPr>
            <p:cNvPr name="Freeform 17" id="17"/>
            <p:cNvSpPr/>
            <p:nvPr/>
          </p:nvSpPr>
          <p:spPr>
            <a:xfrm flipH="false" flipV="false" rot="0">
              <a:off x="0" y="0"/>
              <a:ext cx="8949055" cy="705231"/>
            </a:xfrm>
            <a:custGeom>
              <a:avLst/>
              <a:gdLst/>
              <a:ahLst/>
              <a:cxnLst/>
              <a:rect r="r" b="b" t="t" l="l"/>
              <a:pathLst>
                <a:path h="705231" w="8949055">
                  <a:moveTo>
                    <a:pt x="0" y="0"/>
                  </a:moveTo>
                  <a:lnTo>
                    <a:pt x="8949055" y="0"/>
                  </a:lnTo>
                  <a:lnTo>
                    <a:pt x="8949055" y="705231"/>
                  </a:lnTo>
                  <a:lnTo>
                    <a:pt x="0" y="705231"/>
                  </a:lnTo>
                  <a:close/>
                </a:path>
              </a:pathLst>
            </a:custGeom>
            <a:solidFill>
              <a:srgbClr val="A100FF"/>
            </a:solidFill>
          </p:spPr>
        </p:sp>
      </p:grpSp>
      <p:sp>
        <p:nvSpPr>
          <p:cNvPr name="TextBox 18" id="18"/>
          <p:cNvSpPr txBox="true"/>
          <p:nvPr/>
        </p:nvSpPr>
        <p:spPr>
          <a:xfrm rot="0">
            <a:off x="5879554" y="8985494"/>
            <a:ext cx="6528892" cy="481613"/>
          </a:xfrm>
          <a:prstGeom prst="rect">
            <a:avLst/>
          </a:prstGeom>
        </p:spPr>
        <p:txBody>
          <a:bodyPr anchor="t" rtlCol="false" tIns="0" lIns="0" bIns="0" rIns="0">
            <a:spAutoFit/>
          </a:bodyPr>
          <a:lstStyle/>
          <a:p>
            <a:pPr algn="ctr">
              <a:lnSpc>
                <a:spcPts val="3240"/>
              </a:lnSpc>
            </a:pPr>
            <a:r>
              <a:rPr lang="en-US" sz="2700">
                <a:solidFill>
                  <a:srgbClr val="FFFFFF"/>
                </a:solidFill>
                <a:latin typeface="Arimo"/>
                <a:ea typeface="Arimo"/>
                <a:cs typeface="Arimo"/>
                <a:sym typeface="Arimo"/>
              </a:rPr>
              <a:t>Accenture Innovation Challenge 2026</a:t>
            </a:r>
          </a:p>
        </p:txBody>
      </p:sp>
      <p:grpSp>
        <p:nvGrpSpPr>
          <p:cNvPr name="Group 19" id="19"/>
          <p:cNvGrpSpPr/>
          <p:nvPr/>
        </p:nvGrpSpPr>
        <p:grpSpPr>
          <a:xfrm rot="0">
            <a:off x="1015336" y="1000592"/>
            <a:ext cx="1876844" cy="495700"/>
            <a:chOff x="0" y="0"/>
            <a:chExt cx="2502459" cy="660933"/>
          </a:xfrm>
        </p:grpSpPr>
        <p:sp>
          <p:nvSpPr>
            <p:cNvPr name="Freeform 20" id="20"/>
            <p:cNvSpPr/>
            <p:nvPr/>
          </p:nvSpPr>
          <p:spPr>
            <a:xfrm flipH="false" flipV="false" rot="0">
              <a:off x="0" y="0"/>
              <a:ext cx="2502408" cy="660908"/>
            </a:xfrm>
            <a:custGeom>
              <a:avLst/>
              <a:gdLst/>
              <a:ahLst/>
              <a:cxnLst/>
              <a:rect r="r" b="b" t="t" l="l"/>
              <a:pathLst>
                <a:path h="660908" w="2502408">
                  <a:moveTo>
                    <a:pt x="0" y="0"/>
                  </a:moveTo>
                  <a:lnTo>
                    <a:pt x="2502408" y="0"/>
                  </a:lnTo>
                  <a:lnTo>
                    <a:pt x="2502408" y="660908"/>
                  </a:lnTo>
                  <a:lnTo>
                    <a:pt x="0" y="660908"/>
                  </a:lnTo>
                  <a:lnTo>
                    <a:pt x="0" y="0"/>
                  </a:lnTo>
                  <a:close/>
                </a:path>
              </a:pathLst>
            </a:custGeom>
            <a:blipFill>
              <a:blip r:embed="rId6"/>
              <a:stretch>
                <a:fillRect l="0" t="0" r="-2" b="-3"/>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74271" y="3759870"/>
            <a:ext cx="2115429" cy="2206981"/>
            <a:chOff x="0" y="0"/>
            <a:chExt cx="2820572" cy="2942641"/>
          </a:xfrm>
        </p:grpSpPr>
        <p:sp>
          <p:nvSpPr>
            <p:cNvPr name="Freeform 3" id="3"/>
            <p:cNvSpPr/>
            <p:nvPr/>
          </p:nvSpPr>
          <p:spPr>
            <a:xfrm flipH="false" flipV="false" rot="0">
              <a:off x="0" y="0"/>
              <a:ext cx="2820597" cy="2942590"/>
            </a:xfrm>
            <a:custGeom>
              <a:avLst/>
              <a:gdLst/>
              <a:ahLst/>
              <a:cxnLst/>
              <a:rect r="r" b="b" t="t" l="l"/>
              <a:pathLst>
                <a:path h="2942590" w="2820597">
                  <a:moveTo>
                    <a:pt x="0" y="0"/>
                  </a:moveTo>
                  <a:lnTo>
                    <a:pt x="2820597" y="0"/>
                  </a:lnTo>
                  <a:lnTo>
                    <a:pt x="2820597" y="2942590"/>
                  </a:lnTo>
                  <a:lnTo>
                    <a:pt x="0" y="2942590"/>
                  </a:lnTo>
                  <a:close/>
                </a:path>
              </a:pathLst>
            </a:custGeom>
            <a:solidFill>
              <a:srgbClr val="A100FF"/>
            </a:solidFill>
          </p:spPr>
        </p:sp>
      </p:grpSp>
      <p:grpSp>
        <p:nvGrpSpPr>
          <p:cNvPr name="Group 4" id="4"/>
          <p:cNvGrpSpPr/>
          <p:nvPr/>
        </p:nvGrpSpPr>
        <p:grpSpPr>
          <a:xfrm rot="0">
            <a:off x="1279074" y="3759870"/>
            <a:ext cx="2165490" cy="2206981"/>
            <a:chOff x="0" y="0"/>
            <a:chExt cx="2887320" cy="2942641"/>
          </a:xfrm>
        </p:grpSpPr>
        <p:sp>
          <p:nvSpPr>
            <p:cNvPr name="Freeform 5" id="5"/>
            <p:cNvSpPr/>
            <p:nvPr/>
          </p:nvSpPr>
          <p:spPr>
            <a:xfrm flipH="false" flipV="false" rot="0">
              <a:off x="0" y="0"/>
              <a:ext cx="2887345" cy="2942590"/>
            </a:xfrm>
            <a:custGeom>
              <a:avLst/>
              <a:gdLst/>
              <a:ahLst/>
              <a:cxnLst/>
              <a:rect r="r" b="b" t="t" l="l"/>
              <a:pathLst>
                <a:path h="2942590" w="2887345">
                  <a:moveTo>
                    <a:pt x="0" y="0"/>
                  </a:moveTo>
                  <a:lnTo>
                    <a:pt x="2887345" y="0"/>
                  </a:lnTo>
                  <a:lnTo>
                    <a:pt x="2887345" y="2942590"/>
                  </a:lnTo>
                  <a:lnTo>
                    <a:pt x="0" y="2942590"/>
                  </a:lnTo>
                  <a:close/>
                </a:path>
              </a:pathLst>
            </a:custGeom>
            <a:solidFill>
              <a:srgbClr val="A100FF"/>
            </a:solidFill>
          </p:spPr>
        </p:sp>
      </p:grpSp>
      <p:sp>
        <p:nvSpPr>
          <p:cNvPr name="TextBox 6" id="6"/>
          <p:cNvSpPr txBox="true"/>
          <p:nvPr/>
        </p:nvSpPr>
        <p:spPr>
          <a:xfrm rot="0">
            <a:off x="692868" y="928554"/>
            <a:ext cx="17145000" cy="948690"/>
          </a:xfrm>
          <a:prstGeom prst="rect">
            <a:avLst/>
          </a:prstGeom>
        </p:spPr>
        <p:txBody>
          <a:bodyPr anchor="t" rtlCol="false" tIns="0" lIns="0" bIns="0" rIns="0">
            <a:spAutoFit/>
          </a:bodyPr>
          <a:lstStyle/>
          <a:p>
            <a:pPr algn="l">
              <a:lnSpc>
                <a:spcPts val="5184"/>
              </a:lnSpc>
            </a:pPr>
            <a:r>
              <a:rPr lang="en-US" sz="5400" b="true">
                <a:solidFill>
                  <a:srgbClr val="000000"/>
                </a:solidFill>
                <a:latin typeface="Arimo Bold"/>
                <a:ea typeface="Arimo Bold"/>
                <a:cs typeface="Arimo Bold"/>
                <a:sym typeface="Arimo Bold"/>
              </a:rPr>
              <a:t>Team details</a:t>
            </a:r>
          </a:p>
        </p:txBody>
      </p:sp>
      <p:grpSp>
        <p:nvGrpSpPr>
          <p:cNvPr name="Group 7" id="7"/>
          <p:cNvGrpSpPr/>
          <p:nvPr/>
        </p:nvGrpSpPr>
        <p:grpSpPr>
          <a:xfrm rot="0">
            <a:off x="3767797" y="3117490"/>
            <a:ext cx="4765510" cy="1623714"/>
            <a:chOff x="0" y="0"/>
            <a:chExt cx="6354013" cy="2164952"/>
          </a:xfrm>
        </p:grpSpPr>
        <p:sp>
          <p:nvSpPr>
            <p:cNvPr name="Freeform 8" id="8"/>
            <p:cNvSpPr/>
            <p:nvPr/>
          </p:nvSpPr>
          <p:spPr>
            <a:xfrm flipH="false" flipV="false" rot="0">
              <a:off x="0" y="0"/>
              <a:ext cx="6354014" cy="2164950"/>
            </a:xfrm>
            <a:custGeom>
              <a:avLst/>
              <a:gdLst/>
              <a:ahLst/>
              <a:cxnLst/>
              <a:rect r="r" b="b" t="t" l="l"/>
              <a:pathLst>
                <a:path h="2164950" w="6354014">
                  <a:moveTo>
                    <a:pt x="0" y="0"/>
                  </a:moveTo>
                  <a:lnTo>
                    <a:pt x="6354014" y="0"/>
                  </a:lnTo>
                  <a:lnTo>
                    <a:pt x="6354014" y="2164950"/>
                  </a:lnTo>
                  <a:lnTo>
                    <a:pt x="0" y="2164950"/>
                  </a:lnTo>
                  <a:close/>
                </a:path>
              </a:pathLst>
            </a:custGeom>
            <a:blipFill>
              <a:blip r:embed="rId2">
                <a:alphaModFix amt="0"/>
              </a:blip>
              <a:stretch>
                <a:fillRect l="0" t="-19719" r="0" b="5344"/>
              </a:stretch>
            </a:blipFill>
          </p:spPr>
        </p:sp>
        <p:sp>
          <p:nvSpPr>
            <p:cNvPr name="TextBox 9" id="9"/>
            <p:cNvSpPr txBox="true"/>
            <p:nvPr/>
          </p:nvSpPr>
          <p:spPr>
            <a:xfrm>
              <a:off x="0" y="85725"/>
              <a:ext cx="6354013" cy="2079227"/>
            </a:xfrm>
            <a:prstGeom prst="rect">
              <a:avLst/>
            </a:prstGeom>
          </p:spPr>
          <p:txBody>
            <a:bodyPr anchor="b" rtlCol="false" tIns="0" lIns="0" bIns="0" rIns="0"/>
            <a:lstStyle/>
            <a:p>
              <a:pPr algn="l">
                <a:lnSpc>
                  <a:spcPts val="4855"/>
                </a:lnSpc>
              </a:pPr>
              <a:r>
                <a:rPr lang="en-US" b="true" sz="4995">
                  <a:solidFill>
                    <a:srgbClr val="A100FF"/>
                  </a:solidFill>
                  <a:latin typeface="Arimo Bold"/>
                  <a:ea typeface="Arimo Bold"/>
                  <a:cs typeface="Arimo Bold"/>
                  <a:sym typeface="Arimo Bold"/>
                </a:rPr>
                <a:t>Rahul Kumar Meena</a:t>
              </a:r>
            </a:p>
          </p:txBody>
        </p:sp>
      </p:grpSp>
      <p:sp>
        <p:nvSpPr>
          <p:cNvPr name="AutoShape 10" id="10"/>
          <p:cNvSpPr/>
          <p:nvPr/>
        </p:nvSpPr>
        <p:spPr>
          <a:xfrm>
            <a:off x="9251117" y="3029121"/>
            <a:ext cx="9488" cy="6795109"/>
          </a:xfrm>
          <a:prstGeom prst="line">
            <a:avLst/>
          </a:prstGeom>
          <a:ln cap="rnd" w="9525">
            <a:solidFill>
              <a:srgbClr val="460073"/>
            </a:solidFill>
            <a:prstDash val="solid"/>
            <a:headEnd type="none" len="sm" w="sm"/>
            <a:tailEnd type="none" len="sm" w="sm"/>
          </a:ln>
        </p:spPr>
      </p:sp>
      <p:grpSp>
        <p:nvGrpSpPr>
          <p:cNvPr name="Group 11" id="11"/>
          <p:cNvGrpSpPr/>
          <p:nvPr/>
        </p:nvGrpSpPr>
        <p:grpSpPr>
          <a:xfrm rot="0">
            <a:off x="3767797" y="6069691"/>
            <a:ext cx="5882180" cy="1707940"/>
            <a:chOff x="0" y="0"/>
            <a:chExt cx="7842906" cy="2277253"/>
          </a:xfrm>
        </p:grpSpPr>
        <p:sp>
          <p:nvSpPr>
            <p:cNvPr name="Freeform 12" id="12"/>
            <p:cNvSpPr/>
            <p:nvPr/>
          </p:nvSpPr>
          <p:spPr>
            <a:xfrm flipH="false" flipV="false" rot="0">
              <a:off x="0" y="0"/>
              <a:ext cx="7842910" cy="2277251"/>
            </a:xfrm>
            <a:custGeom>
              <a:avLst/>
              <a:gdLst/>
              <a:ahLst/>
              <a:cxnLst/>
              <a:rect r="r" b="b" t="t" l="l"/>
              <a:pathLst>
                <a:path h="2277251" w="7842910">
                  <a:moveTo>
                    <a:pt x="0" y="0"/>
                  </a:moveTo>
                  <a:lnTo>
                    <a:pt x="7842910" y="0"/>
                  </a:lnTo>
                  <a:lnTo>
                    <a:pt x="7842910" y="2277251"/>
                  </a:lnTo>
                  <a:lnTo>
                    <a:pt x="0" y="2277251"/>
                  </a:lnTo>
                  <a:close/>
                </a:path>
              </a:pathLst>
            </a:custGeom>
            <a:blipFill>
              <a:blip r:embed="rId2">
                <a:alphaModFix amt="0"/>
              </a:blip>
              <a:stretch>
                <a:fillRect l="-7736" t="0" r="54657" b="28759"/>
              </a:stretch>
            </a:blipFill>
          </p:spPr>
        </p:sp>
        <p:sp>
          <p:nvSpPr>
            <p:cNvPr name="TextBox 13" id="13"/>
            <p:cNvSpPr txBox="true"/>
            <p:nvPr/>
          </p:nvSpPr>
          <p:spPr>
            <a:xfrm>
              <a:off x="0" y="28575"/>
              <a:ext cx="7842906" cy="2248678"/>
            </a:xfrm>
            <a:prstGeom prst="rect">
              <a:avLst/>
            </a:prstGeom>
          </p:spPr>
          <p:txBody>
            <a:bodyPr anchor="b" rtlCol="false" tIns="0" lIns="0" bIns="0" rIns="0"/>
            <a:lstStyle/>
            <a:p>
              <a:pPr algn="l">
                <a:lnSpc>
                  <a:spcPts val="5400"/>
                </a:lnSpc>
              </a:pPr>
              <a:r>
                <a:rPr lang="en-US" b="true" sz="5000">
                  <a:solidFill>
                    <a:srgbClr val="A100FF"/>
                  </a:solidFill>
                  <a:latin typeface="Arimo Bold"/>
                  <a:ea typeface="Arimo Bold"/>
                  <a:cs typeface="Arimo Bold"/>
                  <a:sym typeface="Arimo Bold"/>
                </a:rPr>
                <a:t>Harshvardhan Singh Shekhawat</a:t>
              </a:r>
            </a:p>
          </p:txBody>
        </p:sp>
      </p:grpSp>
      <p:grpSp>
        <p:nvGrpSpPr>
          <p:cNvPr name="Group 14" id="14"/>
          <p:cNvGrpSpPr/>
          <p:nvPr/>
        </p:nvGrpSpPr>
        <p:grpSpPr>
          <a:xfrm rot="0">
            <a:off x="10926023" y="3637713"/>
            <a:ext cx="2151326" cy="2206981"/>
            <a:chOff x="0" y="0"/>
            <a:chExt cx="2868435" cy="2942641"/>
          </a:xfrm>
        </p:grpSpPr>
        <p:sp>
          <p:nvSpPr>
            <p:cNvPr name="Freeform 15" id="15"/>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3"/>
              <a:stretch>
                <a:fillRect l="0" t="0" r="0" b="-26796"/>
              </a:stretch>
            </a:blipFill>
          </p:spPr>
        </p:sp>
      </p:grpSp>
      <p:grpSp>
        <p:nvGrpSpPr>
          <p:cNvPr name="Group 16" id="16"/>
          <p:cNvGrpSpPr/>
          <p:nvPr/>
        </p:nvGrpSpPr>
        <p:grpSpPr>
          <a:xfrm rot="0">
            <a:off x="13523760" y="3117490"/>
            <a:ext cx="2904950" cy="1707940"/>
            <a:chOff x="0" y="0"/>
            <a:chExt cx="3873267" cy="2277253"/>
          </a:xfrm>
        </p:grpSpPr>
        <p:sp>
          <p:nvSpPr>
            <p:cNvPr name="Freeform 17" id="17"/>
            <p:cNvSpPr/>
            <p:nvPr/>
          </p:nvSpPr>
          <p:spPr>
            <a:xfrm flipH="false" flipV="false" rot="0">
              <a:off x="0" y="0"/>
              <a:ext cx="3873267" cy="2277251"/>
            </a:xfrm>
            <a:custGeom>
              <a:avLst/>
              <a:gdLst/>
              <a:ahLst/>
              <a:cxnLst/>
              <a:rect r="r" b="b" t="t" l="l"/>
              <a:pathLst>
                <a:path h="2277251" w="3873267">
                  <a:moveTo>
                    <a:pt x="0" y="0"/>
                  </a:moveTo>
                  <a:lnTo>
                    <a:pt x="3873267" y="0"/>
                  </a:lnTo>
                  <a:lnTo>
                    <a:pt x="3873267" y="2277251"/>
                  </a:lnTo>
                  <a:lnTo>
                    <a:pt x="0" y="2277251"/>
                  </a:lnTo>
                  <a:close/>
                </a:path>
              </a:pathLst>
            </a:custGeom>
            <a:blipFill>
              <a:blip r:embed="rId2">
                <a:alphaModFix amt="0"/>
              </a:blip>
              <a:stretch>
                <a:fillRect l="-16632" t="0" r="9151" b="28759"/>
              </a:stretch>
            </a:blipFill>
          </p:spPr>
        </p:sp>
        <p:sp>
          <p:nvSpPr>
            <p:cNvPr name="TextBox 18" id="18"/>
            <p:cNvSpPr txBox="true"/>
            <p:nvPr/>
          </p:nvSpPr>
          <p:spPr>
            <a:xfrm>
              <a:off x="0" y="28575"/>
              <a:ext cx="3873267" cy="2248678"/>
            </a:xfrm>
            <a:prstGeom prst="rect">
              <a:avLst/>
            </a:prstGeom>
          </p:spPr>
          <p:txBody>
            <a:bodyPr anchor="b" rtlCol="false" tIns="0" lIns="0" bIns="0" rIns="0"/>
            <a:lstStyle/>
            <a:p>
              <a:pPr algn="l">
                <a:lnSpc>
                  <a:spcPts val="5400"/>
                </a:lnSpc>
              </a:pPr>
              <a:r>
                <a:rPr lang="en-US" b="true" sz="5000">
                  <a:solidFill>
                    <a:srgbClr val="A100FF"/>
                  </a:solidFill>
                  <a:latin typeface="Arimo Bold"/>
                  <a:ea typeface="Arimo Bold"/>
                  <a:cs typeface="Arimo Bold"/>
                  <a:sym typeface="Arimo Bold"/>
                </a:rPr>
                <a:t>Pranay Saini</a:t>
              </a:r>
            </a:p>
          </p:txBody>
        </p:sp>
      </p:grpSp>
      <p:graphicFrame>
        <p:nvGraphicFramePr>
          <p:cNvPr name="Table 19" id="19"/>
          <p:cNvGraphicFramePr>
            <a:graphicFrameLocks noGrp="true"/>
          </p:cNvGraphicFramePr>
          <p:nvPr/>
        </p:nvGraphicFramePr>
        <p:xfrm>
          <a:off x="692870" y="1759536"/>
          <a:ext cx="17411700" cy="663575"/>
        </p:xfrm>
        <a:graphic>
          <a:graphicData uri="http://schemas.openxmlformats.org/drawingml/2006/table">
            <a:tbl>
              <a:tblPr/>
              <a:tblGrid>
                <a:gridCol w="6572574"/>
                <a:gridCol w="10839126"/>
              </a:tblGrid>
              <a:tr h="663575">
                <a:tc>
                  <a:txBody>
                    <a:bodyPr anchor="t" rtlCol="false"/>
                    <a:lstStyle/>
                    <a:p>
                      <a:pPr algn="l">
                        <a:lnSpc>
                          <a:spcPts val="2759"/>
                        </a:lnSpc>
                        <a:defRPr/>
                      </a:pPr>
                      <a:r>
                        <a:rPr lang="en-US" sz="2299">
                          <a:solidFill>
                            <a:srgbClr val="A100FF"/>
                          </a:solidFill>
                          <a:latin typeface="Arimo"/>
                          <a:ea typeface="Arimo"/>
                          <a:cs typeface="Arimo"/>
                          <a:sym typeface="Arimo"/>
                        </a:rPr>
                        <a:t>TEAM NAME: </a:t>
                      </a:r>
                      <a:r>
                        <a:rPr lang="en-US" sz="2299" b="true">
                          <a:solidFill>
                            <a:srgbClr val="A100FF"/>
                          </a:solidFill>
                          <a:latin typeface="Arimo Bold"/>
                          <a:ea typeface="Arimo Bold"/>
                          <a:cs typeface="Arimo Bold"/>
                          <a:sym typeface="Arimo Bold"/>
                        </a:rPr>
                        <a:t>Dunhill</a:t>
                      </a:r>
                      <a:endParaRPr lang="en-US" sz="1100"/>
                    </a:p>
                  </a:txBody>
                  <a:tcPr marL="91440" marR="91440" marT="91440" marB="91440" anchor="t">
                    <a:lnL cmpd="sng" algn="ctr" cap="flat" w="6350">
                      <a:solidFill>
                        <a:srgbClr val="E6BFFF"/>
                      </a:solidFill>
                      <a:prstDash val="solid"/>
                      <a:round/>
                      <a:headEnd type="none" w="med" len="med"/>
                      <a:tailEnd type="none" w="med" len="med"/>
                    </a:lnL>
                    <a:lnR cmpd="sng" algn="ctr" cap="flat" w="6350">
                      <a:solidFill>
                        <a:srgbClr val="ECCCFF"/>
                      </a:solidFill>
                      <a:prstDash val="solid"/>
                      <a:round/>
                      <a:headEnd type="none" w="med" len="med"/>
                      <a:tailEnd type="none" w="med" len="med"/>
                    </a:lnR>
                    <a:lnT cmpd="sng" algn="ctr" cap="flat" w="6350">
                      <a:solidFill>
                        <a:srgbClr val="E6BFFF"/>
                      </a:solidFill>
                      <a:prstDash val="solid"/>
                      <a:round/>
                      <a:headEnd type="none" w="med" len="med"/>
                      <a:tailEnd type="none" w="med" len="med"/>
                    </a:lnT>
                    <a:lnB cmpd="sng" algn="ctr" cap="flat" w="6350">
                      <a:solidFill>
                        <a:srgbClr val="ECCCFF"/>
                      </a:solidFill>
                      <a:prstDash val="solid"/>
                      <a:round/>
                      <a:headEnd type="none" w="med" len="med"/>
                      <a:tailEnd type="none" w="med" len="med"/>
                    </a:lnB>
                    <a:solidFill>
                      <a:srgbClr val="EAEAEA"/>
                    </a:solidFill>
                  </a:tcPr>
                </a:tc>
                <a:tc>
                  <a:txBody>
                    <a:bodyPr anchor="t" rtlCol="false"/>
                    <a:lstStyle/>
                    <a:p>
                      <a:pPr algn="l">
                        <a:lnSpc>
                          <a:spcPts val="1679"/>
                        </a:lnSpc>
                        <a:defRPr/>
                      </a:pPr>
                      <a:endParaRPr lang="en-US" sz="1100"/>
                    </a:p>
                  </a:txBody>
                  <a:tcPr marL="91440" marR="91440" marT="91440" marB="91440" anchor="t">
                    <a:lnL cmpd="sng" algn="ctr" cap="flat" w="6350">
                      <a:solidFill>
                        <a:srgbClr val="ECCCFF"/>
                      </a:solidFill>
                      <a:prstDash val="solid"/>
                      <a:round/>
                      <a:headEnd type="none" w="med" len="med"/>
                      <a:tailEnd type="none" w="med" len="med"/>
                    </a:lnL>
                    <a:lnR cmpd="sng" algn="ctr" cap="flat" w="6350">
                      <a:solidFill>
                        <a:srgbClr val="E6BFFF"/>
                      </a:solidFill>
                      <a:prstDash val="solid"/>
                      <a:round/>
                      <a:headEnd type="none" w="med" len="med"/>
                      <a:tailEnd type="none" w="med" len="med"/>
                    </a:lnR>
                    <a:lnT cmpd="sng" algn="ctr" cap="flat" w="6350">
                      <a:solidFill>
                        <a:srgbClr val="E6BFFF"/>
                      </a:solidFill>
                      <a:prstDash val="solid"/>
                      <a:round/>
                      <a:headEnd type="none" w="med" len="med"/>
                      <a:tailEnd type="none" w="med" len="med"/>
                    </a:lnT>
                    <a:lnB cmpd="sng" algn="ctr" cap="flat" w="6350">
                      <a:solidFill>
                        <a:srgbClr val="D5D5D5"/>
                      </a:solidFill>
                      <a:prstDash val="solid"/>
                      <a:round/>
                      <a:headEnd type="none" w="med" len="med"/>
                      <a:tailEnd type="none" w="med" len="med"/>
                    </a:lnB>
                    <a:solidFill>
                      <a:srgbClr val="EAEAEA"/>
                    </a:solidFill>
                  </a:tcPr>
                </a:tc>
              </a:tr>
            </a:tbl>
          </a:graphicData>
        </a:graphic>
      </p:graphicFrame>
      <p:grpSp>
        <p:nvGrpSpPr>
          <p:cNvPr name="Group 20" id="20"/>
          <p:cNvGrpSpPr/>
          <p:nvPr/>
        </p:nvGrpSpPr>
        <p:grpSpPr>
          <a:xfrm rot="0">
            <a:off x="1166304" y="3668598"/>
            <a:ext cx="2151326" cy="2206981"/>
            <a:chOff x="0" y="0"/>
            <a:chExt cx="2868435" cy="2942641"/>
          </a:xfrm>
        </p:grpSpPr>
        <p:sp>
          <p:nvSpPr>
            <p:cNvPr name="Freeform 21" id="21"/>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4"/>
              <a:stretch>
                <a:fillRect l="0" t="-14986" r="0" b="-14986"/>
              </a:stretch>
            </a:blipFill>
          </p:spPr>
        </p:sp>
      </p:grpSp>
      <p:sp>
        <p:nvSpPr>
          <p:cNvPr name="TextBox 22" id="22"/>
          <p:cNvSpPr txBox="true"/>
          <p:nvPr/>
        </p:nvSpPr>
        <p:spPr>
          <a:xfrm rot="0">
            <a:off x="17350740" y="9805187"/>
            <a:ext cx="395688" cy="200025"/>
          </a:xfrm>
          <a:prstGeom prst="rect">
            <a:avLst/>
          </a:prstGeom>
        </p:spPr>
        <p:txBody>
          <a:bodyPr anchor="t" rtlCol="false" tIns="0" lIns="0" bIns="0" rIns="0">
            <a:spAutoFit/>
          </a:bodyPr>
          <a:lstStyle/>
          <a:p>
            <a:pPr algn="l">
              <a:lnSpc>
                <a:spcPts val="1439"/>
              </a:lnSpc>
            </a:pPr>
            <a:r>
              <a:rPr lang="en-US" sz="1200">
                <a:solidFill>
                  <a:srgbClr val="000000">
                    <a:alpha val="40000"/>
                  </a:srgbClr>
                </a:solidFill>
                <a:latin typeface="Arimo"/>
                <a:ea typeface="Arimo"/>
                <a:cs typeface="Arimo"/>
                <a:sym typeface="Arimo"/>
              </a:rPr>
              <a:t>2</a:t>
            </a:r>
          </a:p>
        </p:txBody>
      </p:sp>
      <p:sp>
        <p:nvSpPr>
          <p:cNvPr name="TextBox 23" id="23"/>
          <p:cNvSpPr txBox="true"/>
          <p:nvPr/>
        </p:nvSpPr>
        <p:spPr>
          <a:xfrm rot="0">
            <a:off x="3767797" y="4738821"/>
            <a:ext cx="3961143" cy="819150"/>
          </a:xfrm>
          <a:prstGeom prst="rect">
            <a:avLst/>
          </a:prstGeom>
        </p:spPr>
        <p:txBody>
          <a:bodyPr anchor="t" rtlCol="false" tIns="0" lIns="0" bIns="0" rIns="0">
            <a:spAutoFit/>
          </a:bodyPr>
          <a:lstStyle/>
          <a:p>
            <a:pPr algn="l">
              <a:lnSpc>
                <a:spcPts val="2160"/>
              </a:lnSpc>
            </a:pPr>
            <a:r>
              <a:rPr lang="en-US" sz="1800">
                <a:solidFill>
                  <a:srgbClr val="000000"/>
                </a:solidFill>
                <a:latin typeface="Arimo"/>
                <a:ea typeface="Arimo"/>
                <a:cs typeface="Arimo"/>
                <a:sym typeface="Arimo"/>
              </a:rPr>
              <a:t>College:IIT KANPUR</a:t>
            </a:r>
          </a:p>
          <a:p>
            <a:pPr algn="l">
              <a:lnSpc>
                <a:spcPts val="2160"/>
              </a:lnSpc>
            </a:pPr>
            <a:r>
              <a:rPr lang="en-US" sz="1800">
                <a:solidFill>
                  <a:srgbClr val="000000"/>
                </a:solidFill>
                <a:latin typeface="Arimo"/>
                <a:ea typeface="Arimo"/>
                <a:cs typeface="Arimo"/>
                <a:sym typeface="Arimo"/>
              </a:rPr>
              <a:t>Stream: Civil Engineering</a:t>
            </a:r>
          </a:p>
          <a:p>
            <a:pPr algn="l">
              <a:lnSpc>
                <a:spcPts val="2160"/>
              </a:lnSpc>
            </a:pPr>
            <a:r>
              <a:rPr lang="en-US" sz="1800">
                <a:solidFill>
                  <a:srgbClr val="000000"/>
                </a:solidFill>
                <a:latin typeface="Arimo"/>
                <a:ea typeface="Arimo"/>
                <a:cs typeface="Arimo"/>
                <a:sym typeface="Arimo"/>
              </a:rPr>
              <a:t>Year of graduation:2027</a:t>
            </a:r>
          </a:p>
        </p:txBody>
      </p:sp>
      <p:grpSp>
        <p:nvGrpSpPr>
          <p:cNvPr name="Group 24" id="24"/>
          <p:cNvGrpSpPr/>
          <p:nvPr/>
        </p:nvGrpSpPr>
        <p:grpSpPr>
          <a:xfrm rot="0">
            <a:off x="1279074" y="6796297"/>
            <a:ext cx="2165490" cy="2206981"/>
            <a:chOff x="0" y="0"/>
            <a:chExt cx="2887320" cy="2942641"/>
          </a:xfrm>
        </p:grpSpPr>
        <p:sp>
          <p:nvSpPr>
            <p:cNvPr name="Freeform 25" id="25"/>
            <p:cNvSpPr/>
            <p:nvPr/>
          </p:nvSpPr>
          <p:spPr>
            <a:xfrm flipH="false" flipV="false" rot="0">
              <a:off x="0" y="0"/>
              <a:ext cx="2887345" cy="2942590"/>
            </a:xfrm>
            <a:custGeom>
              <a:avLst/>
              <a:gdLst/>
              <a:ahLst/>
              <a:cxnLst/>
              <a:rect r="r" b="b" t="t" l="l"/>
              <a:pathLst>
                <a:path h="2942590" w="2887345">
                  <a:moveTo>
                    <a:pt x="0" y="0"/>
                  </a:moveTo>
                  <a:lnTo>
                    <a:pt x="2887345" y="0"/>
                  </a:lnTo>
                  <a:lnTo>
                    <a:pt x="2887345" y="2942590"/>
                  </a:lnTo>
                  <a:lnTo>
                    <a:pt x="0" y="2942590"/>
                  </a:lnTo>
                  <a:close/>
                </a:path>
              </a:pathLst>
            </a:custGeom>
            <a:solidFill>
              <a:srgbClr val="A100FF"/>
            </a:solidFill>
          </p:spPr>
        </p:sp>
      </p:grpSp>
      <p:grpSp>
        <p:nvGrpSpPr>
          <p:cNvPr name="Group 26" id="26"/>
          <p:cNvGrpSpPr/>
          <p:nvPr/>
        </p:nvGrpSpPr>
        <p:grpSpPr>
          <a:xfrm rot="0">
            <a:off x="1166304" y="6679006"/>
            <a:ext cx="2151326" cy="2206981"/>
            <a:chOff x="0" y="0"/>
            <a:chExt cx="2868435" cy="2942641"/>
          </a:xfrm>
        </p:grpSpPr>
        <p:sp>
          <p:nvSpPr>
            <p:cNvPr name="Freeform 27" id="27"/>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5"/>
              <a:stretch>
                <a:fillRect l="0" t="0" r="0" b="-27431"/>
              </a:stretch>
            </a:blipFill>
          </p:spPr>
        </p:sp>
      </p:grpSp>
      <p:sp>
        <p:nvSpPr>
          <p:cNvPr name="TextBox 28" id="28"/>
          <p:cNvSpPr txBox="true"/>
          <p:nvPr/>
        </p:nvSpPr>
        <p:spPr>
          <a:xfrm rot="0">
            <a:off x="3767797" y="7777631"/>
            <a:ext cx="3961143" cy="819150"/>
          </a:xfrm>
          <a:prstGeom prst="rect">
            <a:avLst/>
          </a:prstGeom>
        </p:spPr>
        <p:txBody>
          <a:bodyPr anchor="t" rtlCol="false" tIns="0" lIns="0" bIns="0" rIns="0">
            <a:spAutoFit/>
          </a:bodyPr>
          <a:lstStyle/>
          <a:p>
            <a:pPr algn="l">
              <a:lnSpc>
                <a:spcPts val="2160"/>
              </a:lnSpc>
            </a:pPr>
            <a:r>
              <a:rPr lang="en-US" sz="1800">
                <a:solidFill>
                  <a:srgbClr val="000000"/>
                </a:solidFill>
                <a:latin typeface="Arimo"/>
                <a:ea typeface="Arimo"/>
                <a:cs typeface="Arimo"/>
                <a:sym typeface="Arimo"/>
              </a:rPr>
              <a:t>College:IIT KANPUR</a:t>
            </a:r>
          </a:p>
          <a:p>
            <a:pPr algn="l">
              <a:lnSpc>
                <a:spcPts val="2160"/>
              </a:lnSpc>
            </a:pPr>
            <a:r>
              <a:rPr lang="en-US" sz="1800">
                <a:solidFill>
                  <a:srgbClr val="000000"/>
                </a:solidFill>
                <a:latin typeface="Arimo"/>
                <a:ea typeface="Arimo"/>
                <a:cs typeface="Arimo"/>
                <a:sym typeface="Arimo"/>
              </a:rPr>
              <a:t>Stream: Mechanical Engineering</a:t>
            </a:r>
          </a:p>
          <a:p>
            <a:pPr algn="l">
              <a:lnSpc>
                <a:spcPts val="2160"/>
              </a:lnSpc>
            </a:pPr>
            <a:r>
              <a:rPr lang="en-US" sz="1800">
                <a:solidFill>
                  <a:srgbClr val="000000"/>
                </a:solidFill>
                <a:latin typeface="Arimo"/>
                <a:ea typeface="Arimo"/>
                <a:cs typeface="Arimo"/>
                <a:sym typeface="Arimo"/>
              </a:rPr>
              <a:t>Year of graduation:2027</a:t>
            </a:r>
          </a:p>
        </p:txBody>
      </p:sp>
      <p:sp>
        <p:nvSpPr>
          <p:cNvPr name="TextBox 29" id="29"/>
          <p:cNvSpPr txBox="true"/>
          <p:nvPr/>
        </p:nvSpPr>
        <p:spPr>
          <a:xfrm rot="0">
            <a:off x="13523760" y="4753039"/>
            <a:ext cx="3961143" cy="819150"/>
          </a:xfrm>
          <a:prstGeom prst="rect">
            <a:avLst/>
          </a:prstGeom>
        </p:spPr>
        <p:txBody>
          <a:bodyPr anchor="t" rtlCol="false" tIns="0" lIns="0" bIns="0" rIns="0">
            <a:spAutoFit/>
          </a:bodyPr>
          <a:lstStyle/>
          <a:p>
            <a:pPr algn="l">
              <a:lnSpc>
                <a:spcPts val="2160"/>
              </a:lnSpc>
            </a:pPr>
            <a:r>
              <a:rPr lang="en-US" sz="1800">
                <a:solidFill>
                  <a:srgbClr val="000000"/>
                </a:solidFill>
                <a:latin typeface="Arimo"/>
                <a:ea typeface="Arimo"/>
                <a:cs typeface="Arimo"/>
                <a:sym typeface="Arimo"/>
              </a:rPr>
              <a:t>College:IIT KANPUR</a:t>
            </a:r>
          </a:p>
          <a:p>
            <a:pPr algn="l">
              <a:lnSpc>
                <a:spcPts val="2160"/>
              </a:lnSpc>
            </a:pPr>
            <a:r>
              <a:rPr lang="en-US" sz="1800">
                <a:solidFill>
                  <a:srgbClr val="000000"/>
                </a:solidFill>
                <a:latin typeface="Arimo"/>
                <a:ea typeface="Arimo"/>
                <a:cs typeface="Arimo"/>
                <a:sym typeface="Arimo"/>
              </a:rPr>
              <a:t>Stream: Civil Engineering</a:t>
            </a:r>
          </a:p>
          <a:p>
            <a:pPr algn="l">
              <a:lnSpc>
                <a:spcPts val="2160"/>
              </a:lnSpc>
            </a:pPr>
            <a:r>
              <a:rPr lang="en-US" sz="1800">
                <a:solidFill>
                  <a:srgbClr val="000000"/>
                </a:solidFill>
                <a:latin typeface="Arimo"/>
                <a:ea typeface="Arimo"/>
                <a:cs typeface="Arimo"/>
                <a:sym typeface="Arimo"/>
              </a:rPr>
              <a:t>Year of graduation:2027</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81000" y="-9525"/>
            <a:ext cx="17526000" cy="200025"/>
          </a:xfrm>
          <a:prstGeom prst="rect">
            <a:avLst/>
          </a:prstGeom>
        </p:spPr>
        <p:txBody>
          <a:bodyPr anchor="t" rtlCol="false" tIns="0" lIns="0" bIns="0" rIns="0">
            <a:spAutoFit/>
          </a:bodyPr>
          <a:lstStyle/>
          <a:p>
            <a:pPr algn="l">
              <a:lnSpc>
                <a:spcPts val="1574"/>
              </a:lnSpc>
            </a:pPr>
            <a:r>
              <a:rPr lang="en-US" sz="1125" i="true">
                <a:solidFill>
                  <a:srgbClr val="5B0E96"/>
                </a:solidFill>
                <a:latin typeface="Arimo Italics"/>
                <a:ea typeface="Arimo Italics"/>
                <a:cs typeface="Arimo Italics"/>
                <a:sym typeface="Arimo Italics"/>
              </a:rPr>
              <a:t>STORYLENS AI  —  Transforming business metrics into actionable business narratives</a:t>
            </a:r>
          </a:p>
        </p:txBody>
      </p:sp>
      <p:grpSp>
        <p:nvGrpSpPr>
          <p:cNvPr name="Group 3" id="3"/>
          <p:cNvGrpSpPr/>
          <p:nvPr/>
        </p:nvGrpSpPr>
        <p:grpSpPr>
          <a:xfrm rot="0">
            <a:off x="381000" y="295275"/>
            <a:ext cx="6477000" cy="514350"/>
            <a:chOff x="0" y="0"/>
            <a:chExt cx="8636000" cy="685800"/>
          </a:xfrm>
        </p:grpSpPr>
        <p:sp>
          <p:nvSpPr>
            <p:cNvPr name="Freeform 4" id="4"/>
            <p:cNvSpPr/>
            <p:nvPr/>
          </p:nvSpPr>
          <p:spPr>
            <a:xfrm flipH="false" flipV="false" rot="0">
              <a:off x="0" y="0"/>
              <a:ext cx="8636000" cy="685800"/>
            </a:xfrm>
            <a:custGeom>
              <a:avLst/>
              <a:gdLst/>
              <a:ahLst/>
              <a:cxnLst/>
              <a:rect r="r" b="b" t="t" l="l"/>
              <a:pathLst>
                <a:path h="685800" w="8636000">
                  <a:moveTo>
                    <a:pt x="374" y="0"/>
                  </a:moveTo>
                  <a:lnTo>
                    <a:pt x="8635626" y="0"/>
                  </a:lnTo>
                  <a:cubicBezTo>
                    <a:pt x="8635726" y="0"/>
                    <a:pt x="8635820" y="39"/>
                    <a:pt x="8635891" y="109"/>
                  </a:cubicBezTo>
                  <a:cubicBezTo>
                    <a:pt x="8635960" y="179"/>
                    <a:pt x="8636000" y="274"/>
                    <a:pt x="8636000" y="374"/>
                  </a:cubicBezTo>
                  <a:lnTo>
                    <a:pt x="8636000" y="685426"/>
                  </a:lnTo>
                  <a:cubicBezTo>
                    <a:pt x="8636000" y="685526"/>
                    <a:pt x="8635960" y="685621"/>
                    <a:pt x="8635891" y="685691"/>
                  </a:cubicBezTo>
                  <a:cubicBezTo>
                    <a:pt x="8635820" y="685761"/>
                    <a:pt x="8635726" y="685800"/>
                    <a:pt x="8635626" y="685800"/>
                  </a:cubicBezTo>
                  <a:lnTo>
                    <a:pt x="374" y="685800"/>
                  </a:lnTo>
                  <a:cubicBezTo>
                    <a:pt x="274" y="685800"/>
                    <a:pt x="179" y="685761"/>
                    <a:pt x="109" y="685691"/>
                  </a:cubicBezTo>
                  <a:cubicBezTo>
                    <a:pt x="39" y="685621"/>
                    <a:pt x="0" y="685526"/>
                    <a:pt x="0" y="685426"/>
                  </a:cubicBezTo>
                  <a:lnTo>
                    <a:pt x="0" y="374"/>
                  </a:lnTo>
                  <a:cubicBezTo>
                    <a:pt x="0" y="274"/>
                    <a:pt x="39" y="179"/>
                    <a:pt x="109" y="109"/>
                  </a:cubicBezTo>
                  <a:cubicBezTo>
                    <a:pt x="179" y="39"/>
                    <a:pt x="274" y="0"/>
                    <a:pt x="374" y="0"/>
                  </a:cubicBezTo>
                  <a:close/>
                </a:path>
              </a:pathLst>
            </a:custGeom>
            <a:solidFill>
              <a:srgbClr val="5B0E96"/>
            </a:solidFill>
          </p:spPr>
        </p:sp>
        <p:sp>
          <p:nvSpPr>
            <p:cNvPr name="TextBox 5" id="5"/>
            <p:cNvSpPr txBox="true"/>
            <p:nvPr/>
          </p:nvSpPr>
          <p:spPr>
            <a:xfrm>
              <a:off x="0" y="-38100"/>
              <a:ext cx="8636000" cy="7239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571500" y="356235"/>
            <a:ext cx="6096000" cy="300990"/>
          </a:xfrm>
          <a:prstGeom prst="rect">
            <a:avLst/>
          </a:prstGeom>
        </p:spPr>
        <p:txBody>
          <a:bodyPr anchor="t" rtlCol="false" tIns="0" lIns="0" bIns="0" rIns="0">
            <a:spAutoFit/>
          </a:bodyPr>
          <a:lstStyle/>
          <a:p>
            <a:pPr algn="l">
              <a:lnSpc>
                <a:spcPts val="2310"/>
              </a:lnSpc>
            </a:pPr>
            <a:r>
              <a:rPr lang="en-US" sz="1650" b="true">
                <a:solidFill>
                  <a:srgbClr val="FFFFFF"/>
                </a:solidFill>
                <a:latin typeface="Arimo Bold"/>
                <a:ea typeface="Arimo Bold"/>
                <a:cs typeface="Arimo Bold"/>
                <a:sym typeface="Arimo Bold"/>
              </a:rPr>
              <a:t>THE CURRENT BUSINESS INTELLIGENCE PROCESS</a:t>
            </a:r>
          </a:p>
        </p:txBody>
      </p:sp>
      <p:grpSp>
        <p:nvGrpSpPr>
          <p:cNvPr name="Group 7" id="7"/>
          <p:cNvGrpSpPr/>
          <p:nvPr/>
        </p:nvGrpSpPr>
        <p:grpSpPr>
          <a:xfrm rot="0">
            <a:off x="381000" y="5772150"/>
            <a:ext cx="6667500" cy="514350"/>
            <a:chOff x="0" y="0"/>
            <a:chExt cx="8890000" cy="685800"/>
          </a:xfrm>
        </p:grpSpPr>
        <p:sp>
          <p:nvSpPr>
            <p:cNvPr name="Freeform 8" id="8"/>
            <p:cNvSpPr/>
            <p:nvPr/>
          </p:nvSpPr>
          <p:spPr>
            <a:xfrm flipH="false" flipV="false" rot="0">
              <a:off x="0" y="0"/>
              <a:ext cx="8890000" cy="685800"/>
            </a:xfrm>
            <a:custGeom>
              <a:avLst/>
              <a:gdLst/>
              <a:ahLst/>
              <a:cxnLst/>
              <a:rect r="r" b="b" t="t" l="l"/>
              <a:pathLst>
                <a:path h="685800" w="8890000">
                  <a:moveTo>
                    <a:pt x="363" y="0"/>
                  </a:moveTo>
                  <a:lnTo>
                    <a:pt x="8889637" y="0"/>
                  </a:lnTo>
                  <a:cubicBezTo>
                    <a:pt x="8889837" y="0"/>
                    <a:pt x="8890000" y="162"/>
                    <a:pt x="8890000" y="363"/>
                  </a:cubicBezTo>
                  <a:lnTo>
                    <a:pt x="8890000" y="685437"/>
                  </a:lnTo>
                  <a:cubicBezTo>
                    <a:pt x="8890000" y="685638"/>
                    <a:pt x="8889837" y="685800"/>
                    <a:pt x="8889637" y="685800"/>
                  </a:cubicBezTo>
                  <a:lnTo>
                    <a:pt x="363" y="685800"/>
                  </a:lnTo>
                  <a:cubicBezTo>
                    <a:pt x="162" y="685800"/>
                    <a:pt x="0" y="685638"/>
                    <a:pt x="0" y="685437"/>
                  </a:cubicBezTo>
                  <a:lnTo>
                    <a:pt x="0" y="363"/>
                  </a:lnTo>
                  <a:cubicBezTo>
                    <a:pt x="0" y="162"/>
                    <a:pt x="162" y="0"/>
                    <a:pt x="363" y="0"/>
                  </a:cubicBezTo>
                  <a:close/>
                </a:path>
              </a:pathLst>
            </a:custGeom>
            <a:solidFill>
              <a:srgbClr val="5B0E96"/>
            </a:solidFill>
          </p:spPr>
        </p:sp>
        <p:sp>
          <p:nvSpPr>
            <p:cNvPr name="TextBox 9" id="9"/>
            <p:cNvSpPr txBox="true"/>
            <p:nvPr/>
          </p:nvSpPr>
          <p:spPr>
            <a:xfrm>
              <a:off x="0" y="-38100"/>
              <a:ext cx="8890000" cy="7239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571500" y="5867400"/>
            <a:ext cx="6286500" cy="300990"/>
          </a:xfrm>
          <a:prstGeom prst="rect">
            <a:avLst/>
          </a:prstGeom>
        </p:spPr>
        <p:txBody>
          <a:bodyPr anchor="t" rtlCol="false" tIns="0" lIns="0" bIns="0" rIns="0">
            <a:spAutoFit/>
          </a:bodyPr>
          <a:lstStyle/>
          <a:p>
            <a:pPr algn="l">
              <a:lnSpc>
                <a:spcPts val="2310"/>
              </a:lnSpc>
            </a:pPr>
            <a:r>
              <a:rPr lang="en-US" sz="1650" b="true">
                <a:solidFill>
                  <a:srgbClr val="FFFFFF"/>
                </a:solidFill>
                <a:latin typeface="Arimo Bold"/>
                <a:ea typeface="Arimo Bold"/>
                <a:cs typeface="Arimo Bold"/>
                <a:sym typeface="Arimo Bold"/>
              </a:rPr>
              <a:t>WHY BUSINESS DECISIONS GET DELAYED</a:t>
            </a:r>
          </a:p>
        </p:txBody>
      </p:sp>
      <p:grpSp>
        <p:nvGrpSpPr>
          <p:cNvPr name="Group 11" id="11"/>
          <p:cNvGrpSpPr/>
          <p:nvPr/>
        </p:nvGrpSpPr>
        <p:grpSpPr>
          <a:xfrm rot="0">
            <a:off x="10629900" y="2400300"/>
            <a:ext cx="7200900" cy="476250"/>
            <a:chOff x="0" y="0"/>
            <a:chExt cx="9601200" cy="635000"/>
          </a:xfrm>
        </p:grpSpPr>
        <p:sp>
          <p:nvSpPr>
            <p:cNvPr name="Freeform 12" id="12"/>
            <p:cNvSpPr/>
            <p:nvPr/>
          </p:nvSpPr>
          <p:spPr>
            <a:xfrm flipH="false" flipV="false" rot="0">
              <a:off x="0" y="0"/>
              <a:ext cx="9601200" cy="635000"/>
            </a:xfrm>
            <a:custGeom>
              <a:avLst/>
              <a:gdLst/>
              <a:ahLst/>
              <a:cxnLst/>
              <a:rect r="r" b="b" t="t" l="l"/>
              <a:pathLst>
                <a:path h="635000" w="9601200">
                  <a:moveTo>
                    <a:pt x="336" y="0"/>
                  </a:moveTo>
                  <a:lnTo>
                    <a:pt x="9600864" y="0"/>
                  </a:lnTo>
                  <a:cubicBezTo>
                    <a:pt x="9601050" y="0"/>
                    <a:pt x="9601200" y="150"/>
                    <a:pt x="9601200" y="336"/>
                  </a:cubicBezTo>
                  <a:lnTo>
                    <a:pt x="9601200" y="634664"/>
                  </a:lnTo>
                  <a:cubicBezTo>
                    <a:pt x="9601200" y="634850"/>
                    <a:pt x="9601050" y="635000"/>
                    <a:pt x="9600864" y="635000"/>
                  </a:cubicBezTo>
                  <a:lnTo>
                    <a:pt x="336" y="635000"/>
                  </a:lnTo>
                  <a:cubicBezTo>
                    <a:pt x="150" y="635000"/>
                    <a:pt x="0" y="634850"/>
                    <a:pt x="0" y="634664"/>
                  </a:cubicBezTo>
                  <a:lnTo>
                    <a:pt x="0" y="336"/>
                  </a:lnTo>
                  <a:cubicBezTo>
                    <a:pt x="0" y="150"/>
                    <a:pt x="150" y="0"/>
                    <a:pt x="336" y="0"/>
                  </a:cubicBezTo>
                  <a:close/>
                </a:path>
              </a:pathLst>
            </a:custGeom>
            <a:solidFill>
              <a:srgbClr val="5B0E96"/>
            </a:solidFill>
          </p:spPr>
        </p:sp>
        <p:sp>
          <p:nvSpPr>
            <p:cNvPr name="TextBox 13" id="13"/>
            <p:cNvSpPr txBox="true"/>
            <p:nvPr/>
          </p:nvSpPr>
          <p:spPr>
            <a:xfrm>
              <a:off x="0" y="-38100"/>
              <a:ext cx="9601200" cy="673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0820400" y="2486025"/>
            <a:ext cx="6819900" cy="300990"/>
          </a:xfrm>
          <a:prstGeom prst="rect">
            <a:avLst/>
          </a:prstGeom>
        </p:spPr>
        <p:txBody>
          <a:bodyPr anchor="t" rtlCol="false" tIns="0" lIns="0" bIns="0" rIns="0">
            <a:spAutoFit/>
          </a:bodyPr>
          <a:lstStyle/>
          <a:p>
            <a:pPr algn="l">
              <a:lnSpc>
                <a:spcPts val="2310"/>
              </a:lnSpc>
            </a:pPr>
            <a:r>
              <a:rPr lang="en-US" sz="1650" b="true">
                <a:solidFill>
                  <a:srgbClr val="FFFFFF"/>
                </a:solidFill>
                <a:latin typeface="Arimo Bold"/>
                <a:ea typeface="Arimo Bold"/>
                <a:cs typeface="Arimo Bold"/>
                <a:sym typeface="Arimo Bold"/>
              </a:rPr>
              <a:t>FROM DASHBOARDS TO DECISIONS</a:t>
            </a:r>
          </a:p>
        </p:txBody>
      </p:sp>
      <p:grpSp>
        <p:nvGrpSpPr>
          <p:cNvPr name="Group 15" id="15"/>
          <p:cNvGrpSpPr/>
          <p:nvPr/>
        </p:nvGrpSpPr>
        <p:grpSpPr>
          <a:xfrm rot="0">
            <a:off x="10629900" y="5772150"/>
            <a:ext cx="7200900" cy="442595"/>
            <a:chOff x="0" y="0"/>
            <a:chExt cx="9601200" cy="590127"/>
          </a:xfrm>
        </p:grpSpPr>
        <p:sp>
          <p:nvSpPr>
            <p:cNvPr name="Freeform 16" id="16"/>
            <p:cNvSpPr/>
            <p:nvPr/>
          </p:nvSpPr>
          <p:spPr>
            <a:xfrm flipH="false" flipV="false" rot="0">
              <a:off x="0" y="0"/>
              <a:ext cx="9601200" cy="590127"/>
            </a:xfrm>
            <a:custGeom>
              <a:avLst/>
              <a:gdLst/>
              <a:ahLst/>
              <a:cxnLst/>
              <a:rect r="r" b="b" t="t" l="l"/>
              <a:pathLst>
                <a:path h="590127" w="9601200">
                  <a:moveTo>
                    <a:pt x="336" y="0"/>
                  </a:moveTo>
                  <a:lnTo>
                    <a:pt x="9600864" y="0"/>
                  </a:lnTo>
                  <a:cubicBezTo>
                    <a:pt x="9601050" y="0"/>
                    <a:pt x="9601200" y="150"/>
                    <a:pt x="9601200" y="336"/>
                  </a:cubicBezTo>
                  <a:lnTo>
                    <a:pt x="9601200" y="589791"/>
                  </a:lnTo>
                  <a:cubicBezTo>
                    <a:pt x="9601200" y="589880"/>
                    <a:pt x="9601164" y="589965"/>
                    <a:pt x="9601102" y="590028"/>
                  </a:cubicBezTo>
                  <a:cubicBezTo>
                    <a:pt x="9601039" y="590091"/>
                    <a:pt x="9600954" y="590127"/>
                    <a:pt x="9600864" y="590127"/>
                  </a:cubicBezTo>
                  <a:lnTo>
                    <a:pt x="336" y="590127"/>
                  </a:lnTo>
                  <a:cubicBezTo>
                    <a:pt x="150" y="590127"/>
                    <a:pt x="0" y="589976"/>
                    <a:pt x="0" y="589791"/>
                  </a:cubicBezTo>
                  <a:lnTo>
                    <a:pt x="0" y="336"/>
                  </a:lnTo>
                  <a:cubicBezTo>
                    <a:pt x="0" y="150"/>
                    <a:pt x="150" y="0"/>
                    <a:pt x="336" y="0"/>
                  </a:cubicBezTo>
                  <a:close/>
                </a:path>
              </a:pathLst>
            </a:custGeom>
            <a:solidFill>
              <a:srgbClr val="5B0E96"/>
            </a:solidFill>
          </p:spPr>
        </p:sp>
        <p:sp>
          <p:nvSpPr>
            <p:cNvPr name="TextBox 17" id="17"/>
            <p:cNvSpPr txBox="true"/>
            <p:nvPr/>
          </p:nvSpPr>
          <p:spPr>
            <a:xfrm>
              <a:off x="0" y="-38100"/>
              <a:ext cx="9601200" cy="628227"/>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10820400" y="5814377"/>
            <a:ext cx="6819900" cy="300990"/>
          </a:xfrm>
          <a:prstGeom prst="rect">
            <a:avLst/>
          </a:prstGeom>
        </p:spPr>
        <p:txBody>
          <a:bodyPr anchor="t" rtlCol="false" tIns="0" lIns="0" bIns="0" rIns="0">
            <a:spAutoFit/>
          </a:bodyPr>
          <a:lstStyle/>
          <a:p>
            <a:pPr algn="l">
              <a:lnSpc>
                <a:spcPts val="2310"/>
              </a:lnSpc>
            </a:pPr>
            <a:r>
              <a:rPr lang="en-US" sz="1650" b="true">
                <a:solidFill>
                  <a:srgbClr val="FFFFFF"/>
                </a:solidFill>
                <a:latin typeface="Arimo Bold"/>
                <a:ea typeface="Arimo Bold"/>
                <a:cs typeface="Arimo Bold"/>
                <a:sym typeface="Arimo Bold"/>
              </a:rPr>
              <a:t>THE STORYLENS AI CONCEPT</a:t>
            </a:r>
          </a:p>
        </p:txBody>
      </p:sp>
      <p:sp>
        <p:nvSpPr>
          <p:cNvPr name="TextBox 19" id="19"/>
          <p:cNvSpPr txBox="true"/>
          <p:nvPr/>
        </p:nvSpPr>
        <p:spPr>
          <a:xfrm rot="0">
            <a:off x="381000" y="923925"/>
            <a:ext cx="2533650" cy="225425"/>
          </a:xfrm>
          <a:prstGeom prst="rect">
            <a:avLst/>
          </a:prstGeom>
        </p:spPr>
        <p:txBody>
          <a:bodyPr anchor="t" rtlCol="false" tIns="0" lIns="0" bIns="0" rIns="0">
            <a:spAutoFit/>
          </a:bodyPr>
          <a:lstStyle/>
          <a:p>
            <a:pPr algn="l">
              <a:lnSpc>
                <a:spcPts val="1749"/>
              </a:lnSpc>
            </a:pPr>
            <a:r>
              <a:rPr lang="en-US" sz="1249" b="true">
                <a:solidFill>
                  <a:srgbClr val="5B0E96"/>
                </a:solidFill>
                <a:latin typeface="Arimo Bold"/>
                <a:ea typeface="Arimo Bold"/>
                <a:cs typeface="Arimo Bold"/>
                <a:sym typeface="Arimo Bold"/>
              </a:rPr>
              <a:t>INFORMATION SOURCES</a:t>
            </a:r>
          </a:p>
        </p:txBody>
      </p:sp>
      <p:sp>
        <p:nvSpPr>
          <p:cNvPr name="TextBox 20" id="20"/>
          <p:cNvSpPr txBox="true"/>
          <p:nvPr/>
        </p:nvSpPr>
        <p:spPr>
          <a:xfrm rot="0">
            <a:off x="3152775" y="923925"/>
            <a:ext cx="2628900" cy="225425"/>
          </a:xfrm>
          <a:prstGeom prst="rect">
            <a:avLst/>
          </a:prstGeom>
        </p:spPr>
        <p:txBody>
          <a:bodyPr anchor="t" rtlCol="false" tIns="0" lIns="0" bIns="0" rIns="0">
            <a:spAutoFit/>
          </a:bodyPr>
          <a:lstStyle/>
          <a:p>
            <a:pPr algn="l">
              <a:lnSpc>
                <a:spcPts val="1749"/>
              </a:lnSpc>
            </a:pPr>
            <a:r>
              <a:rPr lang="en-US" sz="1249" b="true">
                <a:solidFill>
                  <a:srgbClr val="5B0E96"/>
                </a:solidFill>
                <a:latin typeface="Arimo Bold"/>
                <a:ea typeface="Arimo Bold"/>
                <a:cs typeface="Arimo Bold"/>
                <a:sym typeface="Arimo Bold"/>
              </a:rPr>
              <a:t>SIGNAL LOST IN SILOS</a:t>
            </a:r>
          </a:p>
        </p:txBody>
      </p:sp>
      <p:sp>
        <p:nvSpPr>
          <p:cNvPr name="TextBox 21" id="21"/>
          <p:cNvSpPr txBox="true"/>
          <p:nvPr/>
        </p:nvSpPr>
        <p:spPr>
          <a:xfrm rot="0">
            <a:off x="7772400" y="923925"/>
            <a:ext cx="2114550" cy="225425"/>
          </a:xfrm>
          <a:prstGeom prst="rect">
            <a:avLst/>
          </a:prstGeom>
        </p:spPr>
        <p:txBody>
          <a:bodyPr anchor="t" rtlCol="false" tIns="0" lIns="0" bIns="0" rIns="0">
            <a:spAutoFit/>
          </a:bodyPr>
          <a:lstStyle/>
          <a:p>
            <a:pPr algn="l">
              <a:lnSpc>
                <a:spcPts val="1749"/>
              </a:lnSpc>
            </a:pPr>
            <a:r>
              <a:rPr lang="en-US" sz="1249" b="true">
                <a:solidFill>
                  <a:srgbClr val="5B0E96"/>
                </a:solidFill>
                <a:latin typeface="Arimo Bold"/>
                <a:ea typeface="Arimo Bold"/>
                <a:cs typeface="Arimo Bold"/>
                <a:sym typeface="Arimo Bold"/>
              </a:rPr>
              <a:t>BUSINESS IMPACT</a:t>
            </a:r>
          </a:p>
        </p:txBody>
      </p:sp>
      <p:grpSp>
        <p:nvGrpSpPr>
          <p:cNvPr name="Group 22" id="22"/>
          <p:cNvGrpSpPr/>
          <p:nvPr/>
        </p:nvGrpSpPr>
        <p:grpSpPr>
          <a:xfrm rot="0">
            <a:off x="381000" y="1238250"/>
            <a:ext cx="2533650" cy="390525"/>
            <a:chOff x="0" y="0"/>
            <a:chExt cx="3378200" cy="520700"/>
          </a:xfrm>
        </p:grpSpPr>
        <p:sp>
          <p:nvSpPr>
            <p:cNvPr name="Freeform 23" id="23"/>
            <p:cNvSpPr/>
            <p:nvPr/>
          </p:nvSpPr>
          <p:spPr>
            <a:xfrm flipH="false" flipV="false" rot="0">
              <a:off x="0" y="0"/>
              <a:ext cx="3378200" cy="520700"/>
            </a:xfrm>
            <a:custGeom>
              <a:avLst/>
              <a:gdLst/>
              <a:ahLst/>
              <a:cxnLst/>
              <a:rect r="r" b="b" t="t" l="l"/>
              <a:pathLst>
                <a:path h="520700" w="3378200">
                  <a:moveTo>
                    <a:pt x="477" y="0"/>
                  </a:moveTo>
                  <a:lnTo>
                    <a:pt x="3377723" y="0"/>
                  </a:lnTo>
                  <a:cubicBezTo>
                    <a:pt x="3377849" y="0"/>
                    <a:pt x="3377971" y="50"/>
                    <a:pt x="3378060" y="140"/>
                  </a:cubicBezTo>
                  <a:cubicBezTo>
                    <a:pt x="3378150" y="229"/>
                    <a:pt x="3378200" y="351"/>
                    <a:pt x="3378200" y="477"/>
                  </a:cubicBezTo>
                  <a:lnTo>
                    <a:pt x="3378200" y="520223"/>
                  </a:lnTo>
                  <a:cubicBezTo>
                    <a:pt x="3378200" y="520349"/>
                    <a:pt x="3378150" y="520471"/>
                    <a:pt x="3378060" y="520560"/>
                  </a:cubicBezTo>
                  <a:cubicBezTo>
                    <a:pt x="3377971" y="520650"/>
                    <a:pt x="3377849" y="520700"/>
                    <a:pt x="3377723" y="520700"/>
                  </a:cubicBezTo>
                  <a:lnTo>
                    <a:pt x="477" y="520700"/>
                  </a:lnTo>
                  <a:cubicBezTo>
                    <a:pt x="351" y="520700"/>
                    <a:pt x="229" y="520650"/>
                    <a:pt x="140" y="520560"/>
                  </a:cubicBezTo>
                  <a:cubicBezTo>
                    <a:pt x="50" y="520471"/>
                    <a:pt x="0" y="520349"/>
                    <a:pt x="0" y="520223"/>
                  </a:cubicBezTo>
                  <a:lnTo>
                    <a:pt x="0" y="477"/>
                  </a:lnTo>
                  <a:cubicBezTo>
                    <a:pt x="0" y="351"/>
                    <a:pt x="50" y="229"/>
                    <a:pt x="140" y="140"/>
                  </a:cubicBezTo>
                  <a:cubicBezTo>
                    <a:pt x="229" y="50"/>
                    <a:pt x="351" y="0"/>
                    <a:pt x="477" y="0"/>
                  </a:cubicBezTo>
                  <a:close/>
                </a:path>
              </a:pathLst>
            </a:custGeom>
            <a:solidFill>
              <a:srgbClr val="EAF3FF"/>
            </a:solidFill>
            <a:ln w="19050" cap="sq">
              <a:solidFill>
                <a:srgbClr val="4A90D9"/>
              </a:solidFill>
              <a:prstDash val="solid"/>
              <a:miter/>
            </a:ln>
          </p:spPr>
        </p:sp>
        <p:sp>
          <p:nvSpPr>
            <p:cNvPr name="TextBox 24" id="24"/>
            <p:cNvSpPr txBox="true"/>
            <p:nvPr/>
          </p:nvSpPr>
          <p:spPr>
            <a:xfrm>
              <a:off x="0" y="-38100"/>
              <a:ext cx="3378200" cy="5588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523875" y="1304925"/>
            <a:ext cx="22479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Sales Data</a:t>
            </a:r>
          </a:p>
        </p:txBody>
      </p:sp>
      <p:grpSp>
        <p:nvGrpSpPr>
          <p:cNvPr name="Group 26" id="26"/>
          <p:cNvGrpSpPr/>
          <p:nvPr/>
        </p:nvGrpSpPr>
        <p:grpSpPr>
          <a:xfrm rot="0">
            <a:off x="381000" y="1743075"/>
            <a:ext cx="2533650" cy="390525"/>
            <a:chOff x="0" y="0"/>
            <a:chExt cx="3378200" cy="520700"/>
          </a:xfrm>
        </p:grpSpPr>
        <p:sp>
          <p:nvSpPr>
            <p:cNvPr name="Freeform 27" id="27"/>
            <p:cNvSpPr/>
            <p:nvPr/>
          </p:nvSpPr>
          <p:spPr>
            <a:xfrm flipH="false" flipV="false" rot="0">
              <a:off x="0" y="0"/>
              <a:ext cx="3378200" cy="520700"/>
            </a:xfrm>
            <a:custGeom>
              <a:avLst/>
              <a:gdLst/>
              <a:ahLst/>
              <a:cxnLst/>
              <a:rect r="r" b="b" t="t" l="l"/>
              <a:pathLst>
                <a:path h="520700" w="3378200">
                  <a:moveTo>
                    <a:pt x="477" y="0"/>
                  </a:moveTo>
                  <a:lnTo>
                    <a:pt x="3377723" y="0"/>
                  </a:lnTo>
                  <a:cubicBezTo>
                    <a:pt x="3377849" y="0"/>
                    <a:pt x="3377971" y="50"/>
                    <a:pt x="3378060" y="140"/>
                  </a:cubicBezTo>
                  <a:cubicBezTo>
                    <a:pt x="3378150" y="229"/>
                    <a:pt x="3378200" y="351"/>
                    <a:pt x="3378200" y="477"/>
                  </a:cubicBezTo>
                  <a:lnTo>
                    <a:pt x="3378200" y="520223"/>
                  </a:lnTo>
                  <a:cubicBezTo>
                    <a:pt x="3378200" y="520349"/>
                    <a:pt x="3378150" y="520471"/>
                    <a:pt x="3378060" y="520560"/>
                  </a:cubicBezTo>
                  <a:cubicBezTo>
                    <a:pt x="3377971" y="520650"/>
                    <a:pt x="3377849" y="520700"/>
                    <a:pt x="3377723" y="520700"/>
                  </a:cubicBezTo>
                  <a:lnTo>
                    <a:pt x="477" y="520700"/>
                  </a:lnTo>
                  <a:cubicBezTo>
                    <a:pt x="351" y="520700"/>
                    <a:pt x="229" y="520650"/>
                    <a:pt x="140" y="520560"/>
                  </a:cubicBezTo>
                  <a:cubicBezTo>
                    <a:pt x="50" y="520471"/>
                    <a:pt x="0" y="520349"/>
                    <a:pt x="0" y="520223"/>
                  </a:cubicBezTo>
                  <a:lnTo>
                    <a:pt x="0" y="477"/>
                  </a:lnTo>
                  <a:cubicBezTo>
                    <a:pt x="0" y="351"/>
                    <a:pt x="50" y="229"/>
                    <a:pt x="140" y="140"/>
                  </a:cubicBezTo>
                  <a:cubicBezTo>
                    <a:pt x="229" y="50"/>
                    <a:pt x="351" y="0"/>
                    <a:pt x="477" y="0"/>
                  </a:cubicBezTo>
                  <a:close/>
                </a:path>
              </a:pathLst>
            </a:custGeom>
            <a:solidFill>
              <a:srgbClr val="EAF3FF"/>
            </a:solidFill>
            <a:ln w="19050" cap="sq">
              <a:solidFill>
                <a:srgbClr val="4A90D9"/>
              </a:solidFill>
              <a:prstDash val="solid"/>
              <a:miter/>
            </a:ln>
          </p:spPr>
        </p:sp>
        <p:sp>
          <p:nvSpPr>
            <p:cNvPr name="TextBox 28" id="28"/>
            <p:cNvSpPr txBox="true"/>
            <p:nvPr/>
          </p:nvSpPr>
          <p:spPr>
            <a:xfrm>
              <a:off x="0" y="-38100"/>
              <a:ext cx="3378200" cy="558800"/>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523875" y="1809750"/>
            <a:ext cx="22479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Finance Records</a:t>
            </a:r>
          </a:p>
        </p:txBody>
      </p:sp>
      <p:grpSp>
        <p:nvGrpSpPr>
          <p:cNvPr name="Group 30" id="30"/>
          <p:cNvGrpSpPr/>
          <p:nvPr/>
        </p:nvGrpSpPr>
        <p:grpSpPr>
          <a:xfrm rot="0">
            <a:off x="381000" y="2247900"/>
            <a:ext cx="2533650" cy="390525"/>
            <a:chOff x="0" y="0"/>
            <a:chExt cx="3378200" cy="520700"/>
          </a:xfrm>
        </p:grpSpPr>
        <p:sp>
          <p:nvSpPr>
            <p:cNvPr name="Freeform 31" id="31"/>
            <p:cNvSpPr/>
            <p:nvPr/>
          </p:nvSpPr>
          <p:spPr>
            <a:xfrm flipH="false" flipV="false" rot="0">
              <a:off x="0" y="0"/>
              <a:ext cx="3378200" cy="520700"/>
            </a:xfrm>
            <a:custGeom>
              <a:avLst/>
              <a:gdLst/>
              <a:ahLst/>
              <a:cxnLst/>
              <a:rect r="r" b="b" t="t" l="l"/>
              <a:pathLst>
                <a:path h="520700" w="3378200">
                  <a:moveTo>
                    <a:pt x="477" y="0"/>
                  </a:moveTo>
                  <a:lnTo>
                    <a:pt x="3377723" y="0"/>
                  </a:lnTo>
                  <a:cubicBezTo>
                    <a:pt x="3377849" y="0"/>
                    <a:pt x="3377971" y="50"/>
                    <a:pt x="3378060" y="140"/>
                  </a:cubicBezTo>
                  <a:cubicBezTo>
                    <a:pt x="3378150" y="229"/>
                    <a:pt x="3378200" y="351"/>
                    <a:pt x="3378200" y="477"/>
                  </a:cubicBezTo>
                  <a:lnTo>
                    <a:pt x="3378200" y="520223"/>
                  </a:lnTo>
                  <a:cubicBezTo>
                    <a:pt x="3378200" y="520349"/>
                    <a:pt x="3378150" y="520471"/>
                    <a:pt x="3378060" y="520560"/>
                  </a:cubicBezTo>
                  <a:cubicBezTo>
                    <a:pt x="3377971" y="520650"/>
                    <a:pt x="3377849" y="520700"/>
                    <a:pt x="3377723" y="520700"/>
                  </a:cubicBezTo>
                  <a:lnTo>
                    <a:pt x="477" y="520700"/>
                  </a:lnTo>
                  <a:cubicBezTo>
                    <a:pt x="351" y="520700"/>
                    <a:pt x="229" y="520650"/>
                    <a:pt x="140" y="520560"/>
                  </a:cubicBezTo>
                  <a:cubicBezTo>
                    <a:pt x="50" y="520471"/>
                    <a:pt x="0" y="520349"/>
                    <a:pt x="0" y="520223"/>
                  </a:cubicBezTo>
                  <a:lnTo>
                    <a:pt x="0" y="477"/>
                  </a:lnTo>
                  <a:cubicBezTo>
                    <a:pt x="0" y="351"/>
                    <a:pt x="50" y="229"/>
                    <a:pt x="140" y="140"/>
                  </a:cubicBezTo>
                  <a:cubicBezTo>
                    <a:pt x="229" y="50"/>
                    <a:pt x="351" y="0"/>
                    <a:pt x="477" y="0"/>
                  </a:cubicBezTo>
                  <a:close/>
                </a:path>
              </a:pathLst>
            </a:custGeom>
            <a:solidFill>
              <a:srgbClr val="EAF3FF"/>
            </a:solidFill>
            <a:ln w="19050" cap="sq">
              <a:solidFill>
                <a:srgbClr val="4A90D9"/>
              </a:solidFill>
              <a:prstDash val="solid"/>
              <a:miter/>
            </a:ln>
          </p:spPr>
        </p:sp>
        <p:sp>
          <p:nvSpPr>
            <p:cNvPr name="TextBox 32" id="32"/>
            <p:cNvSpPr txBox="true"/>
            <p:nvPr/>
          </p:nvSpPr>
          <p:spPr>
            <a:xfrm>
              <a:off x="0" y="-38100"/>
              <a:ext cx="3378200" cy="5588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523875" y="2314575"/>
            <a:ext cx="22479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Marketing Metrics</a:t>
            </a:r>
          </a:p>
        </p:txBody>
      </p:sp>
      <p:grpSp>
        <p:nvGrpSpPr>
          <p:cNvPr name="Group 34" id="34"/>
          <p:cNvGrpSpPr/>
          <p:nvPr/>
        </p:nvGrpSpPr>
        <p:grpSpPr>
          <a:xfrm rot="0">
            <a:off x="381000" y="2752725"/>
            <a:ext cx="2533650" cy="390525"/>
            <a:chOff x="0" y="0"/>
            <a:chExt cx="3378200" cy="520700"/>
          </a:xfrm>
        </p:grpSpPr>
        <p:sp>
          <p:nvSpPr>
            <p:cNvPr name="Freeform 35" id="35"/>
            <p:cNvSpPr/>
            <p:nvPr/>
          </p:nvSpPr>
          <p:spPr>
            <a:xfrm flipH="false" flipV="false" rot="0">
              <a:off x="0" y="0"/>
              <a:ext cx="3378200" cy="520700"/>
            </a:xfrm>
            <a:custGeom>
              <a:avLst/>
              <a:gdLst/>
              <a:ahLst/>
              <a:cxnLst/>
              <a:rect r="r" b="b" t="t" l="l"/>
              <a:pathLst>
                <a:path h="520700" w="3378200">
                  <a:moveTo>
                    <a:pt x="477" y="0"/>
                  </a:moveTo>
                  <a:lnTo>
                    <a:pt x="3377723" y="0"/>
                  </a:lnTo>
                  <a:cubicBezTo>
                    <a:pt x="3377849" y="0"/>
                    <a:pt x="3377971" y="50"/>
                    <a:pt x="3378060" y="140"/>
                  </a:cubicBezTo>
                  <a:cubicBezTo>
                    <a:pt x="3378150" y="229"/>
                    <a:pt x="3378200" y="351"/>
                    <a:pt x="3378200" y="477"/>
                  </a:cubicBezTo>
                  <a:lnTo>
                    <a:pt x="3378200" y="520223"/>
                  </a:lnTo>
                  <a:cubicBezTo>
                    <a:pt x="3378200" y="520349"/>
                    <a:pt x="3378150" y="520471"/>
                    <a:pt x="3378060" y="520560"/>
                  </a:cubicBezTo>
                  <a:cubicBezTo>
                    <a:pt x="3377971" y="520650"/>
                    <a:pt x="3377849" y="520700"/>
                    <a:pt x="3377723" y="520700"/>
                  </a:cubicBezTo>
                  <a:lnTo>
                    <a:pt x="477" y="520700"/>
                  </a:lnTo>
                  <a:cubicBezTo>
                    <a:pt x="351" y="520700"/>
                    <a:pt x="229" y="520650"/>
                    <a:pt x="140" y="520560"/>
                  </a:cubicBezTo>
                  <a:cubicBezTo>
                    <a:pt x="50" y="520471"/>
                    <a:pt x="0" y="520349"/>
                    <a:pt x="0" y="520223"/>
                  </a:cubicBezTo>
                  <a:lnTo>
                    <a:pt x="0" y="477"/>
                  </a:lnTo>
                  <a:cubicBezTo>
                    <a:pt x="0" y="351"/>
                    <a:pt x="50" y="229"/>
                    <a:pt x="140" y="140"/>
                  </a:cubicBezTo>
                  <a:cubicBezTo>
                    <a:pt x="229" y="50"/>
                    <a:pt x="351" y="0"/>
                    <a:pt x="477" y="0"/>
                  </a:cubicBezTo>
                  <a:close/>
                </a:path>
              </a:pathLst>
            </a:custGeom>
            <a:solidFill>
              <a:srgbClr val="EAF3FF"/>
            </a:solidFill>
            <a:ln w="19050" cap="sq">
              <a:solidFill>
                <a:srgbClr val="4A90D9"/>
              </a:solidFill>
              <a:prstDash val="solid"/>
              <a:miter/>
            </a:ln>
          </p:spPr>
        </p:sp>
        <p:sp>
          <p:nvSpPr>
            <p:cNvPr name="TextBox 36" id="36"/>
            <p:cNvSpPr txBox="true"/>
            <p:nvPr/>
          </p:nvSpPr>
          <p:spPr>
            <a:xfrm>
              <a:off x="0" y="-38100"/>
              <a:ext cx="3378200" cy="5588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523875" y="2819400"/>
            <a:ext cx="22479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Operations Reports</a:t>
            </a:r>
          </a:p>
        </p:txBody>
      </p:sp>
      <p:grpSp>
        <p:nvGrpSpPr>
          <p:cNvPr name="Group 38" id="38"/>
          <p:cNvGrpSpPr/>
          <p:nvPr/>
        </p:nvGrpSpPr>
        <p:grpSpPr>
          <a:xfrm rot="0">
            <a:off x="381000" y="3257550"/>
            <a:ext cx="2533650" cy="390525"/>
            <a:chOff x="0" y="0"/>
            <a:chExt cx="3378200" cy="520700"/>
          </a:xfrm>
        </p:grpSpPr>
        <p:sp>
          <p:nvSpPr>
            <p:cNvPr name="Freeform 39" id="39"/>
            <p:cNvSpPr/>
            <p:nvPr/>
          </p:nvSpPr>
          <p:spPr>
            <a:xfrm flipH="false" flipV="false" rot="0">
              <a:off x="0" y="0"/>
              <a:ext cx="3378200" cy="520700"/>
            </a:xfrm>
            <a:custGeom>
              <a:avLst/>
              <a:gdLst/>
              <a:ahLst/>
              <a:cxnLst/>
              <a:rect r="r" b="b" t="t" l="l"/>
              <a:pathLst>
                <a:path h="520700" w="3378200">
                  <a:moveTo>
                    <a:pt x="477" y="0"/>
                  </a:moveTo>
                  <a:lnTo>
                    <a:pt x="3377723" y="0"/>
                  </a:lnTo>
                  <a:cubicBezTo>
                    <a:pt x="3377849" y="0"/>
                    <a:pt x="3377971" y="50"/>
                    <a:pt x="3378060" y="140"/>
                  </a:cubicBezTo>
                  <a:cubicBezTo>
                    <a:pt x="3378150" y="229"/>
                    <a:pt x="3378200" y="351"/>
                    <a:pt x="3378200" y="477"/>
                  </a:cubicBezTo>
                  <a:lnTo>
                    <a:pt x="3378200" y="520223"/>
                  </a:lnTo>
                  <a:cubicBezTo>
                    <a:pt x="3378200" y="520349"/>
                    <a:pt x="3378150" y="520471"/>
                    <a:pt x="3378060" y="520560"/>
                  </a:cubicBezTo>
                  <a:cubicBezTo>
                    <a:pt x="3377971" y="520650"/>
                    <a:pt x="3377849" y="520700"/>
                    <a:pt x="3377723" y="520700"/>
                  </a:cubicBezTo>
                  <a:lnTo>
                    <a:pt x="477" y="520700"/>
                  </a:lnTo>
                  <a:cubicBezTo>
                    <a:pt x="351" y="520700"/>
                    <a:pt x="229" y="520650"/>
                    <a:pt x="140" y="520560"/>
                  </a:cubicBezTo>
                  <a:cubicBezTo>
                    <a:pt x="50" y="520471"/>
                    <a:pt x="0" y="520349"/>
                    <a:pt x="0" y="520223"/>
                  </a:cubicBezTo>
                  <a:lnTo>
                    <a:pt x="0" y="477"/>
                  </a:lnTo>
                  <a:cubicBezTo>
                    <a:pt x="0" y="351"/>
                    <a:pt x="50" y="229"/>
                    <a:pt x="140" y="140"/>
                  </a:cubicBezTo>
                  <a:cubicBezTo>
                    <a:pt x="229" y="50"/>
                    <a:pt x="351" y="0"/>
                    <a:pt x="477" y="0"/>
                  </a:cubicBezTo>
                  <a:close/>
                </a:path>
              </a:pathLst>
            </a:custGeom>
            <a:solidFill>
              <a:srgbClr val="EAF3FF"/>
            </a:solidFill>
            <a:ln w="19050" cap="sq">
              <a:solidFill>
                <a:srgbClr val="4A90D9"/>
              </a:solidFill>
              <a:prstDash val="solid"/>
              <a:miter/>
            </a:ln>
          </p:spPr>
        </p:sp>
        <p:sp>
          <p:nvSpPr>
            <p:cNvPr name="TextBox 40" id="40"/>
            <p:cNvSpPr txBox="true"/>
            <p:nvPr/>
          </p:nvSpPr>
          <p:spPr>
            <a:xfrm>
              <a:off x="0" y="-38100"/>
              <a:ext cx="3378200" cy="5588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523875" y="3324225"/>
            <a:ext cx="22479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Customer Support Logs</a:t>
            </a:r>
          </a:p>
        </p:txBody>
      </p:sp>
      <p:grpSp>
        <p:nvGrpSpPr>
          <p:cNvPr name="Group 42" id="42"/>
          <p:cNvGrpSpPr/>
          <p:nvPr/>
        </p:nvGrpSpPr>
        <p:grpSpPr>
          <a:xfrm rot="0">
            <a:off x="381000" y="3762375"/>
            <a:ext cx="2533650" cy="390525"/>
            <a:chOff x="0" y="0"/>
            <a:chExt cx="3378200" cy="520700"/>
          </a:xfrm>
        </p:grpSpPr>
        <p:sp>
          <p:nvSpPr>
            <p:cNvPr name="Freeform 43" id="43"/>
            <p:cNvSpPr/>
            <p:nvPr/>
          </p:nvSpPr>
          <p:spPr>
            <a:xfrm flipH="false" flipV="false" rot="0">
              <a:off x="0" y="0"/>
              <a:ext cx="3378200" cy="520700"/>
            </a:xfrm>
            <a:custGeom>
              <a:avLst/>
              <a:gdLst/>
              <a:ahLst/>
              <a:cxnLst/>
              <a:rect r="r" b="b" t="t" l="l"/>
              <a:pathLst>
                <a:path h="520700" w="3378200">
                  <a:moveTo>
                    <a:pt x="477" y="0"/>
                  </a:moveTo>
                  <a:lnTo>
                    <a:pt x="3377723" y="0"/>
                  </a:lnTo>
                  <a:cubicBezTo>
                    <a:pt x="3377849" y="0"/>
                    <a:pt x="3377971" y="50"/>
                    <a:pt x="3378060" y="140"/>
                  </a:cubicBezTo>
                  <a:cubicBezTo>
                    <a:pt x="3378150" y="229"/>
                    <a:pt x="3378200" y="351"/>
                    <a:pt x="3378200" y="477"/>
                  </a:cubicBezTo>
                  <a:lnTo>
                    <a:pt x="3378200" y="520223"/>
                  </a:lnTo>
                  <a:cubicBezTo>
                    <a:pt x="3378200" y="520349"/>
                    <a:pt x="3378150" y="520471"/>
                    <a:pt x="3378060" y="520560"/>
                  </a:cubicBezTo>
                  <a:cubicBezTo>
                    <a:pt x="3377971" y="520650"/>
                    <a:pt x="3377849" y="520700"/>
                    <a:pt x="3377723" y="520700"/>
                  </a:cubicBezTo>
                  <a:lnTo>
                    <a:pt x="477" y="520700"/>
                  </a:lnTo>
                  <a:cubicBezTo>
                    <a:pt x="351" y="520700"/>
                    <a:pt x="229" y="520650"/>
                    <a:pt x="140" y="520560"/>
                  </a:cubicBezTo>
                  <a:cubicBezTo>
                    <a:pt x="50" y="520471"/>
                    <a:pt x="0" y="520349"/>
                    <a:pt x="0" y="520223"/>
                  </a:cubicBezTo>
                  <a:lnTo>
                    <a:pt x="0" y="477"/>
                  </a:lnTo>
                  <a:cubicBezTo>
                    <a:pt x="0" y="351"/>
                    <a:pt x="50" y="229"/>
                    <a:pt x="140" y="140"/>
                  </a:cubicBezTo>
                  <a:cubicBezTo>
                    <a:pt x="229" y="50"/>
                    <a:pt x="351" y="0"/>
                    <a:pt x="477" y="0"/>
                  </a:cubicBezTo>
                  <a:close/>
                </a:path>
              </a:pathLst>
            </a:custGeom>
            <a:solidFill>
              <a:srgbClr val="EAF3FF"/>
            </a:solidFill>
            <a:ln w="19050" cap="sq">
              <a:solidFill>
                <a:srgbClr val="4A90D9"/>
              </a:solidFill>
              <a:prstDash val="solid"/>
              <a:miter/>
            </a:ln>
          </p:spPr>
        </p:sp>
        <p:sp>
          <p:nvSpPr>
            <p:cNvPr name="TextBox 44" id="44"/>
            <p:cNvSpPr txBox="true"/>
            <p:nvPr/>
          </p:nvSpPr>
          <p:spPr>
            <a:xfrm>
              <a:off x="0" y="-38100"/>
              <a:ext cx="3378200" cy="5588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523875" y="3829050"/>
            <a:ext cx="22479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Supply Chain Data</a:t>
            </a:r>
          </a:p>
        </p:txBody>
      </p:sp>
      <p:grpSp>
        <p:nvGrpSpPr>
          <p:cNvPr name="Group 46" id="46"/>
          <p:cNvGrpSpPr/>
          <p:nvPr/>
        </p:nvGrpSpPr>
        <p:grpSpPr>
          <a:xfrm rot="0">
            <a:off x="3152775" y="1238250"/>
            <a:ext cx="2628900" cy="390525"/>
            <a:chOff x="0" y="0"/>
            <a:chExt cx="3505200" cy="520700"/>
          </a:xfrm>
        </p:grpSpPr>
        <p:sp>
          <p:nvSpPr>
            <p:cNvPr name="Freeform 47" id="47"/>
            <p:cNvSpPr/>
            <p:nvPr/>
          </p:nvSpPr>
          <p:spPr>
            <a:xfrm flipH="false" flipV="false" rot="0">
              <a:off x="0" y="0"/>
              <a:ext cx="3505200" cy="520700"/>
            </a:xfrm>
            <a:custGeom>
              <a:avLst/>
              <a:gdLst/>
              <a:ahLst/>
              <a:cxnLst/>
              <a:rect r="r" b="b" t="t" l="l"/>
              <a:pathLst>
                <a:path h="520700" w="3505200">
                  <a:moveTo>
                    <a:pt x="460" y="0"/>
                  </a:moveTo>
                  <a:lnTo>
                    <a:pt x="3504740" y="0"/>
                  </a:lnTo>
                  <a:cubicBezTo>
                    <a:pt x="3504862" y="0"/>
                    <a:pt x="3504979" y="48"/>
                    <a:pt x="3505065" y="135"/>
                  </a:cubicBezTo>
                  <a:cubicBezTo>
                    <a:pt x="3505152" y="221"/>
                    <a:pt x="3505200" y="338"/>
                    <a:pt x="3505200" y="460"/>
                  </a:cubicBezTo>
                  <a:lnTo>
                    <a:pt x="3505200" y="520240"/>
                  </a:lnTo>
                  <a:cubicBezTo>
                    <a:pt x="3505200" y="520362"/>
                    <a:pt x="3505152" y="520479"/>
                    <a:pt x="3505065" y="520565"/>
                  </a:cubicBezTo>
                  <a:cubicBezTo>
                    <a:pt x="3504979" y="520652"/>
                    <a:pt x="3504862" y="520700"/>
                    <a:pt x="3504740" y="520700"/>
                  </a:cubicBezTo>
                  <a:lnTo>
                    <a:pt x="460" y="520700"/>
                  </a:lnTo>
                  <a:cubicBezTo>
                    <a:pt x="338" y="520700"/>
                    <a:pt x="221" y="520652"/>
                    <a:pt x="135" y="520565"/>
                  </a:cubicBezTo>
                  <a:cubicBezTo>
                    <a:pt x="48" y="520479"/>
                    <a:pt x="0" y="520362"/>
                    <a:pt x="0" y="520240"/>
                  </a:cubicBezTo>
                  <a:lnTo>
                    <a:pt x="0" y="460"/>
                  </a:lnTo>
                  <a:cubicBezTo>
                    <a:pt x="0" y="338"/>
                    <a:pt x="48" y="221"/>
                    <a:pt x="135" y="135"/>
                  </a:cubicBezTo>
                  <a:cubicBezTo>
                    <a:pt x="221" y="48"/>
                    <a:pt x="338" y="0"/>
                    <a:pt x="460" y="0"/>
                  </a:cubicBezTo>
                  <a:close/>
                </a:path>
              </a:pathLst>
            </a:custGeom>
            <a:solidFill>
              <a:srgbClr val="FFF1DC"/>
            </a:solidFill>
            <a:ln w="19050" cap="sq">
              <a:solidFill>
                <a:srgbClr val="E0A94C"/>
              </a:solidFill>
              <a:prstDash val="solid"/>
              <a:miter/>
            </a:ln>
          </p:spPr>
        </p:sp>
        <p:sp>
          <p:nvSpPr>
            <p:cNvPr name="TextBox 48" id="48"/>
            <p:cNvSpPr txBox="true"/>
            <p:nvPr/>
          </p:nvSpPr>
          <p:spPr>
            <a:xfrm>
              <a:off x="0" y="-38100"/>
              <a:ext cx="3505200" cy="5588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3295650" y="1304925"/>
            <a:ext cx="234315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No Cross-System Link</a:t>
            </a:r>
          </a:p>
        </p:txBody>
      </p:sp>
      <p:grpSp>
        <p:nvGrpSpPr>
          <p:cNvPr name="Group 50" id="50"/>
          <p:cNvGrpSpPr/>
          <p:nvPr/>
        </p:nvGrpSpPr>
        <p:grpSpPr>
          <a:xfrm rot="0">
            <a:off x="3152775" y="1743075"/>
            <a:ext cx="2628900" cy="390525"/>
            <a:chOff x="0" y="0"/>
            <a:chExt cx="3505200" cy="520700"/>
          </a:xfrm>
        </p:grpSpPr>
        <p:sp>
          <p:nvSpPr>
            <p:cNvPr name="Freeform 51" id="51"/>
            <p:cNvSpPr/>
            <p:nvPr/>
          </p:nvSpPr>
          <p:spPr>
            <a:xfrm flipH="false" flipV="false" rot="0">
              <a:off x="0" y="0"/>
              <a:ext cx="3505200" cy="520700"/>
            </a:xfrm>
            <a:custGeom>
              <a:avLst/>
              <a:gdLst/>
              <a:ahLst/>
              <a:cxnLst/>
              <a:rect r="r" b="b" t="t" l="l"/>
              <a:pathLst>
                <a:path h="520700" w="3505200">
                  <a:moveTo>
                    <a:pt x="460" y="0"/>
                  </a:moveTo>
                  <a:lnTo>
                    <a:pt x="3504740" y="0"/>
                  </a:lnTo>
                  <a:cubicBezTo>
                    <a:pt x="3504862" y="0"/>
                    <a:pt x="3504979" y="48"/>
                    <a:pt x="3505065" y="135"/>
                  </a:cubicBezTo>
                  <a:cubicBezTo>
                    <a:pt x="3505152" y="221"/>
                    <a:pt x="3505200" y="338"/>
                    <a:pt x="3505200" y="460"/>
                  </a:cubicBezTo>
                  <a:lnTo>
                    <a:pt x="3505200" y="520240"/>
                  </a:lnTo>
                  <a:cubicBezTo>
                    <a:pt x="3505200" y="520362"/>
                    <a:pt x="3505152" y="520479"/>
                    <a:pt x="3505065" y="520565"/>
                  </a:cubicBezTo>
                  <a:cubicBezTo>
                    <a:pt x="3504979" y="520652"/>
                    <a:pt x="3504862" y="520700"/>
                    <a:pt x="3504740" y="520700"/>
                  </a:cubicBezTo>
                  <a:lnTo>
                    <a:pt x="460" y="520700"/>
                  </a:lnTo>
                  <a:cubicBezTo>
                    <a:pt x="338" y="520700"/>
                    <a:pt x="221" y="520652"/>
                    <a:pt x="135" y="520565"/>
                  </a:cubicBezTo>
                  <a:cubicBezTo>
                    <a:pt x="48" y="520479"/>
                    <a:pt x="0" y="520362"/>
                    <a:pt x="0" y="520240"/>
                  </a:cubicBezTo>
                  <a:lnTo>
                    <a:pt x="0" y="460"/>
                  </a:lnTo>
                  <a:cubicBezTo>
                    <a:pt x="0" y="338"/>
                    <a:pt x="48" y="221"/>
                    <a:pt x="135" y="135"/>
                  </a:cubicBezTo>
                  <a:cubicBezTo>
                    <a:pt x="221" y="48"/>
                    <a:pt x="338" y="0"/>
                    <a:pt x="460" y="0"/>
                  </a:cubicBezTo>
                  <a:close/>
                </a:path>
              </a:pathLst>
            </a:custGeom>
            <a:solidFill>
              <a:srgbClr val="FFF1DC"/>
            </a:solidFill>
            <a:ln w="19050" cap="sq">
              <a:solidFill>
                <a:srgbClr val="E0A94C"/>
              </a:solidFill>
              <a:prstDash val="solid"/>
              <a:miter/>
            </a:ln>
          </p:spPr>
        </p:sp>
        <p:sp>
          <p:nvSpPr>
            <p:cNvPr name="TextBox 52" id="52"/>
            <p:cNvSpPr txBox="true"/>
            <p:nvPr/>
          </p:nvSpPr>
          <p:spPr>
            <a:xfrm>
              <a:off x="0" y="-38100"/>
              <a:ext cx="3505200" cy="558800"/>
            </a:xfrm>
            <a:prstGeom prst="rect">
              <a:avLst/>
            </a:prstGeom>
          </p:spPr>
          <p:txBody>
            <a:bodyPr anchor="ctr" rtlCol="false" tIns="50800" lIns="50800" bIns="50800" rIns="50800"/>
            <a:lstStyle/>
            <a:p>
              <a:pPr algn="l">
                <a:lnSpc>
                  <a:spcPts val="1679"/>
                </a:lnSpc>
              </a:pPr>
            </a:p>
          </p:txBody>
        </p:sp>
      </p:grpSp>
      <p:sp>
        <p:nvSpPr>
          <p:cNvPr name="TextBox 53" id="53"/>
          <p:cNvSpPr txBox="true"/>
          <p:nvPr/>
        </p:nvSpPr>
        <p:spPr>
          <a:xfrm rot="0">
            <a:off x="3295650" y="1809750"/>
            <a:ext cx="234315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No Root-Cause Tag</a:t>
            </a:r>
          </a:p>
        </p:txBody>
      </p:sp>
      <p:grpSp>
        <p:nvGrpSpPr>
          <p:cNvPr name="Group 54" id="54"/>
          <p:cNvGrpSpPr/>
          <p:nvPr/>
        </p:nvGrpSpPr>
        <p:grpSpPr>
          <a:xfrm rot="0">
            <a:off x="3152775" y="2247900"/>
            <a:ext cx="2628900" cy="390525"/>
            <a:chOff x="0" y="0"/>
            <a:chExt cx="3505200" cy="520700"/>
          </a:xfrm>
        </p:grpSpPr>
        <p:sp>
          <p:nvSpPr>
            <p:cNvPr name="Freeform 55" id="55"/>
            <p:cNvSpPr/>
            <p:nvPr/>
          </p:nvSpPr>
          <p:spPr>
            <a:xfrm flipH="false" flipV="false" rot="0">
              <a:off x="0" y="0"/>
              <a:ext cx="3505200" cy="520700"/>
            </a:xfrm>
            <a:custGeom>
              <a:avLst/>
              <a:gdLst/>
              <a:ahLst/>
              <a:cxnLst/>
              <a:rect r="r" b="b" t="t" l="l"/>
              <a:pathLst>
                <a:path h="520700" w="3505200">
                  <a:moveTo>
                    <a:pt x="460" y="0"/>
                  </a:moveTo>
                  <a:lnTo>
                    <a:pt x="3504740" y="0"/>
                  </a:lnTo>
                  <a:cubicBezTo>
                    <a:pt x="3504862" y="0"/>
                    <a:pt x="3504979" y="48"/>
                    <a:pt x="3505065" y="135"/>
                  </a:cubicBezTo>
                  <a:cubicBezTo>
                    <a:pt x="3505152" y="221"/>
                    <a:pt x="3505200" y="338"/>
                    <a:pt x="3505200" y="460"/>
                  </a:cubicBezTo>
                  <a:lnTo>
                    <a:pt x="3505200" y="520240"/>
                  </a:lnTo>
                  <a:cubicBezTo>
                    <a:pt x="3505200" y="520362"/>
                    <a:pt x="3505152" y="520479"/>
                    <a:pt x="3505065" y="520565"/>
                  </a:cubicBezTo>
                  <a:cubicBezTo>
                    <a:pt x="3504979" y="520652"/>
                    <a:pt x="3504862" y="520700"/>
                    <a:pt x="3504740" y="520700"/>
                  </a:cubicBezTo>
                  <a:lnTo>
                    <a:pt x="460" y="520700"/>
                  </a:lnTo>
                  <a:cubicBezTo>
                    <a:pt x="338" y="520700"/>
                    <a:pt x="221" y="520652"/>
                    <a:pt x="135" y="520565"/>
                  </a:cubicBezTo>
                  <a:cubicBezTo>
                    <a:pt x="48" y="520479"/>
                    <a:pt x="0" y="520362"/>
                    <a:pt x="0" y="520240"/>
                  </a:cubicBezTo>
                  <a:lnTo>
                    <a:pt x="0" y="460"/>
                  </a:lnTo>
                  <a:cubicBezTo>
                    <a:pt x="0" y="338"/>
                    <a:pt x="48" y="221"/>
                    <a:pt x="135" y="135"/>
                  </a:cubicBezTo>
                  <a:cubicBezTo>
                    <a:pt x="221" y="48"/>
                    <a:pt x="338" y="0"/>
                    <a:pt x="460" y="0"/>
                  </a:cubicBezTo>
                  <a:close/>
                </a:path>
              </a:pathLst>
            </a:custGeom>
            <a:solidFill>
              <a:srgbClr val="FFF1DC"/>
            </a:solidFill>
            <a:ln w="19050" cap="sq">
              <a:solidFill>
                <a:srgbClr val="E0A94C"/>
              </a:solidFill>
              <a:prstDash val="solid"/>
              <a:miter/>
            </a:ln>
          </p:spPr>
        </p:sp>
        <p:sp>
          <p:nvSpPr>
            <p:cNvPr name="TextBox 56" id="56"/>
            <p:cNvSpPr txBox="true"/>
            <p:nvPr/>
          </p:nvSpPr>
          <p:spPr>
            <a:xfrm>
              <a:off x="0" y="-38100"/>
              <a:ext cx="3505200" cy="558800"/>
            </a:xfrm>
            <a:prstGeom prst="rect">
              <a:avLst/>
            </a:prstGeom>
          </p:spPr>
          <p:txBody>
            <a:bodyPr anchor="ctr" rtlCol="false" tIns="50800" lIns="50800" bIns="50800" rIns="50800"/>
            <a:lstStyle/>
            <a:p>
              <a:pPr algn="l">
                <a:lnSpc>
                  <a:spcPts val="1679"/>
                </a:lnSpc>
              </a:pPr>
            </a:p>
          </p:txBody>
        </p:sp>
      </p:grpSp>
      <p:sp>
        <p:nvSpPr>
          <p:cNvPr name="TextBox 57" id="57"/>
          <p:cNvSpPr txBox="true"/>
          <p:nvPr/>
        </p:nvSpPr>
        <p:spPr>
          <a:xfrm rot="0">
            <a:off x="3295650" y="2314575"/>
            <a:ext cx="234315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No Historical Context</a:t>
            </a:r>
          </a:p>
        </p:txBody>
      </p:sp>
      <p:grpSp>
        <p:nvGrpSpPr>
          <p:cNvPr name="Group 58" id="58"/>
          <p:cNvGrpSpPr/>
          <p:nvPr/>
        </p:nvGrpSpPr>
        <p:grpSpPr>
          <a:xfrm rot="0">
            <a:off x="3152775" y="2752725"/>
            <a:ext cx="2628900" cy="390525"/>
            <a:chOff x="0" y="0"/>
            <a:chExt cx="3505200" cy="520700"/>
          </a:xfrm>
        </p:grpSpPr>
        <p:sp>
          <p:nvSpPr>
            <p:cNvPr name="Freeform 59" id="59"/>
            <p:cNvSpPr/>
            <p:nvPr/>
          </p:nvSpPr>
          <p:spPr>
            <a:xfrm flipH="false" flipV="false" rot="0">
              <a:off x="0" y="0"/>
              <a:ext cx="3505200" cy="520700"/>
            </a:xfrm>
            <a:custGeom>
              <a:avLst/>
              <a:gdLst/>
              <a:ahLst/>
              <a:cxnLst/>
              <a:rect r="r" b="b" t="t" l="l"/>
              <a:pathLst>
                <a:path h="520700" w="3505200">
                  <a:moveTo>
                    <a:pt x="460" y="0"/>
                  </a:moveTo>
                  <a:lnTo>
                    <a:pt x="3504740" y="0"/>
                  </a:lnTo>
                  <a:cubicBezTo>
                    <a:pt x="3504862" y="0"/>
                    <a:pt x="3504979" y="48"/>
                    <a:pt x="3505065" y="135"/>
                  </a:cubicBezTo>
                  <a:cubicBezTo>
                    <a:pt x="3505152" y="221"/>
                    <a:pt x="3505200" y="338"/>
                    <a:pt x="3505200" y="460"/>
                  </a:cubicBezTo>
                  <a:lnTo>
                    <a:pt x="3505200" y="520240"/>
                  </a:lnTo>
                  <a:cubicBezTo>
                    <a:pt x="3505200" y="520362"/>
                    <a:pt x="3505152" y="520479"/>
                    <a:pt x="3505065" y="520565"/>
                  </a:cubicBezTo>
                  <a:cubicBezTo>
                    <a:pt x="3504979" y="520652"/>
                    <a:pt x="3504862" y="520700"/>
                    <a:pt x="3504740" y="520700"/>
                  </a:cubicBezTo>
                  <a:lnTo>
                    <a:pt x="460" y="520700"/>
                  </a:lnTo>
                  <a:cubicBezTo>
                    <a:pt x="338" y="520700"/>
                    <a:pt x="221" y="520652"/>
                    <a:pt x="135" y="520565"/>
                  </a:cubicBezTo>
                  <a:cubicBezTo>
                    <a:pt x="48" y="520479"/>
                    <a:pt x="0" y="520362"/>
                    <a:pt x="0" y="520240"/>
                  </a:cubicBezTo>
                  <a:lnTo>
                    <a:pt x="0" y="460"/>
                  </a:lnTo>
                  <a:cubicBezTo>
                    <a:pt x="0" y="338"/>
                    <a:pt x="48" y="221"/>
                    <a:pt x="135" y="135"/>
                  </a:cubicBezTo>
                  <a:cubicBezTo>
                    <a:pt x="221" y="48"/>
                    <a:pt x="338" y="0"/>
                    <a:pt x="460" y="0"/>
                  </a:cubicBezTo>
                  <a:close/>
                </a:path>
              </a:pathLst>
            </a:custGeom>
            <a:solidFill>
              <a:srgbClr val="FFF1DC"/>
            </a:solidFill>
            <a:ln w="19050" cap="sq">
              <a:solidFill>
                <a:srgbClr val="E0A94C"/>
              </a:solidFill>
              <a:prstDash val="solid"/>
              <a:miter/>
            </a:ln>
          </p:spPr>
        </p:sp>
        <p:sp>
          <p:nvSpPr>
            <p:cNvPr name="TextBox 60" id="60"/>
            <p:cNvSpPr txBox="true"/>
            <p:nvPr/>
          </p:nvSpPr>
          <p:spPr>
            <a:xfrm>
              <a:off x="0" y="-38100"/>
              <a:ext cx="3505200" cy="558800"/>
            </a:xfrm>
            <a:prstGeom prst="rect">
              <a:avLst/>
            </a:prstGeom>
          </p:spPr>
          <p:txBody>
            <a:bodyPr anchor="ctr" rtlCol="false" tIns="50800" lIns="50800" bIns="50800" rIns="50800"/>
            <a:lstStyle/>
            <a:p>
              <a:pPr algn="l">
                <a:lnSpc>
                  <a:spcPts val="1679"/>
                </a:lnSpc>
              </a:pPr>
            </a:p>
          </p:txBody>
        </p:sp>
      </p:grpSp>
      <p:sp>
        <p:nvSpPr>
          <p:cNvPr name="TextBox 61" id="61"/>
          <p:cNvSpPr txBox="true"/>
          <p:nvPr/>
        </p:nvSpPr>
        <p:spPr>
          <a:xfrm rot="0">
            <a:off x="3295650" y="2819400"/>
            <a:ext cx="234315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No Customer Voice</a:t>
            </a:r>
          </a:p>
        </p:txBody>
      </p:sp>
      <p:grpSp>
        <p:nvGrpSpPr>
          <p:cNvPr name="Group 62" id="62"/>
          <p:cNvGrpSpPr/>
          <p:nvPr/>
        </p:nvGrpSpPr>
        <p:grpSpPr>
          <a:xfrm rot="0">
            <a:off x="3152775" y="3257550"/>
            <a:ext cx="2628900" cy="390525"/>
            <a:chOff x="0" y="0"/>
            <a:chExt cx="3505200" cy="520700"/>
          </a:xfrm>
        </p:grpSpPr>
        <p:sp>
          <p:nvSpPr>
            <p:cNvPr name="Freeform 63" id="63"/>
            <p:cNvSpPr/>
            <p:nvPr/>
          </p:nvSpPr>
          <p:spPr>
            <a:xfrm flipH="false" flipV="false" rot="0">
              <a:off x="0" y="0"/>
              <a:ext cx="3505200" cy="520700"/>
            </a:xfrm>
            <a:custGeom>
              <a:avLst/>
              <a:gdLst/>
              <a:ahLst/>
              <a:cxnLst/>
              <a:rect r="r" b="b" t="t" l="l"/>
              <a:pathLst>
                <a:path h="520700" w="3505200">
                  <a:moveTo>
                    <a:pt x="460" y="0"/>
                  </a:moveTo>
                  <a:lnTo>
                    <a:pt x="3504740" y="0"/>
                  </a:lnTo>
                  <a:cubicBezTo>
                    <a:pt x="3504862" y="0"/>
                    <a:pt x="3504979" y="48"/>
                    <a:pt x="3505065" y="135"/>
                  </a:cubicBezTo>
                  <a:cubicBezTo>
                    <a:pt x="3505152" y="221"/>
                    <a:pt x="3505200" y="338"/>
                    <a:pt x="3505200" y="460"/>
                  </a:cubicBezTo>
                  <a:lnTo>
                    <a:pt x="3505200" y="520240"/>
                  </a:lnTo>
                  <a:cubicBezTo>
                    <a:pt x="3505200" y="520362"/>
                    <a:pt x="3505152" y="520479"/>
                    <a:pt x="3505065" y="520565"/>
                  </a:cubicBezTo>
                  <a:cubicBezTo>
                    <a:pt x="3504979" y="520652"/>
                    <a:pt x="3504862" y="520700"/>
                    <a:pt x="3504740" y="520700"/>
                  </a:cubicBezTo>
                  <a:lnTo>
                    <a:pt x="460" y="520700"/>
                  </a:lnTo>
                  <a:cubicBezTo>
                    <a:pt x="338" y="520700"/>
                    <a:pt x="221" y="520652"/>
                    <a:pt x="135" y="520565"/>
                  </a:cubicBezTo>
                  <a:cubicBezTo>
                    <a:pt x="48" y="520479"/>
                    <a:pt x="0" y="520362"/>
                    <a:pt x="0" y="520240"/>
                  </a:cubicBezTo>
                  <a:lnTo>
                    <a:pt x="0" y="460"/>
                  </a:lnTo>
                  <a:cubicBezTo>
                    <a:pt x="0" y="338"/>
                    <a:pt x="48" y="221"/>
                    <a:pt x="135" y="135"/>
                  </a:cubicBezTo>
                  <a:cubicBezTo>
                    <a:pt x="221" y="48"/>
                    <a:pt x="338" y="0"/>
                    <a:pt x="460" y="0"/>
                  </a:cubicBezTo>
                  <a:close/>
                </a:path>
              </a:pathLst>
            </a:custGeom>
            <a:solidFill>
              <a:srgbClr val="FFF1DC"/>
            </a:solidFill>
            <a:ln w="19050" cap="sq">
              <a:solidFill>
                <a:srgbClr val="E0A94C"/>
              </a:solidFill>
              <a:prstDash val="solid"/>
              <a:miter/>
            </a:ln>
          </p:spPr>
        </p:sp>
        <p:sp>
          <p:nvSpPr>
            <p:cNvPr name="TextBox 64" id="64"/>
            <p:cNvSpPr txBox="true"/>
            <p:nvPr/>
          </p:nvSpPr>
          <p:spPr>
            <a:xfrm>
              <a:off x="0" y="-38100"/>
              <a:ext cx="3505200" cy="558800"/>
            </a:xfrm>
            <a:prstGeom prst="rect">
              <a:avLst/>
            </a:prstGeom>
          </p:spPr>
          <p:txBody>
            <a:bodyPr anchor="ctr" rtlCol="false" tIns="50800" lIns="50800" bIns="50800" rIns="50800"/>
            <a:lstStyle/>
            <a:p>
              <a:pPr algn="l">
                <a:lnSpc>
                  <a:spcPts val="1679"/>
                </a:lnSpc>
              </a:pPr>
            </a:p>
          </p:txBody>
        </p:sp>
      </p:grpSp>
      <p:sp>
        <p:nvSpPr>
          <p:cNvPr name="TextBox 65" id="65"/>
          <p:cNvSpPr txBox="true"/>
          <p:nvPr/>
        </p:nvSpPr>
        <p:spPr>
          <a:xfrm rot="0">
            <a:off x="3295650" y="3324225"/>
            <a:ext cx="234315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No Time to Investigate</a:t>
            </a:r>
          </a:p>
        </p:txBody>
      </p:sp>
      <p:grpSp>
        <p:nvGrpSpPr>
          <p:cNvPr name="Group 66" id="66"/>
          <p:cNvGrpSpPr/>
          <p:nvPr/>
        </p:nvGrpSpPr>
        <p:grpSpPr>
          <a:xfrm rot="0">
            <a:off x="3152775" y="3762375"/>
            <a:ext cx="2628900" cy="390525"/>
            <a:chOff x="0" y="0"/>
            <a:chExt cx="3505200" cy="520700"/>
          </a:xfrm>
        </p:grpSpPr>
        <p:sp>
          <p:nvSpPr>
            <p:cNvPr name="Freeform 67" id="67"/>
            <p:cNvSpPr/>
            <p:nvPr/>
          </p:nvSpPr>
          <p:spPr>
            <a:xfrm flipH="false" flipV="false" rot="0">
              <a:off x="0" y="0"/>
              <a:ext cx="3505200" cy="520700"/>
            </a:xfrm>
            <a:custGeom>
              <a:avLst/>
              <a:gdLst/>
              <a:ahLst/>
              <a:cxnLst/>
              <a:rect r="r" b="b" t="t" l="l"/>
              <a:pathLst>
                <a:path h="520700" w="3505200">
                  <a:moveTo>
                    <a:pt x="460" y="0"/>
                  </a:moveTo>
                  <a:lnTo>
                    <a:pt x="3504740" y="0"/>
                  </a:lnTo>
                  <a:cubicBezTo>
                    <a:pt x="3504862" y="0"/>
                    <a:pt x="3504979" y="48"/>
                    <a:pt x="3505065" y="135"/>
                  </a:cubicBezTo>
                  <a:cubicBezTo>
                    <a:pt x="3505152" y="221"/>
                    <a:pt x="3505200" y="338"/>
                    <a:pt x="3505200" y="460"/>
                  </a:cubicBezTo>
                  <a:lnTo>
                    <a:pt x="3505200" y="520240"/>
                  </a:lnTo>
                  <a:cubicBezTo>
                    <a:pt x="3505200" y="520362"/>
                    <a:pt x="3505152" y="520479"/>
                    <a:pt x="3505065" y="520565"/>
                  </a:cubicBezTo>
                  <a:cubicBezTo>
                    <a:pt x="3504979" y="520652"/>
                    <a:pt x="3504862" y="520700"/>
                    <a:pt x="3504740" y="520700"/>
                  </a:cubicBezTo>
                  <a:lnTo>
                    <a:pt x="460" y="520700"/>
                  </a:lnTo>
                  <a:cubicBezTo>
                    <a:pt x="338" y="520700"/>
                    <a:pt x="221" y="520652"/>
                    <a:pt x="135" y="520565"/>
                  </a:cubicBezTo>
                  <a:cubicBezTo>
                    <a:pt x="48" y="520479"/>
                    <a:pt x="0" y="520362"/>
                    <a:pt x="0" y="520240"/>
                  </a:cubicBezTo>
                  <a:lnTo>
                    <a:pt x="0" y="460"/>
                  </a:lnTo>
                  <a:cubicBezTo>
                    <a:pt x="0" y="338"/>
                    <a:pt x="48" y="221"/>
                    <a:pt x="135" y="135"/>
                  </a:cubicBezTo>
                  <a:cubicBezTo>
                    <a:pt x="221" y="48"/>
                    <a:pt x="338" y="0"/>
                    <a:pt x="460" y="0"/>
                  </a:cubicBezTo>
                  <a:close/>
                </a:path>
              </a:pathLst>
            </a:custGeom>
            <a:solidFill>
              <a:srgbClr val="FFF1DC"/>
            </a:solidFill>
            <a:ln w="19050" cap="sq">
              <a:solidFill>
                <a:srgbClr val="E0A94C"/>
              </a:solidFill>
              <a:prstDash val="solid"/>
              <a:miter/>
            </a:ln>
          </p:spPr>
        </p:sp>
        <p:sp>
          <p:nvSpPr>
            <p:cNvPr name="TextBox 68" id="68"/>
            <p:cNvSpPr txBox="true"/>
            <p:nvPr/>
          </p:nvSpPr>
          <p:spPr>
            <a:xfrm>
              <a:off x="0" y="-38100"/>
              <a:ext cx="3505200" cy="558800"/>
            </a:xfrm>
            <a:prstGeom prst="rect">
              <a:avLst/>
            </a:prstGeom>
          </p:spPr>
          <p:txBody>
            <a:bodyPr anchor="ctr" rtlCol="false" tIns="50800" lIns="50800" bIns="50800" rIns="50800"/>
            <a:lstStyle/>
            <a:p>
              <a:pPr algn="l">
                <a:lnSpc>
                  <a:spcPts val="1679"/>
                </a:lnSpc>
              </a:pPr>
            </a:p>
          </p:txBody>
        </p:sp>
      </p:grpSp>
      <p:sp>
        <p:nvSpPr>
          <p:cNvPr name="TextBox 69" id="69"/>
          <p:cNvSpPr txBox="true"/>
          <p:nvPr/>
        </p:nvSpPr>
        <p:spPr>
          <a:xfrm rot="0">
            <a:off x="3295650" y="3829050"/>
            <a:ext cx="234315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No Second Data Source</a:t>
            </a:r>
          </a:p>
        </p:txBody>
      </p:sp>
      <p:grpSp>
        <p:nvGrpSpPr>
          <p:cNvPr name="Group 70" id="70"/>
          <p:cNvGrpSpPr/>
          <p:nvPr/>
        </p:nvGrpSpPr>
        <p:grpSpPr>
          <a:xfrm rot="0">
            <a:off x="6267450" y="2181225"/>
            <a:ext cx="1028700" cy="1028700"/>
            <a:chOff x="0" y="0"/>
            <a:chExt cx="1371600" cy="1371600"/>
          </a:xfrm>
        </p:grpSpPr>
        <p:sp>
          <p:nvSpPr>
            <p:cNvPr name="Freeform 71" id="71"/>
            <p:cNvSpPr/>
            <p:nvPr/>
          </p:nvSpPr>
          <p:spPr>
            <a:xfrm flipH="false" flipV="false" rot="0">
              <a:off x="0" y="0"/>
              <a:ext cx="1371600" cy="1371600"/>
            </a:xfrm>
            <a:custGeom>
              <a:avLst/>
              <a:gdLst/>
              <a:ahLst/>
              <a:cxnLst/>
              <a:rect r="r" b="b" t="t" l="l"/>
              <a:pathLst>
                <a:path h="1371600" w="1371600">
                  <a:moveTo>
                    <a:pt x="63500" y="0"/>
                  </a:moveTo>
                  <a:lnTo>
                    <a:pt x="1308100" y="0"/>
                  </a:lnTo>
                  <a:cubicBezTo>
                    <a:pt x="1343170" y="0"/>
                    <a:pt x="1371600" y="28430"/>
                    <a:pt x="1371600" y="63500"/>
                  </a:cubicBezTo>
                  <a:lnTo>
                    <a:pt x="1371600" y="1308100"/>
                  </a:lnTo>
                  <a:cubicBezTo>
                    <a:pt x="1371600" y="1343170"/>
                    <a:pt x="1343170" y="1371600"/>
                    <a:pt x="1308100" y="1371600"/>
                  </a:cubicBezTo>
                  <a:lnTo>
                    <a:pt x="63500" y="1371600"/>
                  </a:lnTo>
                  <a:cubicBezTo>
                    <a:pt x="28430" y="1371600"/>
                    <a:pt x="0" y="1343170"/>
                    <a:pt x="0" y="1308100"/>
                  </a:cubicBezTo>
                  <a:lnTo>
                    <a:pt x="0" y="63500"/>
                  </a:lnTo>
                  <a:cubicBezTo>
                    <a:pt x="0" y="28430"/>
                    <a:pt x="28430" y="0"/>
                    <a:pt x="63500" y="0"/>
                  </a:cubicBezTo>
                  <a:close/>
                </a:path>
              </a:pathLst>
            </a:custGeom>
            <a:solidFill>
              <a:srgbClr val="5B0E96"/>
            </a:solidFill>
          </p:spPr>
        </p:sp>
        <p:sp>
          <p:nvSpPr>
            <p:cNvPr name="TextBox 72" id="72"/>
            <p:cNvSpPr txBox="true"/>
            <p:nvPr/>
          </p:nvSpPr>
          <p:spPr>
            <a:xfrm>
              <a:off x="0" y="-38100"/>
              <a:ext cx="1371600" cy="1409700"/>
            </a:xfrm>
            <a:prstGeom prst="rect">
              <a:avLst/>
            </a:prstGeom>
          </p:spPr>
          <p:txBody>
            <a:bodyPr anchor="ctr" rtlCol="false" tIns="50800" lIns="50800" bIns="50800" rIns="50800"/>
            <a:lstStyle/>
            <a:p>
              <a:pPr algn="l">
                <a:lnSpc>
                  <a:spcPts val="1679"/>
                </a:lnSpc>
              </a:pPr>
            </a:p>
          </p:txBody>
        </p:sp>
      </p:grpSp>
      <p:sp>
        <p:nvSpPr>
          <p:cNvPr name="TextBox 73" id="73"/>
          <p:cNvSpPr txBox="true"/>
          <p:nvPr/>
        </p:nvSpPr>
        <p:spPr>
          <a:xfrm rot="0">
            <a:off x="6362700" y="2524125"/>
            <a:ext cx="838200" cy="363855"/>
          </a:xfrm>
          <a:prstGeom prst="rect">
            <a:avLst/>
          </a:prstGeom>
        </p:spPr>
        <p:txBody>
          <a:bodyPr anchor="t" rtlCol="false" tIns="0" lIns="0" bIns="0" rIns="0">
            <a:spAutoFit/>
          </a:bodyPr>
          <a:lstStyle/>
          <a:p>
            <a:pPr algn="ctr">
              <a:lnSpc>
                <a:spcPts val="1470"/>
              </a:lnSpc>
            </a:pPr>
            <a:r>
              <a:rPr lang="en-US" sz="1050" b="true">
                <a:solidFill>
                  <a:srgbClr val="FFFFFF"/>
                </a:solidFill>
                <a:latin typeface="Arimo Bold"/>
                <a:ea typeface="Arimo Bold"/>
                <a:cs typeface="Arimo Bold"/>
                <a:sym typeface="Arimo Bold"/>
              </a:rPr>
              <a:t>ONE STATIC METRIC</a:t>
            </a:r>
          </a:p>
        </p:txBody>
      </p:sp>
      <p:grpSp>
        <p:nvGrpSpPr>
          <p:cNvPr name="Group 74" id="74"/>
          <p:cNvGrpSpPr/>
          <p:nvPr/>
        </p:nvGrpSpPr>
        <p:grpSpPr>
          <a:xfrm rot="0">
            <a:off x="7772400" y="1352550"/>
            <a:ext cx="2114550" cy="390525"/>
            <a:chOff x="0" y="0"/>
            <a:chExt cx="2819400" cy="520700"/>
          </a:xfrm>
        </p:grpSpPr>
        <p:sp>
          <p:nvSpPr>
            <p:cNvPr name="Freeform 75" id="75"/>
            <p:cNvSpPr/>
            <p:nvPr/>
          </p:nvSpPr>
          <p:spPr>
            <a:xfrm flipH="false" flipV="false" rot="0">
              <a:off x="0" y="0"/>
              <a:ext cx="2819400" cy="520700"/>
            </a:xfrm>
            <a:custGeom>
              <a:avLst/>
              <a:gdLst/>
              <a:ahLst/>
              <a:cxnLst/>
              <a:rect r="r" b="b" t="t" l="l"/>
              <a:pathLst>
                <a:path h="520700" w="2819400">
                  <a:moveTo>
                    <a:pt x="572" y="0"/>
                  </a:moveTo>
                  <a:lnTo>
                    <a:pt x="2818828" y="0"/>
                  </a:lnTo>
                  <a:cubicBezTo>
                    <a:pt x="2819144" y="0"/>
                    <a:pt x="2819400" y="256"/>
                    <a:pt x="2819400" y="572"/>
                  </a:cubicBezTo>
                  <a:lnTo>
                    <a:pt x="2819400" y="520128"/>
                  </a:lnTo>
                  <a:cubicBezTo>
                    <a:pt x="2819400" y="520444"/>
                    <a:pt x="2819144" y="520700"/>
                    <a:pt x="2818828" y="520700"/>
                  </a:cubicBezTo>
                  <a:lnTo>
                    <a:pt x="572" y="520700"/>
                  </a:lnTo>
                  <a:cubicBezTo>
                    <a:pt x="256" y="520700"/>
                    <a:pt x="0" y="520444"/>
                    <a:pt x="0" y="520128"/>
                  </a:cubicBezTo>
                  <a:lnTo>
                    <a:pt x="0" y="572"/>
                  </a:lnTo>
                  <a:cubicBezTo>
                    <a:pt x="0" y="256"/>
                    <a:pt x="256" y="0"/>
                    <a:pt x="572" y="0"/>
                  </a:cubicBezTo>
                  <a:close/>
                </a:path>
              </a:pathLst>
            </a:custGeom>
            <a:solidFill>
              <a:srgbClr val="E9F9EF"/>
            </a:solidFill>
            <a:ln w="19050" cap="sq">
              <a:solidFill>
                <a:srgbClr val="3BAA6A"/>
              </a:solidFill>
              <a:prstDash val="solid"/>
              <a:miter/>
            </a:ln>
          </p:spPr>
        </p:sp>
        <p:sp>
          <p:nvSpPr>
            <p:cNvPr name="TextBox 76" id="76"/>
            <p:cNvSpPr txBox="true"/>
            <p:nvPr/>
          </p:nvSpPr>
          <p:spPr>
            <a:xfrm>
              <a:off x="0" y="-38100"/>
              <a:ext cx="2819400" cy="558800"/>
            </a:xfrm>
            <a:prstGeom prst="rect">
              <a:avLst/>
            </a:prstGeom>
          </p:spPr>
          <p:txBody>
            <a:bodyPr anchor="ctr" rtlCol="false" tIns="50800" lIns="50800" bIns="50800" rIns="50800"/>
            <a:lstStyle/>
            <a:p>
              <a:pPr algn="l">
                <a:lnSpc>
                  <a:spcPts val="1679"/>
                </a:lnSpc>
              </a:pPr>
            </a:p>
          </p:txBody>
        </p:sp>
      </p:grpSp>
      <p:sp>
        <p:nvSpPr>
          <p:cNvPr name="TextBox 77" id="77"/>
          <p:cNvSpPr txBox="true"/>
          <p:nvPr/>
        </p:nvSpPr>
        <p:spPr>
          <a:xfrm rot="0">
            <a:off x="7915275" y="1419225"/>
            <a:ext cx="18288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Delayed Decision</a:t>
            </a:r>
          </a:p>
        </p:txBody>
      </p:sp>
      <p:grpSp>
        <p:nvGrpSpPr>
          <p:cNvPr name="Group 78" id="78"/>
          <p:cNvGrpSpPr/>
          <p:nvPr/>
        </p:nvGrpSpPr>
        <p:grpSpPr>
          <a:xfrm rot="0">
            <a:off x="7772400" y="2343150"/>
            <a:ext cx="2114550" cy="390525"/>
            <a:chOff x="0" y="0"/>
            <a:chExt cx="2819400" cy="520700"/>
          </a:xfrm>
        </p:grpSpPr>
        <p:sp>
          <p:nvSpPr>
            <p:cNvPr name="Freeform 79" id="79"/>
            <p:cNvSpPr/>
            <p:nvPr/>
          </p:nvSpPr>
          <p:spPr>
            <a:xfrm flipH="false" flipV="false" rot="0">
              <a:off x="0" y="0"/>
              <a:ext cx="2819400" cy="520700"/>
            </a:xfrm>
            <a:custGeom>
              <a:avLst/>
              <a:gdLst/>
              <a:ahLst/>
              <a:cxnLst/>
              <a:rect r="r" b="b" t="t" l="l"/>
              <a:pathLst>
                <a:path h="520700" w="2819400">
                  <a:moveTo>
                    <a:pt x="572" y="0"/>
                  </a:moveTo>
                  <a:lnTo>
                    <a:pt x="2818828" y="0"/>
                  </a:lnTo>
                  <a:cubicBezTo>
                    <a:pt x="2819144" y="0"/>
                    <a:pt x="2819400" y="256"/>
                    <a:pt x="2819400" y="572"/>
                  </a:cubicBezTo>
                  <a:lnTo>
                    <a:pt x="2819400" y="520128"/>
                  </a:lnTo>
                  <a:cubicBezTo>
                    <a:pt x="2819400" y="520444"/>
                    <a:pt x="2819144" y="520700"/>
                    <a:pt x="2818828" y="520700"/>
                  </a:cubicBezTo>
                  <a:lnTo>
                    <a:pt x="572" y="520700"/>
                  </a:lnTo>
                  <a:cubicBezTo>
                    <a:pt x="256" y="520700"/>
                    <a:pt x="0" y="520444"/>
                    <a:pt x="0" y="520128"/>
                  </a:cubicBezTo>
                  <a:lnTo>
                    <a:pt x="0" y="572"/>
                  </a:lnTo>
                  <a:cubicBezTo>
                    <a:pt x="0" y="256"/>
                    <a:pt x="256" y="0"/>
                    <a:pt x="572" y="0"/>
                  </a:cubicBezTo>
                  <a:close/>
                </a:path>
              </a:pathLst>
            </a:custGeom>
            <a:solidFill>
              <a:srgbClr val="E9F9EF"/>
            </a:solidFill>
            <a:ln w="19050" cap="sq">
              <a:solidFill>
                <a:srgbClr val="3BAA6A"/>
              </a:solidFill>
              <a:prstDash val="solid"/>
              <a:miter/>
            </a:ln>
          </p:spPr>
        </p:sp>
        <p:sp>
          <p:nvSpPr>
            <p:cNvPr name="TextBox 80" id="80"/>
            <p:cNvSpPr txBox="true"/>
            <p:nvPr/>
          </p:nvSpPr>
          <p:spPr>
            <a:xfrm>
              <a:off x="0" y="-38100"/>
              <a:ext cx="2819400" cy="558800"/>
            </a:xfrm>
            <a:prstGeom prst="rect">
              <a:avLst/>
            </a:prstGeom>
          </p:spPr>
          <p:txBody>
            <a:bodyPr anchor="ctr" rtlCol="false" tIns="50800" lIns="50800" bIns="50800" rIns="50800"/>
            <a:lstStyle/>
            <a:p>
              <a:pPr algn="l">
                <a:lnSpc>
                  <a:spcPts val="1679"/>
                </a:lnSpc>
              </a:pPr>
            </a:p>
          </p:txBody>
        </p:sp>
      </p:grpSp>
      <p:sp>
        <p:nvSpPr>
          <p:cNvPr name="TextBox 81" id="81"/>
          <p:cNvSpPr txBox="true"/>
          <p:nvPr/>
        </p:nvSpPr>
        <p:spPr>
          <a:xfrm rot="0">
            <a:off x="7915275" y="2409825"/>
            <a:ext cx="18288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Manual Escalation</a:t>
            </a:r>
          </a:p>
        </p:txBody>
      </p:sp>
      <p:grpSp>
        <p:nvGrpSpPr>
          <p:cNvPr name="Group 82" id="82"/>
          <p:cNvGrpSpPr/>
          <p:nvPr/>
        </p:nvGrpSpPr>
        <p:grpSpPr>
          <a:xfrm rot="0">
            <a:off x="7772400" y="3429000"/>
            <a:ext cx="2114550" cy="390525"/>
            <a:chOff x="0" y="0"/>
            <a:chExt cx="2819400" cy="520700"/>
          </a:xfrm>
        </p:grpSpPr>
        <p:sp>
          <p:nvSpPr>
            <p:cNvPr name="Freeform 83" id="83"/>
            <p:cNvSpPr/>
            <p:nvPr/>
          </p:nvSpPr>
          <p:spPr>
            <a:xfrm flipH="false" flipV="false" rot="0">
              <a:off x="0" y="0"/>
              <a:ext cx="2819400" cy="520700"/>
            </a:xfrm>
            <a:custGeom>
              <a:avLst/>
              <a:gdLst/>
              <a:ahLst/>
              <a:cxnLst/>
              <a:rect r="r" b="b" t="t" l="l"/>
              <a:pathLst>
                <a:path h="520700" w="2819400">
                  <a:moveTo>
                    <a:pt x="572" y="0"/>
                  </a:moveTo>
                  <a:lnTo>
                    <a:pt x="2818828" y="0"/>
                  </a:lnTo>
                  <a:cubicBezTo>
                    <a:pt x="2819144" y="0"/>
                    <a:pt x="2819400" y="256"/>
                    <a:pt x="2819400" y="572"/>
                  </a:cubicBezTo>
                  <a:lnTo>
                    <a:pt x="2819400" y="520128"/>
                  </a:lnTo>
                  <a:cubicBezTo>
                    <a:pt x="2819400" y="520444"/>
                    <a:pt x="2819144" y="520700"/>
                    <a:pt x="2818828" y="520700"/>
                  </a:cubicBezTo>
                  <a:lnTo>
                    <a:pt x="572" y="520700"/>
                  </a:lnTo>
                  <a:cubicBezTo>
                    <a:pt x="256" y="520700"/>
                    <a:pt x="0" y="520444"/>
                    <a:pt x="0" y="520128"/>
                  </a:cubicBezTo>
                  <a:lnTo>
                    <a:pt x="0" y="572"/>
                  </a:lnTo>
                  <a:cubicBezTo>
                    <a:pt x="0" y="256"/>
                    <a:pt x="256" y="0"/>
                    <a:pt x="572" y="0"/>
                  </a:cubicBezTo>
                  <a:close/>
                </a:path>
              </a:pathLst>
            </a:custGeom>
            <a:solidFill>
              <a:srgbClr val="E9F9EF"/>
            </a:solidFill>
            <a:ln w="19050" cap="sq">
              <a:solidFill>
                <a:srgbClr val="3BAA6A"/>
              </a:solidFill>
              <a:prstDash val="solid"/>
              <a:miter/>
            </a:ln>
          </p:spPr>
        </p:sp>
        <p:sp>
          <p:nvSpPr>
            <p:cNvPr name="TextBox 84" id="84"/>
            <p:cNvSpPr txBox="true"/>
            <p:nvPr/>
          </p:nvSpPr>
          <p:spPr>
            <a:xfrm>
              <a:off x="0" y="-38100"/>
              <a:ext cx="2819400" cy="558800"/>
            </a:xfrm>
            <a:prstGeom prst="rect">
              <a:avLst/>
            </a:prstGeom>
          </p:spPr>
          <p:txBody>
            <a:bodyPr anchor="ctr" rtlCol="false" tIns="50800" lIns="50800" bIns="50800" rIns="50800"/>
            <a:lstStyle/>
            <a:p>
              <a:pPr algn="l">
                <a:lnSpc>
                  <a:spcPts val="1679"/>
                </a:lnSpc>
              </a:pPr>
            </a:p>
          </p:txBody>
        </p:sp>
      </p:grpSp>
      <p:sp>
        <p:nvSpPr>
          <p:cNvPr name="TextBox 85" id="85"/>
          <p:cNvSpPr txBox="true"/>
          <p:nvPr/>
        </p:nvSpPr>
        <p:spPr>
          <a:xfrm rot="0">
            <a:off x="7915275" y="3495675"/>
            <a:ext cx="1828800" cy="21717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Missed Opportunity</a:t>
            </a:r>
          </a:p>
        </p:txBody>
      </p:sp>
      <p:grpSp>
        <p:nvGrpSpPr>
          <p:cNvPr name="Group 86" id="86"/>
          <p:cNvGrpSpPr/>
          <p:nvPr/>
        </p:nvGrpSpPr>
        <p:grpSpPr>
          <a:xfrm rot="0">
            <a:off x="2914650" y="1419225"/>
            <a:ext cx="238125" cy="19050"/>
            <a:chOff x="0" y="0"/>
            <a:chExt cx="317500" cy="25400"/>
          </a:xfrm>
        </p:grpSpPr>
        <p:sp>
          <p:nvSpPr>
            <p:cNvPr name="Freeform 87" id="87"/>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4A90D9"/>
            </a:solidFill>
          </p:spPr>
        </p:sp>
        <p:sp>
          <p:nvSpPr>
            <p:cNvPr name="TextBox 88" id="88"/>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89" id="89"/>
          <p:cNvGrpSpPr/>
          <p:nvPr/>
        </p:nvGrpSpPr>
        <p:grpSpPr>
          <a:xfrm rot="0">
            <a:off x="2914650" y="1924050"/>
            <a:ext cx="238125" cy="19050"/>
            <a:chOff x="0" y="0"/>
            <a:chExt cx="317500" cy="25400"/>
          </a:xfrm>
        </p:grpSpPr>
        <p:sp>
          <p:nvSpPr>
            <p:cNvPr name="Freeform 90" id="90"/>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4A90D9"/>
            </a:solidFill>
          </p:spPr>
        </p:sp>
        <p:sp>
          <p:nvSpPr>
            <p:cNvPr name="TextBox 91" id="91"/>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92" id="92"/>
          <p:cNvGrpSpPr/>
          <p:nvPr/>
        </p:nvGrpSpPr>
        <p:grpSpPr>
          <a:xfrm rot="0">
            <a:off x="2914650" y="2428875"/>
            <a:ext cx="238125" cy="19050"/>
            <a:chOff x="0" y="0"/>
            <a:chExt cx="317500" cy="25400"/>
          </a:xfrm>
        </p:grpSpPr>
        <p:sp>
          <p:nvSpPr>
            <p:cNvPr name="Freeform 93" id="93"/>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4A90D9"/>
            </a:solidFill>
          </p:spPr>
        </p:sp>
        <p:sp>
          <p:nvSpPr>
            <p:cNvPr name="TextBox 94" id="94"/>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95" id="95"/>
          <p:cNvGrpSpPr/>
          <p:nvPr/>
        </p:nvGrpSpPr>
        <p:grpSpPr>
          <a:xfrm rot="0">
            <a:off x="2914650" y="2933700"/>
            <a:ext cx="238125" cy="19050"/>
            <a:chOff x="0" y="0"/>
            <a:chExt cx="317500" cy="25400"/>
          </a:xfrm>
        </p:grpSpPr>
        <p:sp>
          <p:nvSpPr>
            <p:cNvPr name="Freeform 96" id="96"/>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4A90D9"/>
            </a:solidFill>
          </p:spPr>
        </p:sp>
        <p:sp>
          <p:nvSpPr>
            <p:cNvPr name="TextBox 97" id="97"/>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98" id="98"/>
          <p:cNvGrpSpPr/>
          <p:nvPr/>
        </p:nvGrpSpPr>
        <p:grpSpPr>
          <a:xfrm rot="0">
            <a:off x="2914650" y="3438525"/>
            <a:ext cx="238125" cy="19050"/>
            <a:chOff x="0" y="0"/>
            <a:chExt cx="317500" cy="25400"/>
          </a:xfrm>
        </p:grpSpPr>
        <p:sp>
          <p:nvSpPr>
            <p:cNvPr name="Freeform 99" id="99"/>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4A90D9"/>
            </a:solidFill>
          </p:spPr>
        </p:sp>
        <p:sp>
          <p:nvSpPr>
            <p:cNvPr name="TextBox 100" id="100"/>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01" id="101"/>
          <p:cNvGrpSpPr/>
          <p:nvPr/>
        </p:nvGrpSpPr>
        <p:grpSpPr>
          <a:xfrm rot="0">
            <a:off x="2914650" y="3943350"/>
            <a:ext cx="238125" cy="19050"/>
            <a:chOff x="0" y="0"/>
            <a:chExt cx="317500" cy="25400"/>
          </a:xfrm>
        </p:grpSpPr>
        <p:sp>
          <p:nvSpPr>
            <p:cNvPr name="Freeform 102" id="102"/>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4A90D9"/>
            </a:solidFill>
          </p:spPr>
        </p:sp>
        <p:sp>
          <p:nvSpPr>
            <p:cNvPr name="TextBox 103" id="103"/>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04" id="104"/>
          <p:cNvGrpSpPr/>
          <p:nvPr/>
        </p:nvGrpSpPr>
        <p:grpSpPr>
          <a:xfrm rot="0">
            <a:off x="5781675" y="1419225"/>
            <a:ext cx="238125" cy="19050"/>
            <a:chOff x="0" y="0"/>
            <a:chExt cx="317500" cy="25400"/>
          </a:xfrm>
        </p:grpSpPr>
        <p:sp>
          <p:nvSpPr>
            <p:cNvPr name="Freeform 105" id="105"/>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E0A94C"/>
            </a:solidFill>
          </p:spPr>
        </p:sp>
        <p:sp>
          <p:nvSpPr>
            <p:cNvPr name="TextBox 106" id="106"/>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07" id="107"/>
          <p:cNvGrpSpPr/>
          <p:nvPr/>
        </p:nvGrpSpPr>
        <p:grpSpPr>
          <a:xfrm rot="0">
            <a:off x="5781675" y="1924050"/>
            <a:ext cx="238125" cy="19050"/>
            <a:chOff x="0" y="0"/>
            <a:chExt cx="317500" cy="25400"/>
          </a:xfrm>
        </p:grpSpPr>
        <p:sp>
          <p:nvSpPr>
            <p:cNvPr name="Freeform 108" id="108"/>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E0A94C"/>
            </a:solidFill>
          </p:spPr>
        </p:sp>
        <p:sp>
          <p:nvSpPr>
            <p:cNvPr name="TextBox 109" id="109"/>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10" id="110"/>
          <p:cNvGrpSpPr/>
          <p:nvPr/>
        </p:nvGrpSpPr>
        <p:grpSpPr>
          <a:xfrm rot="0">
            <a:off x="5781675" y="2428875"/>
            <a:ext cx="238125" cy="19050"/>
            <a:chOff x="0" y="0"/>
            <a:chExt cx="317500" cy="25400"/>
          </a:xfrm>
        </p:grpSpPr>
        <p:sp>
          <p:nvSpPr>
            <p:cNvPr name="Freeform 111" id="111"/>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E0A94C"/>
            </a:solidFill>
          </p:spPr>
        </p:sp>
        <p:sp>
          <p:nvSpPr>
            <p:cNvPr name="TextBox 112" id="112"/>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13" id="113"/>
          <p:cNvGrpSpPr/>
          <p:nvPr/>
        </p:nvGrpSpPr>
        <p:grpSpPr>
          <a:xfrm rot="0">
            <a:off x="5781675" y="2933700"/>
            <a:ext cx="238125" cy="19050"/>
            <a:chOff x="0" y="0"/>
            <a:chExt cx="317500" cy="25400"/>
          </a:xfrm>
        </p:grpSpPr>
        <p:sp>
          <p:nvSpPr>
            <p:cNvPr name="Freeform 114" id="114"/>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E0A94C"/>
            </a:solidFill>
          </p:spPr>
        </p:sp>
        <p:sp>
          <p:nvSpPr>
            <p:cNvPr name="TextBox 115" id="115"/>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16" id="116"/>
          <p:cNvGrpSpPr/>
          <p:nvPr/>
        </p:nvGrpSpPr>
        <p:grpSpPr>
          <a:xfrm rot="0">
            <a:off x="5781675" y="3438525"/>
            <a:ext cx="238125" cy="19050"/>
            <a:chOff x="0" y="0"/>
            <a:chExt cx="317500" cy="25400"/>
          </a:xfrm>
        </p:grpSpPr>
        <p:sp>
          <p:nvSpPr>
            <p:cNvPr name="Freeform 117" id="117"/>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E0A94C"/>
            </a:solidFill>
          </p:spPr>
        </p:sp>
        <p:sp>
          <p:nvSpPr>
            <p:cNvPr name="TextBox 118" id="118"/>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19" id="119"/>
          <p:cNvGrpSpPr/>
          <p:nvPr/>
        </p:nvGrpSpPr>
        <p:grpSpPr>
          <a:xfrm rot="0">
            <a:off x="5781675" y="3943350"/>
            <a:ext cx="238125" cy="19050"/>
            <a:chOff x="0" y="0"/>
            <a:chExt cx="317500" cy="25400"/>
          </a:xfrm>
        </p:grpSpPr>
        <p:sp>
          <p:nvSpPr>
            <p:cNvPr name="Freeform 120" id="120"/>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E0A94C"/>
            </a:solidFill>
          </p:spPr>
        </p:sp>
        <p:sp>
          <p:nvSpPr>
            <p:cNvPr name="TextBox 121" id="121"/>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22" id="122"/>
          <p:cNvGrpSpPr/>
          <p:nvPr/>
        </p:nvGrpSpPr>
        <p:grpSpPr>
          <a:xfrm rot="0">
            <a:off x="6010275" y="1428750"/>
            <a:ext cx="19050" cy="2533650"/>
            <a:chOff x="0" y="0"/>
            <a:chExt cx="25400" cy="3378200"/>
          </a:xfrm>
        </p:grpSpPr>
        <p:sp>
          <p:nvSpPr>
            <p:cNvPr name="Freeform 123" id="123"/>
            <p:cNvSpPr/>
            <p:nvPr/>
          </p:nvSpPr>
          <p:spPr>
            <a:xfrm flipH="false" flipV="false" rot="0">
              <a:off x="0" y="0"/>
              <a:ext cx="25400" cy="3378200"/>
            </a:xfrm>
            <a:custGeom>
              <a:avLst/>
              <a:gdLst/>
              <a:ahLst/>
              <a:cxnLst/>
              <a:rect r="r" b="b" t="t" l="l"/>
              <a:pathLst>
                <a:path h="3378200" w="25400">
                  <a:moveTo>
                    <a:pt x="0" y="0"/>
                  </a:moveTo>
                  <a:lnTo>
                    <a:pt x="25400" y="0"/>
                  </a:lnTo>
                  <a:lnTo>
                    <a:pt x="25400" y="3378200"/>
                  </a:lnTo>
                  <a:lnTo>
                    <a:pt x="0" y="3378200"/>
                  </a:lnTo>
                  <a:close/>
                </a:path>
              </a:pathLst>
            </a:custGeom>
            <a:solidFill>
              <a:srgbClr val="B9A0D6"/>
            </a:solidFill>
          </p:spPr>
        </p:sp>
        <p:sp>
          <p:nvSpPr>
            <p:cNvPr name="TextBox 124" id="124"/>
            <p:cNvSpPr txBox="true"/>
            <p:nvPr/>
          </p:nvSpPr>
          <p:spPr>
            <a:xfrm>
              <a:off x="0" y="-38100"/>
              <a:ext cx="25400" cy="3416300"/>
            </a:xfrm>
            <a:prstGeom prst="rect">
              <a:avLst/>
            </a:prstGeom>
          </p:spPr>
          <p:txBody>
            <a:bodyPr anchor="ctr" rtlCol="false" tIns="50800" lIns="50800" bIns="50800" rIns="50800"/>
            <a:lstStyle/>
            <a:p>
              <a:pPr algn="l">
                <a:lnSpc>
                  <a:spcPts val="1679"/>
                </a:lnSpc>
              </a:pPr>
            </a:p>
          </p:txBody>
        </p:sp>
      </p:grpSp>
      <p:grpSp>
        <p:nvGrpSpPr>
          <p:cNvPr name="Group 125" id="125"/>
          <p:cNvGrpSpPr/>
          <p:nvPr/>
        </p:nvGrpSpPr>
        <p:grpSpPr>
          <a:xfrm rot="0">
            <a:off x="6019800" y="2686050"/>
            <a:ext cx="247650" cy="19050"/>
            <a:chOff x="0" y="0"/>
            <a:chExt cx="330200" cy="25400"/>
          </a:xfrm>
        </p:grpSpPr>
        <p:sp>
          <p:nvSpPr>
            <p:cNvPr name="Freeform 126" id="126"/>
            <p:cNvSpPr/>
            <p:nvPr/>
          </p:nvSpPr>
          <p:spPr>
            <a:xfrm flipH="false" flipV="false" rot="0">
              <a:off x="0" y="0"/>
              <a:ext cx="330200" cy="25400"/>
            </a:xfrm>
            <a:custGeom>
              <a:avLst/>
              <a:gdLst/>
              <a:ahLst/>
              <a:cxnLst/>
              <a:rect r="r" b="b" t="t" l="l"/>
              <a:pathLst>
                <a:path h="25400" w="330200">
                  <a:moveTo>
                    <a:pt x="0" y="0"/>
                  </a:moveTo>
                  <a:lnTo>
                    <a:pt x="330200" y="0"/>
                  </a:lnTo>
                  <a:lnTo>
                    <a:pt x="330200" y="25400"/>
                  </a:lnTo>
                  <a:lnTo>
                    <a:pt x="0" y="25400"/>
                  </a:lnTo>
                  <a:close/>
                </a:path>
              </a:pathLst>
            </a:custGeom>
            <a:solidFill>
              <a:srgbClr val="B9A0D6"/>
            </a:solidFill>
          </p:spPr>
        </p:sp>
        <p:sp>
          <p:nvSpPr>
            <p:cNvPr name="TextBox 127" id="127"/>
            <p:cNvSpPr txBox="true"/>
            <p:nvPr/>
          </p:nvSpPr>
          <p:spPr>
            <a:xfrm>
              <a:off x="0" y="-38100"/>
              <a:ext cx="330200" cy="63500"/>
            </a:xfrm>
            <a:prstGeom prst="rect">
              <a:avLst/>
            </a:prstGeom>
          </p:spPr>
          <p:txBody>
            <a:bodyPr anchor="ctr" rtlCol="false" tIns="50800" lIns="50800" bIns="50800" rIns="50800"/>
            <a:lstStyle/>
            <a:p>
              <a:pPr algn="l">
                <a:lnSpc>
                  <a:spcPts val="1679"/>
                </a:lnSpc>
              </a:pPr>
            </a:p>
          </p:txBody>
        </p:sp>
      </p:grpSp>
      <p:grpSp>
        <p:nvGrpSpPr>
          <p:cNvPr name="Group 128" id="128"/>
          <p:cNvGrpSpPr/>
          <p:nvPr/>
        </p:nvGrpSpPr>
        <p:grpSpPr>
          <a:xfrm rot="0">
            <a:off x="7296150" y="2686050"/>
            <a:ext cx="238125" cy="19050"/>
            <a:chOff x="0" y="0"/>
            <a:chExt cx="317500" cy="25400"/>
          </a:xfrm>
        </p:grpSpPr>
        <p:sp>
          <p:nvSpPr>
            <p:cNvPr name="Freeform 129" id="129"/>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B9A0D6"/>
            </a:solidFill>
          </p:spPr>
        </p:sp>
        <p:sp>
          <p:nvSpPr>
            <p:cNvPr name="TextBox 130" id="130"/>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31" id="131"/>
          <p:cNvGrpSpPr/>
          <p:nvPr/>
        </p:nvGrpSpPr>
        <p:grpSpPr>
          <a:xfrm rot="0">
            <a:off x="7524750" y="1543050"/>
            <a:ext cx="19050" cy="2085975"/>
            <a:chOff x="0" y="0"/>
            <a:chExt cx="25400" cy="2781300"/>
          </a:xfrm>
        </p:grpSpPr>
        <p:sp>
          <p:nvSpPr>
            <p:cNvPr name="Freeform 132" id="132"/>
            <p:cNvSpPr/>
            <p:nvPr/>
          </p:nvSpPr>
          <p:spPr>
            <a:xfrm flipH="false" flipV="false" rot="0">
              <a:off x="0" y="0"/>
              <a:ext cx="25400" cy="2781300"/>
            </a:xfrm>
            <a:custGeom>
              <a:avLst/>
              <a:gdLst/>
              <a:ahLst/>
              <a:cxnLst/>
              <a:rect r="r" b="b" t="t" l="l"/>
              <a:pathLst>
                <a:path h="2781300" w="25400">
                  <a:moveTo>
                    <a:pt x="0" y="0"/>
                  </a:moveTo>
                  <a:lnTo>
                    <a:pt x="25400" y="0"/>
                  </a:lnTo>
                  <a:lnTo>
                    <a:pt x="25400" y="2781300"/>
                  </a:lnTo>
                  <a:lnTo>
                    <a:pt x="0" y="2781300"/>
                  </a:lnTo>
                  <a:close/>
                </a:path>
              </a:pathLst>
            </a:custGeom>
            <a:solidFill>
              <a:srgbClr val="B9A0D6"/>
            </a:solidFill>
          </p:spPr>
        </p:sp>
        <p:sp>
          <p:nvSpPr>
            <p:cNvPr name="TextBox 133" id="133"/>
            <p:cNvSpPr txBox="true"/>
            <p:nvPr/>
          </p:nvSpPr>
          <p:spPr>
            <a:xfrm>
              <a:off x="0" y="-38100"/>
              <a:ext cx="25400" cy="2819400"/>
            </a:xfrm>
            <a:prstGeom prst="rect">
              <a:avLst/>
            </a:prstGeom>
          </p:spPr>
          <p:txBody>
            <a:bodyPr anchor="ctr" rtlCol="false" tIns="50800" lIns="50800" bIns="50800" rIns="50800"/>
            <a:lstStyle/>
            <a:p>
              <a:pPr algn="l">
                <a:lnSpc>
                  <a:spcPts val="1679"/>
                </a:lnSpc>
              </a:pPr>
            </a:p>
          </p:txBody>
        </p:sp>
      </p:grpSp>
      <p:grpSp>
        <p:nvGrpSpPr>
          <p:cNvPr name="Group 134" id="134"/>
          <p:cNvGrpSpPr/>
          <p:nvPr/>
        </p:nvGrpSpPr>
        <p:grpSpPr>
          <a:xfrm rot="0">
            <a:off x="7534275" y="1533525"/>
            <a:ext cx="238125" cy="19050"/>
            <a:chOff x="0" y="0"/>
            <a:chExt cx="317500" cy="25400"/>
          </a:xfrm>
        </p:grpSpPr>
        <p:sp>
          <p:nvSpPr>
            <p:cNvPr name="Freeform 135" id="135"/>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B9A0D6"/>
            </a:solidFill>
          </p:spPr>
        </p:sp>
        <p:sp>
          <p:nvSpPr>
            <p:cNvPr name="TextBox 136" id="136"/>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37" id="137"/>
          <p:cNvGrpSpPr/>
          <p:nvPr/>
        </p:nvGrpSpPr>
        <p:grpSpPr>
          <a:xfrm rot="0">
            <a:off x="7534275" y="2524125"/>
            <a:ext cx="238125" cy="19050"/>
            <a:chOff x="0" y="0"/>
            <a:chExt cx="317500" cy="25400"/>
          </a:xfrm>
        </p:grpSpPr>
        <p:sp>
          <p:nvSpPr>
            <p:cNvPr name="Freeform 138" id="138"/>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B9A0D6"/>
            </a:solidFill>
          </p:spPr>
        </p:sp>
        <p:sp>
          <p:nvSpPr>
            <p:cNvPr name="TextBox 139" id="139"/>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grpSp>
        <p:nvGrpSpPr>
          <p:cNvPr name="Group 140" id="140"/>
          <p:cNvGrpSpPr/>
          <p:nvPr/>
        </p:nvGrpSpPr>
        <p:grpSpPr>
          <a:xfrm rot="0">
            <a:off x="7534275" y="3609975"/>
            <a:ext cx="238125" cy="19050"/>
            <a:chOff x="0" y="0"/>
            <a:chExt cx="317500" cy="25400"/>
          </a:xfrm>
        </p:grpSpPr>
        <p:sp>
          <p:nvSpPr>
            <p:cNvPr name="Freeform 141" id="141"/>
            <p:cNvSpPr/>
            <p:nvPr/>
          </p:nvSpPr>
          <p:spPr>
            <a:xfrm flipH="false" flipV="false" rot="0">
              <a:off x="0" y="0"/>
              <a:ext cx="317500" cy="25400"/>
            </a:xfrm>
            <a:custGeom>
              <a:avLst/>
              <a:gdLst/>
              <a:ahLst/>
              <a:cxnLst/>
              <a:rect r="r" b="b" t="t" l="l"/>
              <a:pathLst>
                <a:path h="25400" w="317500">
                  <a:moveTo>
                    <a:pt x="0" y="0"/>
                  </a:moveTo>
                  <a:lnTo>
                    <a:pt x="317500" y="0"/>
                  </a:lnTo>
                  <a:lnTo>
                    <a:pt x="317500" y="25400"/>
                  </a:lnTo>
                  <a:lnTo>
                    <a:pt x="0" y="25400"/>
                  </a:lnTo>
                  <a:close/>
                </a:path>
              </a:pathLst>
            </a:custGeom>
            <a:solidFill>
              <a:srgbClr val="B9A0D6"/>
            </a:solidFill>
          </p:spPr>
        </p:sp>
        <p:sp>
          <p:nvSpPr>
            <p:cNvPr name="TextBox 142" id="142"/>
            <p:cNvSpPr txBox="true"/>
            <p:nvPr/>
          </p:nvSpPr>
          <p:spPr>
            <a:xfrm>
              <a:off x="0" y="-38100"/>
              <a:ext cx="317500" cy="63500"/>
            </a:xfrm>
            <a:prstGeom prst="rect">
              <a:avLst/>
            </a:prstGeom>
          </p:spPr>
          <p:txBody>
            <a:bodyPr anchor="ctr" rtlCol="false" tIns="50800" lIns="50800" bIns="50800" rIns="50800"/>
            <a:lstStyle/>
            <a:p>
              <a:pPr algn="l">
                <a:lnSpc>
                  <a:spcPts val="1679"/>
                </a:lnSpc>
              </a:pPr>
            </a:p>
          </p:txBody>
        </p:sp>
      </p:grpSp>
      <p:sp>
        <p:nvSpPr>
          <p:cNvPr name="TextBox 143" id="143"/>
          <p:cNvSpPr txBox="true"/>
          <p:nvPr/>
        </p:nvSpPr>
        <p:spPr>
          <a:xfrm rot="0">
            <a:off x="381000" y="4324350"/>
            <a:ext cx="9239250" cy="7004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Modern organizations generate large amounts of information across sales, finance, marketing, operations, customer support, and supply chain systems. However, when an important KPI changes, decision makers are still dependent on analysts to manually connect information across these sources before they can understand what happened.</a:t>
            </a:r>
          </a:p>
        </p:txBody>
      </p:sp>
      <p:sp>
        <p:nvSpPr>
          <p:cNvPr name="TextBox 144" id="144"/>
          <p:cNvSpPr txBox="true"/>
          <p:nvPr/>
        </p:nvSpPr>
        <p:spPr>
          <a:xfrm rot="0">
            <a:off x="381000" y="5091430"/>
            <a:ext cx="9239250" cy="4718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A dashboard may show that revenue declined by 8%, but it rarely explains the underlying reasons or recommends the most appropriate response.</a:t>
            </a:r>
          </a:p>
        </p:txBody>
      </p:sp>
      <p:sp>
        <p:nvSpPr>
          <p:cNvPr name="TextBox 145" id="145"/>
          <p:cNvSpPr txBox="true"/>
          <p:nvPr/>
        </p:nvSpPr>
        <p:spPr>
          <a:xfrm rot="0">
            <a:off x="381000" y="6410325"/>
            <a:ext cx="89535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Numbers Without Context:</a:t>
            </a:r>
          </a:p>
        </p:txBody>
      </p:sp>
      <p:sp>
        <p:nvSpPr>
          <p:cNvPr name="TextBox 146" id="146"/>
          <p:cNvSpPr txBox="true"/>
          <p:nvPr/>
        </p:nvSpPr>
        <p:spPr>
          <a:xfrm rot="0">
            <a:off x="381000" y="6619875"/>
            <a:ext cx="8953500" cy="4718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Dashboards show the movement of a metric but rarely connect it with the operational or customer events occurring around it.</a:t>
            </a:r>
          </a:p>
        </p:txBody>
      </p:sp>
      <p:sp>
        <p:nvSpPr>
          <p:cNvPr name="TextBox 147" id="147"/>
          <p:cNvSpPr txBox="true"/>
          <p:nvPr/>
        </p:nvSpPr>
        <p:spPr>
          <a:xfrm rot="0">
            <a:off x="381000" y="7091680"/>
            <a:ext cx="89535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Information Across Silos:</a:t>
            </a:r>
          </a:p>
        </p:txBody>
      </p:sp>
      <p:sp>
        <p:nvSpPr>
          <p:cNvPr name="TextBox 148" id="148"/>
          <p:cNvSpPr txBox="true"/>
          <p:nvPr/>
        </p:nvSpPr>
        <p:spPr>
          <a:xfrm rot="0">
            <a:off x="381000" y="7334885"/>
            <a:ext cx="8953500" cy="4718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The evidence required to explain a KPI is distributed across financial records, customer feedback, operational reports, and market information.</a:t>
            </a:r>
          </a:p>
        </p:txBody>
      </p:sp>
      <p:sp>
        <p:nvSpPr>
          <p:cNvPr name="TextBox 149" id="149"/>
          <p:cNvSpPr txBox="true"/>
          <p:nvPr/>
        </p:nvSpPr>
        <p:spPr>
          <a:xfrm rot="0">
            <a:off x="381000" y="7806055"/>
            <a:ext cx="89535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Manual Root-Cause Investigation:</a:t>
            </a:r>
          </a:p>
        </p:txBody>
      </p:sp>
      <p:sp>
        <p:nvSpPr>
          <p:cNvPr name="TextBox 150" id="150"/>
          <p:cNvSpPr txBox="true"/>
          <p:nvPr/>
        </p:nvSpPr>
        <p:spPr>
          <a:xfrm rot="0">
            <a:off x="381000" y="8048625"/>
            <a:ext cx="8953500" cy="2432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Analysts must compare multiple sources and investigate several possible explanations before reaching a conclusion.</a:t>
            </a:r>
          </a:p>
        </p:txBody>
      </p:sp>
      <p:sp>
        <p:nvSpPr>
          <p:cNvPr name="TextBox 151" id="151"/>
          <p:cNvSpPr txBox="true"/>
          <p:nvPr/>
        </p:nvSpPr>
        <p:spPr>
          <a:xfrm rot="0">
            <a:off x="381000" y="8317865"/>
            <a:ext cx="89535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No Clear Path From Insight to Action:</a:t>
            </a:r>
          </a:p>
        </p:txBody>
      </p:sp>
      <p:sp>
        <p:nvSpPr>
          <p:cNvPr name="TextBox 152" id="152"/>
          <p:cNvSpPr txBox="true"/>
          <p:nvPr/>
        </p:nvSpPr>
        <p:spPr>
          <a:xfrm rot="0">
            <a:off x="381000" y="8587105"/>
            <a:ext cx="8953500" cy="2432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Even after identifying a likely cause, the final recommendation still depends on human interpretation and discussion.</a:t>
            </a:r>
          </a:p>
        </p:txBody>
      </p:sp>
      <p:grpSp>
        <p:nvGrpSpPr>
          <p:cNvPr name="Group 153" id="153"/>
          <p:cNvGrpSpPr/>
          <p:nvPr/>
        </p:nvGrpSpPr>
        <p:grpSpPr>
          <a:xfrm rot="0">
            <a:off x="11144250" y="381000"/>
            <a:ext cx="1257300" cy="1257300"/>
            <a:chOff x="0" y="0"/>
            <a:chExt cx="1676400" cy="1676400"/>
          </a:xfrm>
        </p:grpSpPr>
        <p:sp>
          <p:nvSpPr>
            <p:cNvPr name="Freeform 154" id="154"/>
            <p:cNvSpPr/>
            <p:nvPr/>
          </p:nvSpPr>
          <p:spPr>
            <a:xfrm flipH="false" flipV="false" rot="0">
              <a:off x="0" y="0"/>
              <a:ext cx="1676400" cy="1676400"/>
            </a:xfrm>
            <a:custGeom>
              <a:avLst/>
              <a:gdLst/>
              <a:ahLst/>
              <a:cxnLst/>
              <a:rect r="r" b="b" t="t" l="l"/>
              <a:pathLst>
                <a:path h="1676400" w="1676400">
                  <a:moveTo>
                    <a:pt x="63500" y="0"/>
                  </a:moveTo>
                  <a:lnTo>
                    <a:pt x="1612900" y="0"/>
                  </a:lnTo>
                  <a:cubicBezTo>
                    <a:pt x="1647970" y="0"/>
                    <a:pt x="1676400" y="28430"/>
                    <a:pt x="1676400" y="63500"/>
                  </a:cubicBezTo>
                  <a:lnTo>
                    <a:pt x="1676400" y="1612900"/>
                  </a:lnTo>
                  <a:cubicBezTo>
                    <a:pt x="1676400" y="1647970"/>
                    <a:pt x="1647970" y="1676400"/>
                    <a:pt x="1612900" y="1676400"/>
                  </a:cubicBezTo>
                  <a:lnTo>
                    <a:pt x="63500" y="1676400"/>
                  </a:lnTo>
                  <a:cubicBezTo>
                    <a:pt x="28430" y="1676400"/>
                    <a:pt x="0" y="1647970"/>
                    <a:pt x="0" y="1612900"/>
                  </a:cubicBezTo>
                  <a:lnTo>
                    <a:pt x="0" y="63500"/>
                  </a:lnTo>
                  <a:cubicBezTo>
                    <a:pt x="0" y="28430"/>
                    <a:pt x="28430" y="0"/>
                    <a:pt x="63500" y="0"/>
                  </a:cubicBezTo>
                  <a:close/>
                </a:path>
              </a:pathLst>
            </a:custGeom>
            <a:solidFill>
              <a:srgbClr val="5B0E96"/>
            </a:solidFill>
          </p:spPr>
        </p:sp>
        <p:sp>
          <p:nvSpPr>
            <p:cNvPr name="TextBox 155" id="155"/>
            <p:cNvSpPr txBox="true"/>
            <p:nvPr/>
          </p:nvSpPr>
          <p:spPr>
            <a:xfrm>
              <a:off x="0" y="-38100"/>
              <a:ext cx="1676400" cy="1714500"/>
            </a:xfrm>
            <a:prstGeom prst="rect">
              <a:avLst/>
            </a:prstGeom>
          </p:spPr>
          <p:txBody>
            <a:bodyPr anchor="ctr" rtlCol="false" tIns="50800" lIns="50800" bIns="50800" rIns="50800"/>
            <a:lstStyle/>
            <a:p>
              <a:pPr algn="l">
                <a:lnSpc>
                  <a:spcPts val="1679"/>
                </a:lnSpc>
              </a:pPr>
            </a:p>
          </p:txBody>
        </p:sp>
      </p:grpSp>
      <p:sp>
        <p:nvSpPr>
          <p:cNvPr name="TextBox 156" id="156"/>
          <p:cNvSpPr txBox="true"/>
          <p:nvPr/>
        </p:nvSpPr>
        <p:spPr>
          <a:xfrm rot="0">
            <a:off x="11239500" y="828675"/>
            <a:ext cx="1066800" cy="471170"/>
          </a:xfrm>
          <a:prstGeom prst="rect">
            <a:avLst/>
          </a:prstGeom>
        </p:spPr>
        <p:txBody>
          <a:bodyPr anchor="t" rtlCol="false" tIns="0" lIns="0" bIns="0" rIns="0">
            <a:spAutoFit/>
          </a:bodyPr>
          <a:lstStyle/>
          <a:p>
            <a:pPr algn="ctr">
              <a:lnSpc>
                <a:spcPts val="1854"/>
              </a:lnSpc>
            </a:pPr>
            <a:r>
              <a:rPr lang="en-US" sz="1324" b="true">
                <a:solidFill>
                  <a:srgbClr val="FFFFFF"/>
                </a:solidFill>
                <a:latin typeface="Arimo Bold"/>
                <a:ea typeface="Arimo Bold"/>
                <a:cs typeface="Arimo Bold"/>
                <a:sym typeface="Arimo Bold"/>
              </a:rPr>
              <a:t>WHAT CHANGED</a:t>
            </a:r>
          </a:p>
        </p:txBody>
      </p:sp>
      <p:sp>
        <p:nvSpPr>
          <p:cNvPr name="TextBox 157" id="157"/>
          <p:cNvSpPr txBox="true"/>
          <p:nvPr/>
        </p:nvSpPr>
        <p:spPr>
          <a:xfrm rot="0">
            <a:off x="10820400" y="1685925"/>
            <a:ext cx="1905000" cy="4718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A dashboard flags that a metric moved.</a:t>
            </a:r>
          </a:p>
        </p:txBody>
      </p:sp>
      <p:grpSp>
        <p:nvGrpSpPr>
          <p:cNvPr name="Group 158" id="158"/>
          <p:cNvGrpSpPr/>
          <p:nvPr/>
        </p:nvGrpSpPr>
        <p:grpSpPr>
          <a:xfrm rot="0">
            <a:off x="13373100" y="381000"/>
            <a:ext cx="1257300" cy="1257300"/>
            <a:chOff x="0" y="0"/>
            <a:chExt cx="1676400" cy="1676400"/>
          </a:xfrm>
        </p:grpSpPr>
        <p:sp>
          <p:nvSpPr>
            <p:cNvPr name="Freeform 159" id="159"/>
            <p:cNvSpPr/>
            <p:nvPr/>
          </p:nvSpPr>
          <p:spPr>
            <a:xfrm flipH="false" flipV="false" rot="0">
              <a:off x="0" y="0"/>
              <a:ext cx="1676400" cy="1676400"/>
            </a:xfrm>
            <a:custGeom>
              <a:avLst/>
              <a:gdLst/>
              <a:ahLst/>
              <a:cxnLst/>
              <a:rect r="r" b="b" t="t" l="l"/>
              <a:pathLst>
                <a:path h="1676400" w="1676400">
                  <a:moveTo>
                    <a:pt x="63500" y="0"/>
                  </a:moveTo>
                  <a:lnTo>
                    <a:pt x="1612900" y="0"/>
                  </a:lnTo>
                  <a:cubicBezTo>
                    <a:pt x="1647970" y="0"/>
                    <a:pt x="1676400" y="28430"/>
                    <a:pt x="1676400" y="63500"/>
                  </a:cubicBezTo>
                  <a:lnTo>
                    <a:pt x="1676400" y="1612900"/>
                  </a:lnTo>
                  <a:cubicBezTo>
                    <a:pt x="1676400" y="1647970"/>
                    <a:pt x="1647970" y="1676400"/>
                    <a:pt x="1612900" y="1676400"/>
                  </a:cubicBezTo>
                  <a:lnTo>
                    <a:pt x="63500" y="1676400"/>
                  </a:lnTo>
                  <a:cubicBezTo>
                    <a:pt x="28430" y="1676400"/>
                    <a:pt x="0" y="1647970"/>
                    <a:pt x="0" y="1612900"/>
                  </a:cubicBezTo>
                  <a:lnTo>
                    <a:pt x="0" y="63500"/>
                  </a:lnTo>
                  <a:cubicBezTo>
                    <a:pt x="0" y="28430"/>
                    <a:pt x="28430" y="0"/>
                    <a:pt x="63500" y="0"/>
                  </a:cubicBezTo>
                  <a:close/>
                </a:path>
              </a:pathLst>
            </a:custGeom>
            <a:solidFill>
              <a:srgbClr val="5B0E96"/>
            </a:solidFill>
          </p:spPr>
        </p:sp>
        <p:sp>
          <p:nvSpPr>
            <p:cNvPr name="TextBox 160" id="160"/>
            <p:cNvSpPr txBox="true"/>
            <p:nvPr/>
          </p:nvSpPr>
          <p:spPr>
            <a:xfrm>
              <a:off x="0" y="-38100"/>
              <a:ext cx="1676400" cy="1714500"/>
            </a:xfrm>
            <a:prstGeom prst="rect">
              <a:avLst/>
            </a:prstGeom>
          </p:spPr>
          <p:txBody>
            <a:bodyPr anchor="ctr" rtlCol="false" tIns="50800" lIns="50800" bIns="50800" rIns="50800"/>
            <a:lstStyle/>
            <a:p>
              <a:pPr algn="l">
                <a:lnSpc>
                  <a:spcPts val="1679"/>
                </a:lnSpc>
              </a:pPr>
            </a:p>
          </p:txBody>
        </p:sp>
      </p:grpSp>
      <p:sp>
        <p:nvSpPr>
          <p:cNvPr name="TextBox 161" id="161"/>
          <p:cNvSpPr txBox="true"/>
          <p:nvPr/>
        </p:nvSpPr>
        <p:spPr>
          <a:xfrm rot="0">
            <a:off x="13468350" y="828675"/>
            <a:ext cx="1066800" cy="242570"/>
          </a:xfrm>
          <a:prstGeom prst="rect">
            <a:avLst/>
          </a:prstGeom>
        </p:spPr>
        <p:txBody>
          <a:bodyPr anchor="t" rtlCol="false" tIns="0" lIns="0" bIns="0" rIns="0">
            <a:spAutoFit/>
          </a:bodyPr>
          <a:lstStyle/>
          <a:p>
            <a:pPr algn="ctr">
              <a:lnSpc>
                <a:spcPts val="1854"/>
              </a:lnSpc>
            </a:pPr>
            <a:r>
              <a:rPr lang="en-US" sz="1324" b="true">
                <a:solidFill>
                  <a:srgbClr val="FFFFFF"/>
                </a:solidFill>
                <a:latin typeface="Arimo Bold"/>
                <a:ea typeface="Arimo Bold"/>
                <a:cs typeface="Arimo Bold"/>
                <a:sym typeface="Arimo Bold"/>
              </a:rPr>
              <a:t>WHY</a:t>
            </a:r>
          </a:p>
        </p:txBody>
      </p:sp>
      <p:sp>
        <p:nvSpPr>
          <p:cNvPr name="TextBox 162" id="162"/>
          <p:cNvSpPr txBox="true"/>
          <p:nvPr/>
        </p:nvSpPr>
        <p:spPr>
          <a:xfrm rot="0">
            <a:off x="13049250" y="1685925"/>
            <a:ext cx="1905000" cy="7004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StoryLens AI investigates the evidence behind the movement.</a:t>
            </a:r>
          </a:p>
        </p:txBody>
      </p:sp>
      <p:grpSp>
        <p:nvGrpSpPr>
          <p:cNvPr name="Group 163" id="163"/>
          <p:cNvGrpSpPr/>
          <p:nvPr/>
        </p:nvGrpSpPr>
        <p:grpSpPr>
          <a:xfrm rot="0">
            <a:off x="15601950" y="381000"/>
            <a:ext cx="1257300" cy="1257300"/>
            <a:chOff x="0" y="0"/>
            <a:chExt cx="1676400" cy="1676400"/>
          </a:xfrm>
        </p:grpSpPr>
        <p:sp>
          <p:nvSpPr>
            <p:cNvPr name="Freeform 164" id="164"/>
            <p:cNvSpPr/>
            <p:nvPr/>
          </p:nvSpPr>
          <p:spPr>
            <a:xfrm flipH="false" flipV="false" rot="0">
              <a:off x="0" y="0"/>
              <a:ext cx="1676400" cy="1676400"/>
            </a:xfrm>
            <a:custGeom>
              <a:avLst/>
              <a:gdLst/>
              <a:ahLst/>
              <a:cxnLst/>
              <a:rect r="r" b="b" t="t" l="l"/>
              <a:pathLst>
                <a:path h="1676400" w="1676400">
                  <a:moveTo>
                    <a:pt x="63500" y="0"/>
                  </a:moveTo>
                  <a:lnTo>
                    <a:pt x="1612900" y="0"/>
                  </a:lnTo>
                  <a:cubicBezTo>
                    <a:pt x="1647970" y="0"/>
                    <a:pt x="1676400" y="28430"/>
                    <a:pt x="1676400" y="63500"/>
                  </a:cubicBezTo>
                  <a:lnTo>
                    <a:pt x="1676400" y="1612900"/>
                  </a:lnTo>
                  <a:cubicBezTo>
                    <a:pt x="1676400" y="1647970"/>
                    <a:pt x="1647970" y="1676400"/>
                    <a:pt x="1612900" y="1676400"/>
                  </a:cubicBezTo>
                  <a:lnTo>
                    <a:pt x="63500" y="1676400"/>
                  </a:lnTo>
                  <a:cubicBezTo>
                    <a:pt x="28430" y="1676400"/>
                    <a:pt x="0" y="1647970"/>
                    <a:pt x="0" y="1612900"/>
                  </a:cubicBezTo>
                  <a:lnTo>
                    <a:pt x="0" y="63500"/>
                  </a:lnTo>
                  <a:cubicBezTo>
                    <a:pt x="0" y="28430"/>
                    <a:pt x="28430" y="0"/>
                    <a:pt x="63500" y="0"/>
                  </a:cubicBezTo>
                  <a:close/>
                </a:path>
              </a:pathLst>
            </a:custGeom>
            <a:solidFill>
              <a:srgbClr val="5B0E96"/>
            </a:solidFill>
          </p:spPr>
        </p:sp>
        <p:sp>
          <p:nvSpPr>
            <p:cNvPr name="TextBox 165" id="165"/>
            <p:cNvSpPr txBox="true"/>
            <p:nvPr/>
          </p:nvSpPr>
          <p:spPr>
            <a:xfrm>
              <a:off x="0" y="-38100"/>
              <a:ext cx="1676400" cy="1714500"/>
            </a:xfrm>
            <a:prstGeom prst="rect">
              <a:avLst/>
            </a:prstGeom>
          </p:spPr>
          <p:txBody>
            <a:bodyPr anchor="ctr" rtlCol="false" tIns="50800" lIns="50800" bIns="50800" rIns="50800"/>
            <a:lstStyle/>
            <a:p>
              <a:pPr algn="l">
                <a:lnSpc>
                  <a:spcPts val="1679"/>
                </a:lnSpc>
              </a:pPr>
            </a:p>
          </p:txBody>
        </p:sp>
      </p:grpSp>
      <p:sp>
        <p:nvSpPr>
          <p:cNvPr name="TextBox 166" id="166"/>
          <p:cNvSpPr txBox="true"/>
          <p:nvPr/>
        </p:nvSpPr>
        <p:spPr>
          <a:xfrm rot="0">
            <a:off x="15697200" y="828675"/>
            <a:ext cx="1066800" cy="242570"/>
          </a:xfrm>
          <a:prstGeom prst="rect">
            <a:avLst/>
          </a:prstGeom>
        </p:spPr>
        <p:txBody>
          <a:bodyPr anchor="t" rtlCol="false" tIns="0" lIns="0" bIns="0" rIns="0">
            <a:spAutoFit/>
          </a:bodyPr>
          <a:lstStyle/>
          <a:p>
            <a:pPr algn="ctr">
              <a:lnSpc>
                <a:spcPts val="1854"/>
              </a:lnSpc>
            </a:pPr>
            <a:r>
              <a:rPr lang="en-US" sz="1324" b="true">
                <a:solidFill>
                  <a:srgbClr val="FFFFFF"/>
                </a:solidFill>
                <a:latin typeface="Arimo Bold"/>
                <a:ea typeface="Arimo Bold"/>
                <a:cs typeface="Arimo Bold"/>
                <a:sym typeface="Arimo Bold"/>
              </a:rPr>
              <a:t>WHAT NEXT</a:t>
            </a:r>
          </a:p>
        </p:txBody>
      </p:sp>
      <p:sp>
        <p:nvSpPr>
          <p:cNvPr name="TextBox 167" id="167"/>
          <p:cNvSpPr txBox="true"/>
          <p:nvPr/>
        </p:nvSpPr>
        <p:spPr>
          <a:xfrm rot="0">
            <a:off x="15278100" y="1685925"/>
            <a:ext cx="1905000" cy="7004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A recommended, evidence-based action is proposed.</a:t>
            </a:r>
          </a:p>
        </p:txBody>
      </p:sp>
      <p:sp>
        <p:nvSpPr>
          <p:cNvPr name="TextBox 168" id="168"/>
          <p:cNvSpPr txBox="true"/>
          <p:nvPr/>
        </p:nvSpPr>
        <p:spPr>
          <a:xfrm rot="0">
            <a:off x="10629900" y="2981325"/>
            <a:ext cx="72009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Traditional BI: Reports What Happened</a:t>
            </a:r>
          </a:p>
        </p:txBody>
      </p:sp>
      <p:sp>
        <p:nvSpPr>
          <p:cNvPr name="TextBox 169" id="169"/>
          <p:cNvSpPr txBox="true"/>
          <p:nvPr/>
        </p:nvSpPr>
        <p:spPr>
          <a:xfrm rot="0">
            <a:off x="10629900" y="3190875"/>
            <a:ext cx="7200900" cy="2432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StoryLens AI: Explains what happened and why.</a:t>
            </a:r>
          </a:p>
        </p:txBody>
      </p:sp>
      <p:sp>
        <p:nvSpPr>
          <p:cNvPr name="TextBox 170" id="170"/>
          <p:cNvSpPr txBox="true"/>
          <p:nvPr/>
        </p:nvSpPr>
        <p:spPr>
          <a:xfrm rot="0">
            <a:off x="10629900" y="3686175"/>
            <a:ext cx="72009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Traditional BI: Requires Manual Investigation</a:t>
            </a:r>
          </a:p>
        </p:txBody>
      </p:sp>
      <p:sp>
        <p:nvSpPr>
          <p:cNvPr name="TextBox 171" id="171"/>
          <p:cNvSpPr txBox="true"/>
          <p:nvPr/>
        </p:nvSpPr>
        <p:spPr>
          <a:xfrm rot="0">
            <a:off x="10629900" y="3895725"/>
            <a:ext cx="7200900" cy="2432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StoryLens AI: Automatically investigates multiple sources.</a:t>
            </a:r>
          </a:p>
        </p:txBody>
      </p:sp>
      <p:sp>
        <p:nvSpPr>
          <p:cNvPr name="TextBox 172" id="172"/>
          <p:cNvSpPr txBox="true"/>
          <p:nvPr/>
        </p:nvSpPr>
        <p:spPr>
          <a:xfrm rot="0">
            <a:off x="10629900" y="4391025"/>
            <a:ext cx="72009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Traditional BI: Presents Isolated Metrics</a:t>
            </a:r>
          </a:p>
        </p:txBody>
      </p:sp>
      <p:sp>
        <p:nvSpPr>
          <p:cNvPr name="TextBox 173" id="173"/>
          <p:cNvSpPr txBox="true"/>
          <p:nvPr/>
        </p:nvSpPr>
        <p:spPr>
          <a:xfrm rot="0">
            <a:off x="10629900" y="4600575"/>
            <a:ext cx="7200900" cy="2432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StoryLens AI: Connects metrics with business events.</a:t>
            </a:r>
          </a:p>
        </p:txBody>
      </p:sp>
      <p:sp>
        <p:nvSpPr>
          <p:cNvPr name="TextBox 174" id="174"/>
          <p:cNvSpPr txBox="true"/>
          <p:nvPr/>
        </p:nvSpPr>
        <p:spPr>
          <a:xfrm rot="0">
            <a:off x="10629900" y="5095875"/>
            <a:ext cx="7200900" cy="243205"/>
          </a:xfrm>
          <a:prstGeom prst="rect">
            <a:avLst/>
          </a:prstGeom>
        </p:spPr>
        <p:txBody>
          <a:bodyPr anchor="t" rtlCol="false" tIns="0" lIns="0" bIns="0" rIns="0">
            <a:spAutoFit/>
          </a:bodyPr>
          <a:lstStyle/>
          <a:p>
            <a:pPr algn="l">
              <a:lnSpc>
                <a:spcPts val="1819"/>
              </a:lnSpc>
            </a:pPr>
            <a:r>
              <a:rPr lang="en-US" sz="1299" b="true">
                <a:solidFill>
                  <a:srgbClr val="5B0E96"/>
                </a:solidFill>
                <a:latin typeface="Arimo Bold"/>
                <a:ea typeface="Arimo Bold"/>
                <a:cs typeface="Arimo Bold"/>
                <a:sym typeface="Arimo Bold"/>
              </a:rPr>
              <a:t>Traditional BI: Leaves Action To The Analyst</a:t>
            </a:r>
          </a:p>
        </p:txBody>
      </p:sp>
      <p:sp>
        <p:nvSpPr>
          <p:cNvPr name="TextBox 175" id="175"/>
          <p:cNvSpPr txBox="true"/>
          <p:nvPr/>
        </p:nvSpPr>
        <p:spPr>
          <a:xfrm rot="0">
            <a:off x="10629900" y="5305425"/>
            <a:ext cx="7200900" cy="2432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StoryLens AI: Recommends evidence-based next steps.</a:t>
            </a:r>
          </a:p>
        </p:txBody>
      </p:sp>
      <p:sp>
        <p:nvSpPr>
          <p:cNvPr name="TextBox 176" id="176"/>
          <p:cNvSpPr txBox="true"/>
          <p:nvPr/>
        </p:nvSpPr>
        <p:spPr>
          <a:xfrm rot="0">
            <a:off x="10629900" y="6410325"/>
            <a:ext cx="7200900" cy="471805"/>
          </a:xfrm>
          <a:prstGeom prst="rect">
            <a:avLst/>
          </a:prstGeom>
        </p:spPr>
        <p:txBody>
          <a:bodyPr anchor="t" rtlCol="false" tIns="0" lIns="0" bIns="0" rIns="0">
            <a:spAutoFit/>
          </a:bodyPr>
          <a:lstStyle/>
          <a:p>
            <a:pPr algn="l">
              <a:lnSpc>
                <a:spcPts val="1819"/>
              </a:lnSpc>
            </a:pPr>
            <a:r>
              <a:rPr lang="en-US" sz="1299">
                <a:solidFill>
                  <a:srgbClr val="000000"/>
                </a:solidFill>
                <a:latin typeface="Arimo"/>
                <a:ea typeface="Arimo"/>
                <a:cs typeface="Arimo"/>
                <a:sym typeface="Arimo"/>
              </a:rPr>
              <a:t>An intelligent business investigation engine designed to convert KPI changes into evidence-based business stories and recommended actions.</a:t>
            </a:r>
          </a:p>
        </p:txBody>
      </p:sp>
      <p:sp>
        <p:nvSpPr>
          <p:cNvPr name="TextBox 177" id="177"/>
          <p:cNvSpPr txBox="true"/>
          <p:nvPr/>
        </p:nvSpPr>
        <p:spPr>
          <a:xfrm rot="0">
            <a:off x="10629900" y="7046912"/>
            <a:ext cx="7105732" cy="528320"/>
          </a:xfrm>
          <a:prstGeom prst="rect">
            <a:avLst/>
          </a:prstGeom>
        </p:spPr>
        <p:txBody>
          <a:bodyPr anchor="t" rtlCol="false" tIns="0" lIns="0" bIns="0" rIns="0">
            <a:spAutoFit/>
          </a:bodyPr>
          <a:lstStyle/>
          <a:p>
            <a:pPr algn="l">
              <a:lnSpc>
                <a:spcPts val="2105"/>
              </a:lnSpc>
            </a:pPr>
            <a:r>
              <a:rPr lang="en-US" sz="1503" b="true">
                <a:solidFill>
                  <a:srgbClr val="5B0E96"/>
                </a:solidFill>
                <a:latin typeface="Arimo Bold"/>
                <a:ea typeface="Arimo Bold"/>
                <a:cs typeface="Arimo Bold"/>
                <a:sym typeface="Arimo Bold"/>
              </a:rPr>
              <a:t>KPI Change  →  AI Investigation  →  Evidence  →  Likely Causes  →  Business Story  →  Recommended Action</a:t>
            </a:r>
          </a:p>
        </p:txBody>
      </p:sp>
      <p:grpSp>
        <p:nvGrpSpPr>
          <p:cNvPr name="Group 178" id="178"/>
          <p:cNvGrpSpPr/>
          <p:nvPr/>
        </p:nvGrpSpPr>
        <p:grpSpPr>
          <a:xfrm rot="0">
            <a:off x="381000" y="9144000"/>
            <a:ext cx="17526000" cy="19050"/>
            <a:chOff x="0" y="0"/>
            <a:chExt cx="23368000" cy="25400"/>
          </a:xfrm>
        </p:grpSpPr>
        <p:sp>
          <p:nvSpPr>
            <p:cNvPr name="Freeform 179" id="179"/>
            <p:cNvSpPr/>
            <p:nvPr/>
          </p:nvSpPr>
          <p:spPr>
            <a:xfrm flipH="false" flipV="false" rot="0">
              <a:off x="0" y="0"/>
              <a:ext cx="23368000" cy="25400"/>
            </a:xfrm>
            <a:custGeom>
              <a:avLst/>
              <a:gdLst/>
              <a:ahLst/>
              <a:cxnLst/>
              <a:rect r="r" b="b" t="t" l="l"/>
              <a:pathLst>
                <a:path h="25400" w="23368000">
                  <a:moveTo>
                    <a:pt x="0" y="0"/>
                  </a:moveTo>
                  <a:lnTo>
                    <a:pt x="23368000" y="0"/>
                  </a:lnTo>
                  <a:lnTo>
                    <a:pt x="23368000" y="25400"/>
                  </a:lnTo>
                  <a:lnTo>
                    <a:pt x="0" y="25400"/>
                  </a:lnTo>
                  <a:close/>
                </a:path>
              </a:pathLst>
            </a:custGeom>
            <a:solidFill>
              <a:srgbClr val="CCCCCC"/>
            </a:solidFill>
          </p:spPr>
        </p:sp>
        <p:sp>
          <p:nvSpPr>
            <p:cNvPr name="TextBox 180" id="180"/>
            <p:cNvSpPr txBox="true"/>
            <p:nvPr/>
          </p:nvSpPr>
          <p:spPr>
            <a:xfrm>
              <a:off x="0" y="-38100"/>
              <a:ext cx="23368000" cy="635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8640" y="178308"/>
            <a:ext cx="17190263" cy="850392"/>
            <a:chOff x="0" y="0"/>
            <a:chExt cx="22920350" cy="1133856"/>
          </a:xfrm>
        </p:grpSpPr>
        <p:sp>
          <p:nvSpPr>
            <p:cNvPr name="Freeform 3" id="3"/>
            <p:cNvSpPr/>
            <p:nvPr/>
          </p:nvSpPr>
          <p:spPr>
            <a:xfrm flipH="false" flipV="false" rot="0">
              <a:off x="0" y="0"/>
              <a:ext cx="22920325" cy="1133856"/>
            </a:xfrm>
            <a:custGeom>
              <a:avLst/>
              <a:gdLst/>
              <a:ahLst/>
              <a:cxnLst/>
              <a:rect r="r" b="b" t="t" l="l"/>
              <a:pathLst>
                <a:path h="1133856" w="22920325">
                  <a:moveTo>
                    <a:pt x="0" y="0"/>
                  </a:moveTo>
                  <a:lnTo>
                    <a:pt x="22920325" y="0"/>
                  </a:lnTo>
                  <a:lnTo>
                    <a:pt x="22920325" y="1133856"/>
                  </a:lnTo>
                  <a:lnTo>
                    <a:pt x="0" y="1133856"/>
                  </a:lnTo>
                  <a:close/>
                </a:path>
              </a:pathLst>
            </a:custGeom>
            <a:solidFill>
              <a:srgbClr val="6E2FA6"/>
            </a:solidFill>
          </p:spPr>
        </p:sp>
      </p:grpSp>
      <p:grpSp>
        <p:nvGrpSpPr>
          <p:cNvPr name="Group 4" id="4"/>
          <p:cNvGrpSpPr/>
          <p:nvPr/>
        </p:nvGrpSpPr>
        <p:grpSpPr>
          <a:xfrm rot="0">
            <a:off x="548640" y="178308"/>
            <a:ext cx="17190263" cy="850392"/>
            <a:chOff x="0" y="0"/>
            <a:chExt cx="22920350" cy="1133856"/>
          </a:xfrm>
        </p:grpSpPr>
        <p:sp>
          <p:nvSpPr>
            <p:cNvPr name="Freeform 5" id="5"/>
            <p:cNvSpPr/>
            <p:nvPr/>
          </p:nvSpPr>
          <p:spPr>
            <a:xfrm flipH="false" flipV="false" rot="0">
              <a:off x="0" y="0"/>
              <a:ext cx="22920350" cy="1133856"/>
            </a:xfrm>
            <a:custGeom>
              <a:avLst/>
              <a:gdLst/>
              <a:ahLst/>
              <a:cxnLst/>
              <a:rect r="r" b="b" t="t" l="l"/>
              <a:pathLst>
                <a:path h="1133856" w="22920350">
                  <a:moveTo>
                    <a:pt x="0" y="0"/>
                  </a:moveTo>
                  <a:lnTo>
                    <a:pt x="22920350" y="0"/>
                  </a:lnTo>
                  <a:lnTo>
                    <a:pt x="22920350" y="1133856"/>
                  </a:lnTo>
                  <a:lnTo>
                    <a:pt x="0" y="1133856"/>
                  </a:lnTo>
                  <a:close/>
                </a:path>
              </a:pathLst>
            </a:custGeom>
            <a:blipFill>
              <a:blip r:embed="rId2">
                <a:alphaModFix amt="0"/>
              </a:blip>
              <a:stretch>
                <a:fillRect l="0" t="-343880" r="0" b="-343880"/>
              </a:stretch>
            </a:blipFill>
          </p:spPr>
        </p:sp>
        <p:sp>
          <p:nvSpPr>
            <p:cNvPr name="TextBox 6" id="6"/>
            <p:cNvSpPr txBox="true"/>
            <p:nvPr/>
          </p:nvSpPr>
          <p:spPr>
            <a:xfrm>
              <a:off x="0" y="-28575"/>
              <a:ext cx="22920350" cy="1162431"/>
            </a:xfrm>
            <a:prstGeom prst="rect">
              <a:avLst/>
            </a:prstGeom>
          </p:spPr>
          <p:txBody>
            <a:bodyPr anchor="ctr" rtlCol="false" tIns="0" lIns="0" bIns="0" rIns="0"/>
            <a:lstStyle/>
            <a:p>
              <a:pPr algn="ctr">
                <a:lnSpc>
                  <a:spcPts val="3960"/>
                </a:lnSpc>
              </a:pPr>
              <a:r>
                <a:rPr lang="en-US" sz="3300" b="true">
                  <a:solidFill>
                    <a:srgbClr val="FFFFFF"/>
                  </a:solidFill>
                  <a:latin typeface="Arimo Bold"/>
                  <a:ea typeface="Arimo Bold"/>
                  <a:cs typeface="Arimo Bold"/>
                  <a:sym typeface="Arimo Bold"/>
                </a:rPr>
                <a:t>HOW STORYLENS AI INVESTIGATES BUSINESS EVENTS</a:t>
              </a:r>
            </a:p>
          </p:txBody>
        </p:sp>
      </p:grpSp>
      <p:grpSp>
        <p:nvGrpSpPr>
          <p:cNvPr name="Group 7" id="7"/>
          <p:cNvGrpSpPr/>
          <p:nvPr/>
        </p:nvGrpSpPr>
        <p:grpSpPr>
          <a:xfrm rot="0">
            <a:off x="548640" y="1148593"/>
            <a:ext cx="13716000" cy="391409"/>
            <a:chOff x="0" y="0"/>
            <a:chExt cx="18288000" cy="521878"/>
          </a:xfrm>
        </p:grpSpPr>
        <p:sp>
          <p:nvSpPr>
            <p:cNvPr name="Freeform 8" id="8"/>
            <p:cNvSpPr/>
            <p:nvPr/>
          </p:nvSpPr>
          <p:spPr>
            <a:xfrm flipH="false" flipV="false" rot="0">
              <a:off x="0" y="0"/>
              <a:ext cx="18288000" cy="521878"/>
            </a:xfrm>
            <a:custGeom>
              <a:avLst/>
              <a:gdLst/>
              <a:ahLst/>
              <a:cxnLst/>
              <a:rect r="r" b="b" t="t" l="l"/>
              <a:pathLst>
                <a:path h="521878" w="18288000">
                  <a:moveTo>
                    <a:pt x="0" y="0"/>
                  </a:moveTo>
                  <a:lnTo>
                    <a:pt x="18288000" y="0"/>
                  </a:lnTo>
                  <a:lnTo>
                    <a:pt x="18288000" y="521878"/>
                  </a:lnTo>
                  <a:lnTo>
                    <a:pt x="0" y="521878"/>
                  </a:lnTo>
                  <a:close/>
                </a:path>
              </a:pathLst>
            </a:custGeom>
            <a:blipFill>
              <a:blip r:embed="rId2">
                <a:alphaModFix amt="0"/>
              </a:blip>
              <a:stretch>
                <a:fillRect l="0" t="-637252" r="0" b="-628362"/>
              </a:stretch>
            </a:blipFill>
          </p:spPr>
        </p:sp>
        <p:sp>
          <p:nvSpPr>
            <p:cNvPr name="TextBox 9" id="9"/>
            <p:cNvSpPr txBox="true"/>
            <p:nvPr/>
          </p:nvSpPr>
          <p:spPr>
            <a:xfrm>
              <a:off x="0" y="-47625"/>
              <a:ext cx="18288000" cy="569503"/>
            </a:xfrm>
            <a:prstGeom prst="rect">
              <a:avLst/>
            </a:prstGeom>
          </p:spPr>
          <p:txBody>
            <a:bodyPr anchor="ctr" rtlCol="false" tIns="0" lIns="0" bIns="0" rIns="0"/>
            <a:lstStyle/>
            <a:p>
              <a:pPr algn="l">
                <a:lnSpc>
                  <a:spcPts val="2340"/>
                </a:lnSpc>
              </a:pPr>
              <a:r>
                <a:rPr lang="en-US" b="true" sz="1950" u="sng">
                  <a:solidFill>
                    <a:srgbClr val="6E2FA6"/>
                  </a:solidFill>
                  <a:latin typeface="Calibri (MS) Bold"/>
                  <a:ea typeface="Calibri (MS) Bold"/>
                  <a:cs typeface="Calibri (MS) Bold"/>
                  <a:sym typeface="Calibri (MS) Bold"/>
                </a:rPr>
                <a:t>UNDERSTANDING THE INVESTIGATION PROCESS</a:t>
              </a:r>
            </a:p>
          </p:txBody>
        </p:sp>
      </p:grpSp>
      <p:grpSp>
        <p:nvGrpSpPr>
          <p:cNvPr name="Group 10" id="10"/>
          <p:cNvGrpSpPr/>
          <p:nvPr/>
        </p:nvGrpSpPr>
        <p:grpSpPr>
          <a:xfrm rot="0">
            <a:off x="539115" y="1663827"/>
            <a:ext cx="2597658" cy="2213610"/>
            <a:chOff x="0" y="0"/>
            <a:chExt cx="3463544" cy="2951480"/>
          </a:xfrm>
        </p:grpSpPr>
        <p:sp>
          <p:nvSpPr>
            <p:cNvPr name="Freeform 11" id="11"/>
            <p:cNvSpPr/>
            <p:nvPr/>
          </p:nvSpPr>
          <p:spPr>
            <a:xfrm flipH="false" flipV="false" rot="0">
              <a:off x="0" y="0"/>
              <a:ext cx="3463544" cy="2951480"/>
            </a:xfrm>
            <a:custGeom>
              <a:avLst/>
              <a:gdLst/>
              <a:ahLst/>
              <a:cxnLst/>
              <a:rect r="r" b="b" t="t" l="l"/>
              <a:pathLst>
                <a:path h="2951480" w="3463544">
                  <a:moveTo>
                    <a:pt x="0" y="0"/>
                  </a:moveTo>
                  <a:lnTo>
                    <a:pt x="3463544" y="0"/>
                  </a:lnTo>
                  <a:lnTo>
                    <a:pt x="3463544" y="2951480"/>
                  </a:lnTo>
                  <a:lnTo>
                    <a:pt x="0" y="2951480"/>
                  </a:lnTo>
                  <a:close/>
                </a:path>
              </a:pathLst>
            </a:custGeom>
            <a:solidFill>
              <a:srgbClr val="FFFFFF"/>
            </a:solidFill>
            <a:ln w="19050" cap="sq">
              <a:solidFill>
                <a:srgbClr val="B9A6DD"/>
              </a:solidFill>
              <a:prstDash val="solid"/>
              <a:miter/>
            </a:ln>
          </p:spPr>
        </p:sp>
      </p:grpSp>
      <p:sp>
        <p:nvSpPr>
          <p:cNvPr name="TextBox 12" id="12"/>
          <p:cNvSpPr txBox="true"/>
          <p:nvPr/>
        </p:nvSpPr>
        <p:spPr>
          <a:xfrm rot="0">
            <a:off x="658368" y="1727073"/>
            <a:ext cx="2359152" cy="266700"/>
          </a:xfrm>
          <a:prstGeom prst="rect">
            <a:avLst/>
          </a:prstGeom>
        </p:spPr>
        <p:txBody>
          <a:bodyPr anchor="t" rtlCol="false" tIns="0" lIns="0" bIns="0" rIns="0">
            <a:spAutoFit/>
          </a:bodyPr>
          <a:lstStyle/>
          <a:p>
            <a:pPr algn="l">
              <a:lnSpc>
                <a:spcPts val="1919"/>
              </a:lnSpc>
            </a:pPr>
            <a:r>
              <a:rPr lang="en-US" sz="1599" b="true">
                <a:solidFill>
                  <a:srgbClr val="6E2FA6"/>
                </a:solidFill>
                <a:latin typeface="Calibri (MS) Bold"/>
                <a:ea typeface="Calibri (MS) Bold"/>
                <a:cs typeface="Calibri (MS) Bold"/>
                <a:sym typeface="Calibri (MS) Bold"/>
              </a:rPr>
              <a:t>1 · BUSINESS SIGNAL</a:t>
            </a:r>
          </a:p>
        </p:txBody>
      </p:sp>
      <p:sp>
        <p:nvSpPr>
          <p:cNvPr name="TextBox 13" id="13"/>
          <p:cNvSpPr txBox="true"/>
          <p:nvPr/>
        </p:nvSpPr>
        <p:spPr>
          <a:xfrm rot="0">
            <a:off x="658368" y="2321052"/>
            <a:ext cx="2359152" cy="1122998"/>
          </a:xfrm>
          <a:prstGeom prst="rect">
            <a:avLst/>
          </a:prstGeom>
        </p:spPr>
        <p:txBody>
          <a:bodyPr anchor="t" rtlCol="false" tIns="0" lIns="0" bIns="0" rIns="0">
            <a:spAutoFit/>
          </a:bodyPr>
          <a:lstStyle/>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Revenue changes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Sales fluctuations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Inventory changes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Customer behavior</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Operational performance</a:t>
            </a:r>
          </a:p>
        </p:txBody>
      </p:sp>
      <p:grpSp>
        <p:nvGrpSpPr>
          <p:cNvPr name="Group 14" id="14"/>
          <p:cNvGrpSpPr/>
          <p:nvPr/>
        </p:nvGrpSpPr>
        <p:grpSpPr>
          <a:xfrm rot="0">
            <a:off x="3154680" y="2647188"/>
            <a:ext cx="288036" cy="246888"/>
            <a:chOff x="0" y="0"/>
            <a:chExt cx="384048" cy="329184"/>
          </a:xfrm>
        </p:grpSpPr>
        <p:sp>
          <p:nvSpPr>
            <p:cNvPr name="Freeform 15" id="15"/>
            <p:cNvSpPr/>
            <p:nvPr/>
          </p:nvSpPr>
          <p:spPr>
            <a:xfrm flipH="false" flipV="false" rot="0">
              <a:off x="0" y="0"/>
              <a:ext cx="384048" cy="329184"/>
            </a:xfrm>
            <a:custGeom>
              <a:avLst/>
              <a:gdLst/>
              <a:ahLst/>
              <a:cxnLst/>
              <a:rect r="r" b="b" t="t" l="l"/>
              <a:pathLst>
                <a:path h="329184" w="384048">
                  <a:moveTo>
                    <a:pt x="0" y="82296"/>
                  </a:moveTo>
                  <a:lnTo>
                    <a:pt x="219456" y="82296"/>
                  </a:lnTo>
                  <a:lnTo>
                    <a:pt x="219456" y="0"/>
                  </a:lnTo>
                  <a:lnTo>
                    <a:pt x="384048" y="164592"/>
                  </a:lnTo>
                  <a:lnTo>
                    <a:pt x="219456" y="329184"/>
                  </a:lnTo>
                  <a:lnTo>
                    <a:pt x="219456" y="246888"/>
                  </a:lnTo>
                  <a:lnTo>
                    <a:pt x="0" y="246888"/>
                  </a:lnTo>
                  <a:close/>
                </a:path>
              </a:pathLst>
            </a:custGeom>
            <a:solidFill>
              <a:srgbClr val="B9A6DD"/>
            </a:solidFill>
          </p:spPr>
        </p:sp>
      </p:grpSp>
      <p:grpSp>
        <p:nvGrpSpPr>
          <p:cNvPr name="Group 16" id="16"/>
          <p:cNvGrpSpPr/>
          <p:nvPr/>
        </p:nvGrpSpPr>
        <p:grpSpPr>
          <a:xfrm rot="0">
            <a:off x="3460623" y="1663827"/>
            <a:ext cx="2597658" cy="2213610"/>
            <a:chOff x="0" y="0"/>
            <a:chExt cx="3463544" cy="2951480"/>
          </a:xfrm>
        </p:grpSpPr>
        <p:sp>
          <p:nvSpPr>
            <p:cNvPr name="Freeform 17" id="17"/>
            <p:cNvSpPr/>
            <p:nvPr/>
          </p:nvSpPr>
          <p:spPr>
            <a:xfrm flipH="false" flipV="false" rot="0">
              <a:off x="0" y="0"/>
              <a:ext cx="3463544" cy="2951480"/>
            </a:xfrm>
            <a:custGeom>
              <a:avLst/>
              <a:gdLst/>
              <a:ahLst/>
              <a:cxnLst/>
              <a:rect r="r" b="b" t="t" l="l"/>
              <a:pathLst>
                <a:path h="2951480" w="3463544">
                  <a:moveTo>
                    <a:pt x="0" y="0"/>
                  </a:moveTo>
                  <a:lnTo>
                    <a:pt x="3463544" y="0"/>
                  </a:lnTo>
                  <a:lnTo>
                    <a:pt x="3463544" y="2951480"/>
                  </a:lnTo>
                  <a:lnTo>
                    <a:pt x="0" y="2951480"/>
                  </a:lnTo>
                  <a:close/>
                </a:path>
              </a:pathLst>
            </a:custGeom>
            <a:solidFill>
              <a:srgbClr val="FFFFFF"/>
            </a:solidFill>
            <a:ln w="19050" cap="sq">
              <a:solidFill>
                <a:srgbClr val="B9A6DD"/>
              </a:solidFill>
              <a:prstDash val="solid"/>
              <a:miter/>
            </a:ln>
          </p:spPr>
        </p:sp>
      </p:grpSp>
      <p:sp>
        <p:nvSpPr>
          <p:cNvPr name="TextBox 18" id="18"/>
          <p:cNvSpPr txBox="true"/>
          <p:nvPr/>
        </p:nvSpPr>
        <p:spPr>
          <a:xfrm rot="0">
            <a:off x="3579876" y="1727073"/>
            <a:ext cx="2359152" cy="504825"/>
          </a:xfrm>
          <a:prstGeom prst="rect">
            <a:avLst/>
          </a:prstGeom>
        </p:spPr>
        <p:txBody>
          <a:bodyPr anchor="t" rtlCol="false" tIns="0" lIns="0" bIns="0" rIns="0">
            <a:spAutoFit/>
          </a:bodyPr>
          <a:lstStyle/>
          <a:p>
            <a:pPr algn="l">
              <a:lnSpc>
                <a:spcPts val="1919"/>
              </a:lnSpc>
            </a:pPr>
            <a:r>
              <a:rPr lang="en-US" sz="1599" b="true">
                <a:solidFill>
                  <a:srgbClr val="6E2FA6"/>
                </a:solidFill>
                <a:latin typeface="Calibri (MS) Bold"/>
                <a:ea typeface="Calibri (MS) Bold"/>
                <a:cs typeface="Calibri (MS) Bold"/>
                <a:sym typeface="Calibri (MS) Bold"/>
              </a:rPr>
              <a:t>2 · EVIDENCE COLLECTION</a:t>
            </a:r>
          </a:p>
        </p:txBody>
      </p:sp>
      <p:sp>
        <p:nvSpPr>
          <p:cNvPr name="TextBox 19" id="19"/>
          <p:cNvSpPr txBox="true"/>
          <p:nvPr/>
        </p:nvSpPr>
        <p:spPr>
          <a:xfrm rot="0">
            <a:off x="3579876" y="2321052"/>
            <a:ext cx="2359152" cy="1342073"/>
          </a:xfrm>
          <a:prstGeom prst="rect">
            <a:avLst/>
          </a:prstGeom>
        </p:spPr>
        <p:txBody>
          <a:bodyPr anchor="t" rtlCol="false" tIns="0" lIns="0" bIns="0" rIns="0">
            <a:spAutoFit/>
          </a:bodyPr>
          <a:lstStyle/>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Financial records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Sales reports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Customer feedback</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Operational updates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Supplier reports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Market information</a:t>
            </a:r>
          </a:p>
        </p:txBody>
      </p:sp>
      <p:grpSp>
        <p:nvGrpSpPr>
          <p:cNvPr name="Group 20" id="20"/>
          <p:cNvGrpSpPr/>
          <p:nvPr/>
        </p:nvGrpSpPr>
        <p:grpSpPr>
          <a:xfrm rot="0">
            <a:off x="6076188" y="2647188"/>
            <a:ext cx="288036" cy="246888"/>
            <a:chOff x="0" y="0"/>
            <a:chExt cx="384048" cy="329184"/>
          </a:xfrm>
        </p:grpSpPr>
        <p:sp>
          <p:nvSpPr>
            <p:cNvPr name="Freeform 21" id="21"/>
            <p:cNvSpPr/>
            <p:nvPr/>
          </p:nvSpPr>
          <p:spPr>
            <a:xfrm flipH="false" flipV="false" rot="0">
              <a:off x="0" y="0"/>
              <a:ext cx="384048" cy="329184"/>
            </a:xfrm>
            <a:custGeom>
              <a:avLst/>
              <a:gdLst/>
              <a:ahLst/>
              <a:cxnLst/>
              <a:rect r="r" b="b" t="t" l="l"/>
              <a:pathLst>
                <a:path h="329184" w="384048">
                  <a:moveTo>
                    <a:pt x="0" y="82296"/>
                  </a:moveTo>
                  <a:lnTo>
                    <a:pt x="219456" y="82296"/>
                  </a:lnTo>
                  <a:lnTo>
                    <a:pt x="219456" y="0"/>
                  </a:lnTo>
                  <a:lnTo>
                    <a:pt x="384048" y="164592"/>
                  </a:lnTo>
                  <a:lnTo>
                    <a:pt x="219456" y="329184"/>
                  </a:lnTo>
                  <a:lnTo>
                    <a:pt x="219456" y="246888"/>
                  </a:lnTo>
                  <a:lnTo>
                    <a:pt x="0" y="246888"/>
                  </a:lnTo>
                  <a:close/>
                </a:path>
              </a:pathLst>
            </a:custGeom>
            <a:solidFill>
              <a:srgbClr val="B9A6DD"/>
            </a:solidFill>
          </p:spPr>
        </p:sp>
      </p:grpSp>
      <p:grpSp>
        <p:nvGrpSpPr>
          <p:cNvPr name="Group 22" id="22"/>
          <p:cNvGrpSpPr/>
          <p:nvPr/>
        </p:nvGrpSpPr>
        <p:grpSpPr>
          <a:xfrm rot="0">
            <a:off x="6382131" y="1663827"/>
            <a:ext cx="2597658" cy="2213610"/>
            <a:chOff x="0" y="0"/>
            <a:chExt cx="3463544" cy="2951480"/>
          </a:xfrm>
        </p:grpSpPr>
        <p:sp>
          <p:nvSpPr>
            <p:cNvPr name="Freeform 23" id="23"/>
            <p:cNvSpPr/>
            <p:nvPr/>
          </p:nvSpPr>
          <p:spPr>
            <a:xfrm flipH="false" flipV="false" rot="0">
              <a:off x="0" y="0"/>
              <a:ext cx="3463544" cy="2951480"/>
            </a:xfrm>
            <a:custGeom>
              <a:avLst/>
              <a:gdLst/>
              <a:ahLst/>
              <a:cxnLst/>
              <a:rect r="r" b="b" t="t" l="l"/>
              <a:pathLst>
                <a:path h="2951480" w="3463544">
                  <a:moveTo>
                    <a:pt x="0" y="0"/>
                  </a:moveTo>
                  <a:lnTo>
                    <a:pt x="3463544" y="0"/>
                  </a:lnTo>
                  <a:lnTo>
                    <a:pt x="3463544" y="2951480"/>
                  </a:lnTo>
                  <a:lnTo>
                    <a:pt x="0" y="2951480"/>
                  </a:lnTo>
                  <a:close/>
                </a:path>
              </a:pathLst>
            </a:custGeom>
            <a:solidFill>
              <a:srgbClr val="FFFFFF"/>
            </a:solidFill>
            <a:ln w="19050" cap="sq">
              <a:solidFill>
                <a:srgbClr val="B9A6DD"/>
              </a:solidFill>
              <a:prstDash val="solid"/>
              <a:miter/>
            </a:ln>
          </p:spPr>
        </p:sp>
      </p:grpSp>
      <p:sp>
        <p:nvSpPr>
          <p:cNvPr name="TextBox 24" id="24"/>
          <p:cNvSpPr txBox="true"/>
          <p:nvPr/>
        </p:nvSpPr>
        <p:spPr>
          <a:xfrm rot="0">
            <a:off x="6501384" y="1727073"/>
            <a:ext cx="2359152" cy="504825"/>
          </a:xfrm>
          <a:prstGeom prst="rect">
            <a:avLst/>
          </a:prstGeom>
        </p:spPr>
        <p:txBody>
          <a:bodyPr anchor="t" rtlCol="false" tIns="0" lIns="0" bIns="0" rIns="0">
            <a:spAutoFit/>
          </a:bodyPr>
          <a:lstStyle/>
          <a:p>
            <a:pPr algn="l">
              <a:lnSpc>
                <a:spcPts val="1919"/>
              </a:lnSpc>
            </a:pPr>
            <a:r>
              <a:rPr lang="en-US" sz="1599" b="true">
                <a:solidFill>
                  <a:srgbClr val="6E2FA6"/>
                </a:solidFill>
                <a:latin typeface="Calibri (MS) Bold"/>
                <a:ea typeface="Calibri (MS) Bold"/>
                <a:cs typeface="Calibri (MS) Bold"/>
                <a:sym typeface="Calibri (MS) Bold"/>
              </a:rPr>
              <a:t>3 · CHANGE VALIDATION</a:t>
            </a:r>
          </a:p>
        </p:txBody>
      </p:sp>
      <p:sp>
        <p:nvSpPr>
          <p:cNvPr name="TextBox 25" id="25"/>
          <p:cNvSpPr txBox="true"/>
          <p:nvPr/>
        </p:nvSpPr>
        <p:spPr>
          <a:xfrm rot="0">
            <a:off x="6501384" y="2321052"/>
            <a:ext cx="2359152" cy="1561148"/>
          </a:xfrm>
          <a:prstGeom prst="rect">
            <a:avLst/>
          </a:prstGeom>
        </p:spPr>
        <p:txBody>
          <a:bodyPr anchor="t" rtlCol="false" tIns="0" lIns="0" bIns="0" rIns="0">
            <a:spAutoFit/>
          </a:bodyPr>
          <a:lstStyle/>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Compare current performance with previous periods.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Determine whether the change is meaningful.</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Separate genuine business events from temporary fluctuations.</a:t>
            </a:r>
          </a:p>
        </p:txBody>
      </p:sp>
      <p:grpSp>
        <p:nvGrpSpPr>
          <p:cNvPr name="Group 26" id="26"/>
          <p:cNvGrpSpPr/>
          <p:nvPr/>
        </p:nvGrpSpPr>
        <p:grpSpPr>
          <a:xfrm rot="0">
            <a:off x="8997696" y="2647188"/>
            <a:ext cx="288036" cy="246888"/>
            <a:chOff x="0" y="0"/>
            <a:chExt cx="384048" cy="329184"/>
          </a:xfrm>
        </p:grpSpPr>
        <p:sp>
          <p:nvSpPr>
            <p:cNvPr name="Freeform 27" id="27"/>
            <p:cNvSpPr/>
            <p:nvPr/>
          </p:nvSpPr>
          <p:spPr>
            <a:xfrm flipH="false" flipV="false" rot="0">
              <a:off x="0" y="0"/>
              <a:ext cx="384048" cy="329184"/>
            </a:xfrm>
            <a:custGeom>
              <a:avLst/>
              <a:gdLst/>
              <a:ahLst/>
              <a:cxnLst/>
              <a:rect r="r" b="b" t="t" l="l"/>
              <a:pathLst>
                <a:path h="329184" w="384048">
                  <a:moveTo>
                    <a:pt x="0" y="82296"/>
                  </a:moveTo>
                  <a:lnTo>
                    <a:pt x="219456" y="82296"/>
                  </a:lnTo>
                  <a:lnTo>
                    <a:pt x="219456" y="0"/>
                  </a:lnTo>
                  <a:lnTo>
                    <a:pt x="384048" y="164592"/>
                  </a:lnTo>
                  <a:lnTo>
                    <a:pt x="219456" y="329184"/>
                  </a:lnTo>
                  <a:lnTo>
                    <a:pt x="219456" y="246888"/>
                  </a:lnTo>
                  <a:lnTo>
                    <a:pt x="0" y="246888"/>
                  </a:lnTo>
                  <a:close/>
                </a:path>
              </a:pathLst>
            </a:custGeom>
            <a:solidFill>
              <a:srgbClr val="B9A6DD"/>
            </a:solidFill>
          </p:spPr>
        </p:sp>
      </p:grpSp>
      <p:grpSp>
        <p:nvGrpSpPr>
          <p:cNvPr name="Group 28" id="28"/>
          <p:cNvGrpSpPr/>
          <p:nvPr/>
        </p:nvGrpSpPr>
        <p:grpSpPr>
          <a:xfrm rot="0">
            <a:off x="9303639" y="1663827"/>
            <a:ext cx="2597658" cy="2213610"/>
            <a:chOff x="0" y="0"/>
            <a:chExt cx="3463544" cy="2951480"/>
          </a:xfrm>
        </p:grpSpPr>
        <p:sp>
          <p:nvSpPr>
            <p:cNvPr name="Freeform 29" id="29"/>
            <p:cNvSpPr/>
            <p:nvPr/>
          </p:nvSpPr>
          <p:spPr>
            <a:xfrm flipH="false" flipV="false" rot="0">
              <a:off x="0" y="0"/>
              <a:ext cx="3463544" cy="2951480"/>
            </a:xfrm>
            <a:custGeom>
              <a:avLst/>
              <a:gdLst/>
              <a:ahLst/>
              <a:cxnLst/>
              <a:rect r="r" b="b" t="t" l="l"/>
              <a:pathLst>
                <a:path h="2951480" w="3463544">
                  <a:moveTo>
                    <a:pt x="0" y="0"/>
                  </a:moveTo>
                  <a:lnTo>
                    <a:pt x="3463544" y="0"/>
                  </a:lnTo>
                  <a:lnTo>
                    <a:pt x="3463544" y="2951480"/>
                  </a:lnTo>
                  <a:lnTo>
                    <a:pt x="0" y="2951480"/>
                  </a:lnTo>
                  <a:close/>
                </a:path>
              </a:pathLst>
            </a:custGeom>
            <a:solidFill>
              <a:srgbClr val="FFFFFF"/>
            </a:solidFill>
            <a:ln w="19050" cap="sq">
              <a:solidFill>
                <a:srgbClr val="B9A6DD"/>
              </a:solidFill>
              <a:prstDash val="solid"/>
              <a:miter/>
            </a:ln>
          </p:spPr>
        </p:sp>
      </p:grpSp>
      <p:sp>
        <p:nvSpPr>
          <p:cNvPr name="TextBox 30" id="30"/>
          <p:cNvSpPr txBox="true"/>
          <p:nvPr/>
        </p:nvSpPr>
        <p:spPr>
          <a:xfrm rot="0">
            <a:off x="9422892" y="1727073"/>
            <a:ext cx="2359152" cy="504825"/>
          </a:xfrm>
          <a:prstGeom prst="rect">
            <a:avLst/>
          </a:prstGeom>
        </p:spPr>
        <p:txBody>
          <a:bodyPr anchor="t" rtlCol="false" tIns="0" lIns="0" bIns="0" rIns="0">
            <a:spAutoFit/>
          </a:bodyPr>
          <a:lstStyle/>
          <a:p>
            <a:pPr algn="l">
              <a:lnSpc>
                <a:spcPts val="1919"/>
              </a:lnSpc>
            </a:pPr>
            <a:r>
              <a:rPr lang="en-US" sz="1599" b="true">
                <a:solidFill>
                  <a:srgbClr val="6E2FA6"/>
                </a:solidFill>
                <a:latin typeface="Calibri (MS) Bold"/>
                <a:ea typeface="Calibri (MS) Bold"/>
                <a:cs typeface="Calibri (MS) Bold"/>
                <a:sym typeface="Calibri (MS) Bold"/>
              </a:rPr>
              <a:t>4 · MULTIPLE EXPLANATIONS</a:t>
            </a:r>
          </a:p>
        </p:txBody>
      </p:sp>
      <p:sp>
        <p:nvSpPr>
          <p:cNvPr name="TextBox 31" id="31"/>
          <p:cNvSpPr txBox="true"/>
          <p:nvPr/>
        </p:nvSpPr>
        <p:spPr>
          <a:xfrm rot="0">
            <a:off x="9422892" y="2321052"/>
            <a:ext cx="2359152" cy="1122998"/>
          </a:xfrm>
          <a:prstGeom prst="rect">
            <a:avLst/>
          </a:prstGeom>
        </p:spPr>
        <p:txBody>
          <a:bodyPr anchor="t" rtlCol="false" tIns="0" lIns="0" bIns="0" rIns="0">
            <a:spAutoFit/>
          </a:bodyPr>
          <a:lstStyle/>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Supplier disruptions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Customer dissatisfaction</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Competitive activity</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Inventory shortages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Marketing performance</a:t>
            </a:r>
          </a:p>
        </p:txBody>
      </p:sp>
      <p:grpSp>
        <p:nvGrpSpPr>
          <p:cNvPr name="Group 32" id="32"/>
          <p:cNvGrpSpPr/>
          <p:nvPr/>
        </p:nvGrpSpPr>
        <p:grpSpPr>
          <a:xfrm rot="0">
            <a:off x="11919204" y="2647188"/>
            <a:ext cx="288036" cy="246888"/>
            <a:chOff x="0" y="0"/>
            <a:chExt cx="384048" cy="329184"/>
          </a:xfrm>
        </p:grpSpPr>
        <p:sp>
          <p:nvSpPr>
            <p:cNvPr name="Freeform 33" id="33"/>
            <p:cNvSpPr/>
            <p:nvPr/>
          </p:nvSpPr>
          <p:spPr>
            <a:xfrm flipH="false" flipV="false" rot="0">
              <a:off x="0" y="0"/>
              <a:ext cx="384048" cy="329184"/>
            </a:xfrm>
            <a:custGeom>
              <a:avLst/>
              <a:gdLst/>
              <a:ahLst/>
              <a:cxnLst/>
              <a:rect r="r" b="b" t="t" l="l"/>
              <a:pathLst>
                <a:path h="329184" w="384048">
                  <a:moveTo>
                    <a:pt x="0" y="82296"/>
                  </a:moveTo>
                  <a:lnTo>
                    <a:pt x="219456" y="82296"/>
                  </a:lnTo>
                  <a:lnTo>
                    <a:pt x="219456" y="0"/>
                  </a:lnTo>
                  <a:lnTo>
                    <a:pt x="384048" y="164592"/>
                  </a:lnTo>
                  <a:lnTo>
                    <a:pt x="219456" y="329184"/>
                  </a:lnTo>
                  <a:lnTo>
                    <a:pt x="219456" y="246888"/>
                  </a:lnTo>
                  <a:lnTo>
                    <a:pt x="0" y="246888"/>
                  </a:lnTo>
                  <a:close/>
                </a:path>
              </a:pathLst>
            </a:custGeom>
            <a:solidFill>
              <a:srgbClr val="B9A6DD"/>
            </a:solidFill>
          </p:spPr>
        </p:sp>
      </p:grpSp>
      <p:grpSp>
        <p:nvGrpSpPr>
          <p:cNvPr name="Group 34" id="34"/>
          <p:cNvGrpSpPr/>
          <p:nvPr/>
        </p:nvGrpSpPr>
        <p:grpSpPr>
          <a:xfrm rot="0">
            <a:off x="12225147" y="1663827"/>
            <a:ext cx="2597658" cy="2213610"/>
            <a:chOff x="0" y="0"/>
            <a:chExt cx="3463544" cy="2951480"/>
          </a:xfrm>
        </p:grpSpPr>
        <p:sp>
          <p:nvSpPr>
            <p:cNvPr name="Freeform 35" id="35"/>
            <p:cNvSpPr/>
            <p:nvPr/>
          </p:nvSpPr>
          <p:spPr>
            <a:xfrm flipH="false" flipV="false" rot="0">
              <a:off x="0" y="0"/>
              <a:ext cx="3463544" cy="2951480"/>
            </a:xfrm>
            <a:custGeom>
              <a:avLst/>
              <a:gdLst/>
              <a:ahLst/>
              <a:cxnLst/>
              <a:rect r="r" b="b" t="t" l="l"/>
              <a:pathLst>
                <a:path h="2951480" w="3463544">
                  <a:moveTo>
                    <a:pt x="0" y="0"/>
                  </a:moveTo>
                  <a:lnTo>
                    <a:pt x="3463544" y="0"/>
                  </a:lnTo>
                  <a:lnTo>
                    <a:pt x="3463544" y="2951480"/>
                  </a:lnTo>
                  <a:lnTo>
                    <a:pt x="0" y="2951480"/>
                  </a:lnTo>
                  <a:close/>
                </a:path>
              </a:pathLst>
            </a:custGeom>
            <a:solidFill>
              <a:srgbClr val="FFFFFF"/>
            </a:solidFill>
            <a:ln w="19050" cap="sq">
              <a:solidFill>
                <a:srgbClr val="B9A6DD"/>
              </a:solidFill>
              <a:prstDash val="solid"/>
              <a:miter/>
            </a:ln>
          </p:spPr>
        </p:sp>
      </p:grpSp>
      <p:sp>
        <p:nvSpPr>
          <p:cNvPr name="TextBox 36" id="36"/>
          <p:cNvSpPr txBox="true"/>
          <p:nvPr/>
        </p:nvSpPr>
        <p:spPr>
          <a:xfrm rot="0">
            <a:off x="12344400" y="1727073"/>
            <a:ext cx="2359152" cy="504825"/>
          </a:xfrm>
          <a:prstGeom prst="rect">
            <a:avLst/>
          </a:prstGeom>
        </p:spPr>
        <p:txBody>
          <a:bodyPr anchor="t" rtlCol="false" tIns="0" lIns="0" bIns="0" rIns="0">
            <a:spAutoFit/>
          </a:bodyPr>
          <a:lstStyle/>
          <a:p>
            <a:pPr algn="l">
              <a:lnSpc>
                <a:spcPts val="1919"/>
              </a:lnSpc>
            </a:pPr>
            <a:r>
              <a:rPr lang="en-US" sz="1599" b="true">
                <a:solidFill>
                  <a:srgbClr val="6E2FA6"/>
                </a:solidFill>
                <a:latin typeface="Calibri (MS) Bold"/>
                <a:ea typeface="Calibri (MS) Bold"/>
                <a:cs typeface="Calibri (MS) Bold"/>
                <a:sym typeface="Calibri (MS) Bold"/>
              </a:rPr>
              <a:t>5 · BUSINESS STORY CREATION</a:t>
            </a:r>
          </a:p>
        </p:txBody>
      </p:sp>
      <p:sp>
        <p:nvSpPr>
          <p:cNvPr name="TextBox 37" id="37"/>
          <p:cNvSpPr txBox="true"/>
          <p:nvPr/>
        </p:nvSpPr>
        <p:spPr>
          <a:xfrm rot="0">
            <a:off x="12344400" y="2321052"/>
            <a:ext cx="2359152" cy="1342073"/>
          </a:xfrm>
          <a:prstGeom prst="rect">
            <a:avLst/>
          </a:prstGeom>
        </p:spPr>
        <p:txBody>
          <a:bodyPr anchor="t" rtlCol="false" tIns="0" lIns="0" bIns="0" rIns="0">
            <a:spAutoFit/>
          </a:bodyPr>
          <a:lstStyle/>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Connect related events.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Identify the sequence that explains the business outcome.</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Transform findings into a clear narrative.</a:t>
            </a:r>
          </a:p>
        </p:txBody>
      </p:sp>
      <p:grpSp>
        <p:nvGrpSpPr>
          <p:cNvPr name="Group 38" id="38"/>
          <p:cNvGrpSpPr/>
          <p:nvPr/>
        </p:nvGrpSpPr>
        <p:grpSpPr>
          <a:xfrm rot="0">
            <a:off x="14840712" y="2647188"/>
            <a:ext cx="288036" cy="246888"/>
            <a:chOff x="0" y="0"/>
            <a:chExt cx="384048" cy="329184"/>
          </a:xfrm>
        </p:grpSpPr>
        <p:sp>
          <p:nvSpPr>
            <p:cNvPr name="Freeform 39" id="39"/>
            <p:cNvSpPr/>
            <p:nvPr/>
          </p:nvSpPr>
          <p:spPr>
            <a:xfrm flipH="false" flipV="false" rot="0">
              <a:off x="0" y="0"/>
              <a:ext cx="384048" cy="329184"/>
            </a:xfrm>
            <a:custGeom>
              <a:avLst/>
              <a:gdLst/>
              <a:ahLst/>
              <a:cxnLst/>
              <a:rect r="r" b="b" t="t" l="l"/>
              <a:pathLst>
                <a:path h="329184" w="384048">
                  <a:moveTo>
                    <a:pt x="0" y="82296"/>
                  </a:moveTo>
                  <a:lnTo>
                    <a:pt x="219456" y="82296"/>
                  </a:lnTo>
                  <a:lnTo>
                    <a:pt x="219456" y="0"/>
                  </a:lnTo>
                  <a:lnTo>
                    <a:pt x="384048" y="164592"/>
                  </a:lnTo>
                  <a:lnTo>
                    <a:pt x="219456" y="329184"/>
                  </a:lnTo>
                  <a:lnTo>
                    <a:pt x="219456" y="246888"/>
                  </a:lnTo>
                  <a:lnTo>
                    <a:pt x="0" y="246888"/>
                  </a:lnTo>
                  <a:close/>
                </a:path>
              </a:pathLst>
            </a:custGeom>
            <a:solidFill>
              <a:srgbClr val="B9A6DD"/>
            </a:solidFill>
          </p:spPr>
        </p:sp>
      </p:grpSp>
      <p:grpSp>
        <p:nvGrpSpPr>
          <p:cNvPr name="Group 40" id="40"/>
          <p:cNvGrpSpPr/>
          <p:nvPr/>
        </p:nvGrpSpPr>
        <p:grpSpPr>
          <a:xfrm rot="0">
            <a:off x="15146655" y="1663827"/>
            <a:ext cx="2597658" cy="2213610"/>
            <a:chOff x="0" y="0"/>
            <a:chExt cx="3463544" cy="2951480"/>
          </a:xfrm>
        </p:grpSpPr>
        <p:sp>
          <p:nvSpPr>
            <p:cNvPr name="Freeform 41" id="41"/>
            <p:cNvSpPr/>
            <p:nvPr/>
          </p:nvSpPr>
          <p:spPr>
            <a:xfrm flipH="false" flipV="false" rot="0">
              <a:off x="0" y="0"/>
              <a:ext cx="3463544" cy="2951480"/>
            </a:xfrm>
            <a:custGeom>
              <a:avLst/>
              <a:gdLst/>
              <a:ahLst/>
              <a:cxnLst/>
              <a:rect r="r" b="b" t="t" l="l"/>
              <a:pathLst>
                <a:path h="2951480" w="3463544">
                  <a:moveTo>
                    <a:pt x="0" y="0"/>
                  </a:moveTo>
                  <a:lnTo>
                    <a:pt x="3463544" y="0"/>
                  </a:lnTo>
                  <a:lnTo>
                    <a:pt x="3463544" y="2951480"/>
                  </a:lnTo>
                  <a:lnTo>
                    <a:pt x="0" y="2951480"/>
                  </a:lnTo>
                  <a:close/>
                </a:path>
              </a:pathLst>
            </a:custGeom>
            <a:solidFill>
              <a:srgbClr val="FFFFFF"/>
            </a:solidFill>
            <a:ln w="19050" cap="sq">
              <a:solidFill>
                <a:srgbClr val="B9A6DD"/>
              </a:solidFill>
              <a:prstDash val="solid"/>
              <a:miter/>
            </a:ln>
          </p:spPr>
        </p:sp>
      </p:grpSp>
      <p:sp>
        <p:nvSpPr>
          <p:cNvPr name="TextBox 42" id="42"/>
          <p:cNvSpPr txBox="true"/>
          <p:nvPr/>
        </p:nvSpPr>
        <p:spPr>
          <a:xfrm rot="0">
            <a:off x="15265908" y="1727073"/>
            <a:ext cx="2359152" cy="504825"/>
          </a:xfrm>
          <a:prstGeom prst="rect">
            <a:avLst/>
          </a:prstGeom>
        </p:spPr>
        <p:txBody>
          <a:bodyPr anchor="t" rtlCol="false" tIns="0" lIns="0" bIns="0" rIns="0">
            <a:spAutoFit/>
          </a:bodyPr>
          <a:lstStyle/>
          <a:p>
            <a:pPr algn="l">
              <a:lnSpc>
                <a:spcPts val="1919"/>
              </a:lnSpc>
            </a:pPr>
            <a:r>
              <a:rPr lang="en-US" sz="1599" b="true">
                <a:solidFill>
                  <a:srgbClr val="6E2FA6"/>
                </a:solidFill>
                <a:latin typeface="Calibri (MS) Bold"/>
                <a:ea typeface="Calibri (MS) Bold"/>
                <a:cs typeface="Calibri (MS) Bold"/>
                <a:sym typeface="Calibri (MS) Bold"/>
              </a:rPr>
              <a:t>6 · ACTION RECOMMENDATION</a:t>
            </a:r>
          </a:p>
        </p:txBody>
      </p:sp>
      <p:sp>
        <p:nvSpPr>
          <p:cNvPr name="TextBox 43" id="43"/>
          <p:cNvSpPr txBox="true"/>
          <p:nvPr/>
        </p:nvSpPr>
        <p:spPr>
          <a:xfrm rot="0">
            <a:off x="15265908" y="2321052"/>
            <a:ext cx="2359152" cy="1342073"/>
          </a:xfrm>
          <a:prstGeom prst="rect">
            <a:avLst/>
          </a:prstGeom>
        </p:spPr>
        <p:txBody>
          <a:bodyPr anchor="t" rtlCol="false" tIns="0" lIns="0" bIns="0" rIns="0">
            <a:spAutoFit/>
          </a:bodyPr>
          <a:lstStyle/>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Recommend immediate actions.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Recommend operational improvements.</a:t>
            </a:r>
          </a:p>
          <a:p>
            <a:pPr algn="l" marL="248840" indent="-124420" lvl="1">
              <a:lnSpc>
                <a:spcPts val="1732"/>
              </a:lnSpc>
              <a:buFont typeface="Arial"/>
              <a:buChar char="•"/>
            </a:pPr>
            <a:r>
              <a:rPr lang="en-US" sz="1374">
                <a:solidFill>
                  <a:srgbClr val="2B2B2B"/>
                </a:solidFill>
                <a:latin typeface="Calibri (MS)"/>
                <a:ea typeface="Calibri (MS)"/>
                <a:cs typeface="Calibri (MS)"/>
                <a:sym typeface="Calibri (MS)"/>
              </a:rPr>
              <a:t>Recommend long-term business strategies.</a:t>
            </a:r>
          </a:p>
        </p:txBody>
      </p:sp>
      <p:grpSp>
        <p:nvGrpSpPr>
          <p:cNvPr name="Group 44" id="44"/>
          <p:cNvGrpSpPr/>
          <p:nvPr/>
        </p:nvGrpSpPr>
        <p:grpSpPr>
          <a:xfrm rot="0">
            <a:off x="548640" y="4005072"/>
            <a:ext cx="17190263" cy="685800"/>
            <a:chOff x="0" y="0"/>
            <a:chExt cx="22920350" cy="914400"/>
          </a:xfrm>
        </p:grpSpPr>
        <p:sp>
          <p:nvSpPr>
            <p:cNvPr name="Freeform 45" id="45"/>
            <p:cNvSpPr/>
            <p:nvPr/>
          </p:nvSpPr>
          <p:spPr>
            <a:xfrm flipH="false" flipV="false" rot="0">
              <a:off x="0" y="0"/>
              <a:ext cx="22920325" cy="914400"/>
            </a:xfrm>
            <a:custGeom>
              <a:avLst/>
              <a:gdLst/>
              <a:ahLst/>
              <a:cxnLst/>
              <a:rect r="r" b="b" t="t" l="l"/>
              <a:pathLst>
                <a:path h="914400" w="22920325">
                  <a:moveTo>
                    <a:pt x="0" y="0"/>
                  </a:moveTo>
                  <a:lnTo>
                    <a:pt x="22920325" y="0"/>
                  </a:lnTo>
                  <a:lnTo>
                    <a:pt x="22920325" y="914400"/>
                  </a:lnTo>
                  <a:lnTo>
                    <a:pt x="0" y="914400"/>
                  </a:lnTo>
                  <a:close/>
                </a:path>
              </a:pathLst>
            </a:custGeom>
            <a:solidFill>
              <a:srgbClr val="F4EEFC"/>
            </a:solidFill>
          </p:spPr>
        </p:sp>
      </p:grpSp>
      <p:grpSp>
        <p:nvGrpSpPr>
          <p:cNvPr name="Group 46" id="46"/>
          <p:cNvGrpSpPr/>
          <p:nvPr/>
        </p:nvGrpSpPr>
        <p:grpSpPr>
          <a:xfrm rot="0">
            <a:off x="754380" y="4005072"/>
            <a:ext cx="16778783" cy="685800"/>
            <a:chOff x="0" y="0"/>
            <a:chExt cx="22371710" cy="914400"/>
          </a:xfrm>
        </p:grpSpPr>
        <p:sp>
          <p:nvSpPr>
            <p:cNvPr name="Freeform 47" id="47"/>
            <p:cNvSpPr/>
            <p:nvPr/>
          </p:nvSpPr>
          <p:spPr>
            <a:xfrm flipH="false" flipV="false" rot="0">
              <a:off x="0" y="0"/>
              <a:ext cx="22371710" cy="914400"/>
            </a:xfrm>
            <a:custGeom>
              <a:avLst/>
              <a:gdLst/>
              <a:ahLst/>
              <a:cxnLst/>
              <a:rect r="r" b="b" t="t" l="l"/>
              <a:pathLst>
                <a:path h="914400" w="22371710">
                  <a:moveTo>
                    <a:pt x="0" y="0"/>
                  </a:moveTo>
                  <a:lnTo>
                    <a:pt x="22371710" y="0"/>
                  </a:lnTo>
                  <a:lnTo>
                    <a:pt x="22371710" y="914400"/>
                  </a:lnTo>
                  <a:lnTo>
                    <a:pt x="0" y="914400"/>
                  </a:lnTo>
                  <a:close/>
                </a:path>
              </a:pathLst>
            </a:custGeom>
            <a:blipFill>
              <a:blip r:embed="rId2">
                <a:alphaModFix amt="0"/>
              </a:blip>
              <a:stretch>
                <a:fillRect l="0" t="-426720" r="0" b="-426720"/>
              </a:stretch>
            </a:blipFill>
          </p:spPr>
        </p:sp>
        <p:sp>
          <p:nvSpPr>
            <p:cNvPr name="TextBox 48" id="48"/>
            <p:cNvSpPr txBox="true"/>
            <p:nvPr/>
          </p:nvSpPr>
          <p:spPr>
            <a:xfrm>
              <a:off x="0" y="-38100"/>
              <a:ext cx="22371710" cy="952500"/>
            </a:xfrm>
            <a:prstGeom prst="rect">
              <a:avLst/>
            </a:prstGeom>
          </p:spPr>
          <p:txBody>
            <a:bodyPr anchor="ctr" rtlCol="false" tIns="0" lIns="0" bIns="0" rIns="0"/>
            <a:lstStyle/>
            <a:p>
              <a:pPr algn="l">
                <a:lnSpc>
                  <a:spcPts val="1859"/>
                </a:lnSpc>
              </a:pPr>
              <a:r>
                <a:rPr lang="en-US" b="true" sz="1549" i="true">
                  <a:solidFill>
                    <a:srgbClr val="2B2B2B"/>
                  </a:solidFill>
                  <a:latin typeface="Calibri (MS) Bold Italics"/>
                  <a:ea typeface="Calibri (MS) Bold Italics"/>
                  <a:cs typeface="Calibri (MS) Bold Italics"/>
                  <a:sym typeface="Calibri (MS) Bold Italics"/>
                </a:rPr>
                <a:t>Traditional business analysis often requires analysts to manually collect evidence from multiple systems before they can explain a change in performance. StoryLens AI automates this investigation by continuously gathering information, validating business signals, examining possible explanations, and transforming analytical findings into actionable narratives.</a:t>
              </a:r>
            </a:p>
          </p:txBody>
        </p:sp>
      </p:grpSp>
      <p:grpSp>
        <p:nvGrpSpPr>
          <p:cNvPr name="Group 49" id="49"/>
          <p:cNvGrpSpPr/>
          <p:nvPr/>
        </p:nvGrpSpPr>
        <p:grpSpPr>
          <a:xfrm rot="0">
            <a:off x="548640" y="4690872"/>
            <a:ext cx="8229600" cy="356616"/>
            <a:chOff x="0" y="0"/>
            <a:chExt cx="10972800" cy="475488"/>
          </a:xfrm>
        </p:grpSpPr>
        <p:sp>
          <p:nvSpPr>
            <p:cNvPr name="Freeform 50" id="50"/>
            <p:cNvSpPr/>
            <p:nvPr/>
          </p:nvSpPr>
          <p:spPr>
            <a:xfrm flipH="false" flipV="false" rot="0">
              <a:off x="0" y="0"/>
              <a:ext cx="10972800" cy="475488"/>
            </a:xfrm>
            <a:custGeom>
              <a:avLst/>
              <a:gdLst/>
              <a:ahLst/>
              <a:cxnLst/>
              <a:rect r="r" b="b" t="t" l="l"/>
              <a:pathLst>
                <a:path h="475488" w="10972800">
                  <a:moveTo>
                    <a:pt x="0" y="0"/>
                  </a:moveTo>
                  <a:lnTo>
                    <a:pt x="10972800" y="0"/>
                  </a:lnTo>
                  <a:lnTo>
                    <a:pt x="10972800" y="475488"/>
                  </a:lnTo>
                  <a:lnTo>
                    <a:pt x="0" y="475488"/>
                  </a:lnTo>
                  <a:close/>
                </a:path>
              </a:pathLst>
            </a:custGeom>
            <a:blipFill>
              <a:blip r:embed="rId2">
                <a:alphaModFix amt="0"/>
              </a:blip>
              <a:stretch>
                <a:fillRect l="0" t="-399654" r="0" b="-399654"/>
              </a:stretch>
            </a:blipFill>
          </p:spPr>
        </p:sp>
        <p:sp>
          <p:nvSpPr>
            <p:cNvPr name="TextBox 51" id="51"/>
            <p:cNvSpPr txBox="true"/>
            <p:nvPr/>
          </p:nvSpPr>
          <p:spPr>
            <a:xfrm>
              <a:off x="0" y="-47625"/>
              <a:ext cx="10972800" cy="523113"/>
            </a:xfrm>
            <a:prstGeom prst="rect">
              <a:avLst/>
            </a:prstGeom>
          </p:spPr>
          <p:txBody>
            <a:bodyPr anchor="ctr" rtlCol="false" tIns="0" lIns="0" bIns="0" rIns="0"/>
            <a:lstStyle/>
            <a:p>
              <a:pPr algn="l">
                <a:lnSpc>
                  <a:spcPts val="2340"/>
                </a:lnSpc>
              </a:pPr>
              <a:r>
                <a:rPr lang="en-US" sz="1950" b="true">
                  <a:solidFill>
                    <a:srgbClr val="6E2FA6"/>
                  </a:solidFill>
                  <a:latin typeface="Calibri (MS) Bold"/>
                  <a:ea typeface="Calibri (MS) Bold"/>
                  <a:cs typeface="Calibri (MS) Bold"/>
                  <a:sym typeface="Calibri (MS) Bold"/>
                </a:rPr>
                <a:t>CORE INVESTIGATION PRINCIPLES</a:t>
              </a:r>
            </a:p>
          </p:txBody>
        </p:sp>
      </p:grpSp>
      <p:sp>
        <p:nvSpPr>
          <p:cNvPr name="TextBox 52" id="52"/>
          <p:cNvSpPr txBox="true"/>
          <p:nvPr/>
        </p:nvSpPr>
        <p:spPr>
          <a:xfrm rot="0">
            <a:off x="548640" y="5091684"/>
            <a:ext cx="8229600" cy="476250"/>
          </a:xfrm>
          <a:prstGeom prst="rect">
            <a:avLst/>
          </a:prstGeom>
        </p:spPr>
        <p:txBody>
          <a:bodyPr anchor="t" rtlCol="false" tIns="0" lIns="0" bIns="0" rIns="0">
            <a:spAutoFit/>
          </a:bodyPr>
          <a:lstStyle/>
          <a:p>
            <a:pPr algn="l">
              <a:lnSpc>
                <a:spcPts val="1739"/>
              </a:lnSpc>
            </a:pPr>
            <a:r>
              <a:rPr lang="en-US" sz="1449" b="true">
                <a:solidFill>
                  <a:srgbClr val="4B1D75"/>
                </a:solidFill>
                <a:latin typeface="Calibri (MS) Bold"/>
                <a:ea typeface="Calibri (MS) Bold"/>
                <a:cs typeface="Calibri (MS) Bold"/>
                <a:sym typeface="Calibri (MS) Bold"/>
              </a:rPr>
              <a:t>Business Context:  </a:t>
            </a:r>
            <a:r>
              <a:rPr lang="en-US" sz="1449">
                <a:solidFill>
                  <a:srgbClr val="2B2B2B"/>
                </a:solidFill>
                <a:latin typeface="Calibri (MS)"/>
                <a:ea typeface="Calibri (MS)"/>
                <a:cs typeface="Calibri (MS)"/>
                <a:sym typeface="Calibri (MS)"/>
              </a:rPr>
              <a:t>A metric should never be analyzed in isolation. The surrounding operational, financial, and customer events must be examined together.</a:t>
            </a:r>
          </a:p>
        </p:txBody>
      </p:sp>
      <p:sp>
        <p:nvSpPr>
          <p:cNvPr name="TextBox 53" id="53"/>
          <p:cNvSpPr txBox="true"/>
          <p:nvPr/>
        </p:nvSpPr>
        <p:spPr>
          <a:xfrm rot="0">
            <a:off x="548640" y="5626608"/>
            <a:ext cx="8229600" cy="476250"/>
          </a:xfrm>
          <a:prstGeom prst="rect">
            <a:avLst/>
          </a:prstGeom>
        </p:spPr>
        <p:txBody>
          <a:bodyPr anchor="t" rtlCol="false" tIns="0" lIns="0" bIns="0" rIns="0">
            <a:spAutoFit/>
          </a:bodyPr>
          <a:lstStyle/>
          <a:p>
            <a:pPr algn="l">
              <a:lnSpc>
                <a:spcPts val="1739"/>
              </a:lnSpc>
            </a:pPr>
            <a:r>
              <a:rPr lang="en-US" sz="1449" b="true">
                <a:solidFill>
                  <a:srgbClr val="4B1D75"/>
                </a:solidFill>
                <a:latin typeface="Calibri (MS) Bold"/>
                <a:ea typeface="Calibri (MS) Bold"/>
                <a:cs typeface="Calibri (MS) Bold"/>
                <a:sym typeface="Calibri (MS) Bold"/>
              </a:rPr>
              <a:t>Information Integration:  </a:t>
            </a:r>
            <a:r>
              <a:rPr lang="en-US" sz="1449">
                <a:solidFill>
                  <a:srgbClr val="2B2B2B"/>
                </a:solidFill>
                <a:latin typeface="Calibri (MS)"/>
                <a:ea typeface="Calibri (MS)"/>
                <a:cs typeface="Calibri (MS)"/>
                <a:sym typeface="Calibri (MS)"/>
              </a:rPr>
              <a:t>Evidence should be collected from every available business source rather than from a single dashboard.</a:t>
            </a:r>
          </a:p>
        </p:txBody>
      </p:sp>
      <p:sp>
        <p:nvSpPr>
          <p:cNvPr name="TextBox 54" id="54"/>
          <p:cNvSpPr txBox="true"/>
          <p:nvPr/>
        </p:nvSpPr>
        <p:spPr>
          <a:xfrm rot="0">
            <a:off x="548640" y="6161532"/>
            <a:ext cx="8229600" cy="476250"/>
          </a:xfrm>
          <a:prstGeom prst="rect">
            <a:avLst/>
          </a:prstGeom>
        </p:spPr>
        <p:txBody>
          <a:bodyPr anchor="t" rtlCol="false" tIns="0" lIns="0" bIns="0" rIns="0">
            <a:spAutoFit/>
          </a:bodyPr>
          <a:lstStyle/>
          <a:p>
            <a:pPr algn="l">
              <a:lnSpc>
                <a:spcPts val="1739"/>
              </a:lnSpc>
            </a:pPr>
            <a:r>
              <a:rPr lang="en-US" sz="1449" b="true">
                <a:solidFill>
                  <a:srgbClr val="4B1D75"/>
                </a:solidFill>
                <a:latin typeface="Calibri (MS) Bold"/>
                <a:ea typeface="Calibri (MS) Bold"/>
                <a:cs typeface="Calibri (MS) Bold"/>
                <a:sym typeface="Calibri (MS) Bold"/>
              </a:rPr>
              <a:t>Multiple Possibilities:  </a:t>
            </a:r>
            <a:r>
              <a:rPr lang="en-US" sz="1449">
                <a:solidFill>
                  <a:srgbClr val="2B2B2B"/>
                </a:solidFill>
                <a:latin typeface="Calibri (MS)"/>
                <a:ea typeface="Calibri (MS)"/>
                <a:cs typeface="Calibri (MS)"/>
                <a:sym typeface="Calibri (MS)"/>
              </a:rPr>
              <a:t>Several explanations should be investigated simultaneously before conclusions are reached.</a:t>
            </a:r>
          </a:p>
        </p:txBody>
      </p:sp>
      <p:sp>
        <p:nvSpPr>
          <p:cNvPr name="TextBox 55" id="55"/>
          <p:cNvSpPr txBox="true"/>
          <p:nvPr/>
        </p:nvSpPr>
        <p:spPr>
          <a:xfrm rot="0">
            <a:off x="548640" y="6696456"/>
            <a:ext cx="8229600" cy="476250"/>
          </a:xfrm>
          <a:prstGeom prst="rect">
            <a:avLst/>
          </a:prstGeom>
        </p:spPr>
        <p:txBody>
          <a:bodyPr anchor="t" rtlCol="false" tIns="0" lIns="0" bIns="0" rIns="0">
            <a:spAutoFit/>
          </a:bodyPr>
          <a:lstStyle/>
          <a:p>
            <a:pPr algn="l">
              <a:lnSpc>
                <a:spcPts val="1739"/>
              </a:lnSpc>
            </a:pPr>
            <a:r>
              <a:rPr lang="en-US" sz="1449" b="true">
                <a:solidFill>
                  <a:srgbClr val="4B1D75"/>
                </a:solidFill>
                <a:latin typeface="Calibri (MS) Bold"/>
                <a:ea typeface="Calibri (MS) Bold"/>
                <a:cs typeface="Calibri (MS) Bold"/>
                <a:sym typeface="Calibri (MS) Bold"/>
              </a:rPr>
              <a:t>Transparent Reasoning:  </a:t>
            </a:r>
            <a:r>
              <a:rPr lang="en-US" sz="1449">
                <a:solidFill>
                  <a:srgbClr val="2B2B2B"/>
                </a:solidFill>
                <a:latin typeface="Calibri (MS)"/>
                <a:ea typeface="Calibri (MS)"/>
                <a:cs typeface="Calibri (MS)"/>
                <a:sym typeface="Calibri (MS)"/>
              </a:rPr>
              <a:t>Every finding should be supported by evidence that decision makers can review and verify.</a:t>
            </a:r>
          </a:p>
        </p:txBody>
      </p:sp>
      <p:sp>
        <p:nvSpPr>
          <p:cNvPr name="TextBox 56" id="56"/>
          <p:cNvSpPr txBox="true"/>
          <p:nvPr/>
        </p:nvSpPr>
        <p:spPr>
          <a:xfrm rot="0">
            <a:off x="548640" y="7231380"/>
            <a:ext cx="8229600" cy="476250"/>
          </a:xfrm>
          <a:prstGeom prst="rect">
            <a:avLst/>
          </a:prstGeom>
        </p:spPr>
        <p:txBody>
          <a:bodyPr anchor="t" rtlCol="false" tIns="0" lIns="0" bIns="0" rIns="0">
            <a:spAutoFit/>
          </a:bodyPr>
          <a:lstStyle/>
          <a:p>
            <a:pPr algn="l">
              <a:lnSpc>
                <a:spcPts val="1739"/>
              </a:lnSpc>
            </a:pPr>
            <a:r>
              <a:rPr lang="en-US" sz="1449" b="true">
                <a:solidFill>
                  <a:srgbClr val="4B1D75"/>
                </a:solidFill>
                <a:latin typeface="Calibri (MS) Bold"/>
                <a:ea typeface="Calibri (MS) Bold"/>
                <a:cs typeface="Calibri (MS) Bold"/>
                <a:sym typeface="Calibri (MS) Bold"/>
              </a:rPr>
              <a:t>Human Oversight:  </a:t>
            </a:r>
            <a:r>
              <a:rPr lang="en-US" sz="1449">
                <a:solidFill>
                  <a:srgbClr val="2B2B2B"/>
                </a:solidFill>
                <a:latin typeface="Calibri (MS)"/>
                <a:ea typeface="Calibri (MS)"/>
                <a:cs typeface="Calibri (MS)"/>
                <a:sym typeface="Calibri (MS)"/>
              </a:rPr>
              <a:t>When evidence is insufficient, the system should request additional investigation instead of forcing a conclusion.</a:t>
            </a:r>
          </a:p>
        </p:txBody>
      </p:sp>
      <p:grpSp>
        <p:nvGrpSpPr>
          <p:cNvPr name="Group 57" id="57"/>
          <p:cNvGrpSpPr/>
          <p:nvPr/>
        </p:nvGrpSpPr>
        <p:grpSpPr>
          <a:xfrm rot="0">
            <a:off x="9395460" y="4690872"/>
            <a:ext cx="8343443" cy="356616"/>
            <a:chOff x="0" y="0"/>
            <a:chExt cx="11124590" cy="475488"/>
          </a:xfrm>
        </p:grpSpPr>
        <p:sp>
          <p:nvSpPr>
            <p:cNvPr name="Freeform 58" id="58"/>
            <p:cNvSpPr/>
            <p:nvPr/>
          </p:nvSpPr>
          <p:spPr>
            <a:xfrm flipH="false" flipV="false" rot="0">
              <a:off x="0" y="0"/>
              <a:ext cx="11124590" cy="475488"/>
            </a:xfrm>
            <a:custGeom>
              <a:avLst/>
              <a:gdLst/>
              <a:ahLst/>
              <a:cxnLst/>
              <a:rect r="r" b="b" t="t" l="l"/>
              <a:pathLst>
                <a:path h="475488" w="11124590">
                  <a:moveTo>
                    <a:pt x="0" y="0"/>
                  </a:moveTo>
                  <a:lnTo>
                    <a:pt x="11124590" y="0"/>
                  </a:lnTo>
                  <a:lnTo>
                    <a:pt x="11124590" y="475488"/>
                  </a:lnTo>
                  <a:lnTo>
                    <a:pt x="0" y="475488"/>
                  </a:lnTo>
                  <a:close/>
                </a:path>
              </a:pathLst>
            </a:custGeom>
            <a:blipFill>
              <a:blip r:embed="rId2">
                <a:alphaModFix amt="0"/>
              </a:blip>
              <a:stretch>
                <a:fillRect l="0" t="-405874" r="0" b="-405874"/>
              </a:stretch>
            </a:blipFill>
          </p:spPr>
        </p:sp>
        <p:sp>
          <p:nvSpPr>
            <p:cNvPr name="TextBox 59" id="59"/>
            <p:cNvSpPr txBox="true"/>
            <p:nvPr/>
          </p:nvSpPr>
          <p:spPr>
            <a:xfrm>
              <a:off x="0" y="-47625"/>
              <a:ext cx="11124590" cy="523113"/>
            </a:xfrm>
            <a:prstGeom prst="rect">
              <a:avLst/>
            </a:prstGeom>
          </p:spPr>
          <p:txBody>
            <a:bodyPr anchor="ctr" rtlCol="false" tIns="0" lIns="0" bIns="0" rIns="0"/>
            <a:lstStyle/>
            <a:p>
              <a:pPr algn="l">
                <a:lnSpc>
                  <a:spcPts val="2340"/>
                </a:lnSpc>
              </a:pPr>
              <a:r>
                <a:rPr lang="en-US" sz="1950" b="true">
                  <a:solidFill>
                    <a:srgbClr val="6E2FA6"/>
                  </a:solidFill>
                  <a:latin typeface="Calibri (MS) Bold"/>
                  <a:ea typeface="Calibri (MS) Bold"/>
                  <a:cs typeface="Calibri (MS) Bold"/>
                  <a:sym typeface="Calibri (MS) Bold"/>
                </a:rPr>
                <a:t>HOW STORYLENS AI HANDLES UNCERTAINTY</a:t>
              </a:r>
            </a:p>
          </p:txBody>
        </p:sp>
      </p:grpSp>
      <p:grpSp>
        <p:nvGrpSpPr>
          <p:cNvPr name="Group 60" id="60"/>
          <p:cNvGrpSpPr/>
          <p:nvPr/>
        </p:nvGrpSpPr>
        <p:grpSpPr>
          <a:xfrm rot="0">
            <a:off x="9376410" y="5138166"/>
            <a:ext cx="1478280" cy="1478280"/>
            <a:chOff x="0" y="0"/>
            <a:chExt cx="1971040" cy="1971040"/>
          </a:xfrm>
        </p:grpSpPr>
        <p:sp>
          <p:nvSpPr>
            <p:cNvPr name="Freeform 61" id="61"/>
            <p:cNvSpPr/>
            <p:nvPr/>
          </p:nvSpPr>
          <p:spPr>
            <a:xfrm flipH="false" flipV="false" rot="0">
              <a:off x="0" y="0"/>
              <a:ext cx="1971040" cy="1971040"/>
            </a:xfrm>
            <a:custGeom>
              <a:avLst/>
              <a:gdLst/>
              <a:ahLst/>
              <a:cxnLst/>
              <a:rect r="r" b="b" t="t" l="l"/>
              <a:pathLst>
                <a:path h="1971040" w="1971040">
                  <a:moveTo>
                    <a:pt x="0" y="985520"/>
                  </a:moveTo>
                  <a:cubicBezTo>
                    <a:pt x="0" y="441198"/>
                    <a:pt x="441198" y="0"/>
                    <a:pt x="985520" y="0"/>
                  </a:cubicBezTo>
                  <a:cubicBezTo>
                    <a:pt x="1529842" y="0"/>
                    <a:pt x="1971040" y="441198"/>
                    <a:pt x="1971040" y="985520"/>
                  </a:cubicBezTo>
                  <a:cubicBezTo>
                    <a:pt x="1971040" y="1529842"/>
                    <a:pt x="1529842" y="1971040"/>
                    <a:pt x="985520" y="1971040"/>
                  </a:cubicBezTo>
                  <a:cubicBezTo>
                    <a:pt x="441198" y="1971040"/>
                    <a:pt x="0" y="1529842"/>
                    <a:pt x="0" y="985520"/>
                  </a:cubicBezTo>
                  <a:close/>
                </a:path>
              </a:pathLst>
            </a:custGeom>
            <a:solidFill>
              <a:srgbClr val="F4EEFC"/>
            </a:solidFill>
            <a:ln w="38100" cap="sq">
              <a:solidFill>
                <a:srgbClr val="6E2FA6"/>
              </a:solidFill>
              <a:prstDash val="solid"/>
              <a:miter/>
            </a:ln>
          </p:spPr>
        </p:sp>
      </p:grpSp>
      <p:grpSp>
        <p:nvGrpSpPr>
          <p:cNvPr name="Group 62" id="62"/>
          <p:cNvGrpSpPr/>
          <p:nvPr/>
        </p:nvGrpSpPr>
        <p:grpSpPr>
          <a:xfrm rot="0">
            <a:off x="9395460" y="5157216"/>
            <a:ext cx="1440180" cy="1440180"/>
            <a:chOff x="0" y="0"/>
            <a:chExt cx="1920240" cy="1920240"/>
          </a:xfrm>
        </p:grpSpPr>
        <p:sp>
          <p:nvSpPr>
            <p:cNvPr name="Freeform 63" id="63"/>
            <p:cNvSpPr/>
            <p:nvPr/>
          </p:nvSpPr>
          <p:spPr>
            <a:xfrm flipH="false" flipV="false" rot="0">
              <a:off x="0" y="0"/>
              <a:ext cx="1920240" cy="1920240"/>
            </a:xfrm>
            <a:custGeom>
              <a:avLst/>
              <a:gdLst/>
              <a:ahLst/>
              <a:cxnLst/>
              <a:rect r="r" b="b" t="t" l="l"/>
              <a:pathLst>
                <a:path h="1920240" w="1920240">
                  <a:moveTo>
                    <a:pt x="0" y="0"/>
                  </a:moveTo>
                  <a:lnTo>
                    <a:pt x="1920240" y="0"/>
                  </a:lnTo>
                  <a:lnTo>
                    <a:pt x="1920240" y="1920240"/>
                  </a:lnTo>
                  <a:lnTo>
                    <a:pt x="0" y="1920240"/>
                  </a:lnTo>
                  <a:close/>
                </a:path>
              </a:pathLst>
            </a:custGeom>
            <a:blipFill>
              <a:blip r:embed="rId2">
                <a:alphaModFix amt="0"/>
              </a:blip>
              <a:stretch>
                <a:fillRect l="-78303" t="0" r="-78303" b="0"/>
              </a:stretch>
            </a:blipFill>
          </p:spPr>
        </p:sp>
        <p:sp>
          <p:nvSpPr>
            <p:cNvPr name="TextBox 64" id="64"/>
            <p:cNvSpPr txBox="true"/>
            <p:nvPr/>
          </p:nvSpPr>
          <p:spPr>
            <a:xfrm>
              <a:off x="0" y="-66675"/>
              <a:ext cx="1920240" cy="1986915"/>
            </a:xfrm>
            <a:prstGeom prst="rect">
              <a:avLst/>
            </a:prstGeom>
          </p:spPr>
          <p:txBody>
            <a:bodyPr anchor="ctr" rtlCol="false" tIns="0" lIns="0" bIns="0" rIns="0"/>
            <a:lstStyle/>
            <a:p>
              <a:pPr algn="ctr">
                <a:lnSpc>
                  <a:spcPts val="3600"/>
                </a:lnSpc>
              </a:pPr>
              <a:r>
                <a:rPr lang="en-US" sz="3000" b="true">
                  <a:solidFill>
                    <a:srgbClr val="4B1D75"/>
                  </a:solidFill>
                  <a:latin typeface="Calibri (MS) Bold"/>
                  <a:ea typeface="Calibri (MS) Bold"/>
                  <a:cs typeface="Calibri (MS) Bold"/>
                  <a:sym typeface="Calibri (MS) Bold"/>
                </a:rPr>
                <a:t>82%</a:t>
              </a:r>
            </a:p>
          </p:txBody>
        </p:sp>
      </p:grpSp>
      <p:sp>
        <p:nvSpPr>
          <p:cNvPr name="TextBox 65" id="65"/>
          <p:cNvSpPr txBox="true"/>
          <p:nvPr/>
        </p:nvSpPr>
        <p:spPr>
          <a:xfrm rot="0">
            <a:off x="9189720" y="6651117"/>
            <a:ext cx="1851660" cy="419100"/>
          </a:xfrm>
          <a:prstGeom prst="rect">
            <a:avLst/>
          </a:prstGeom>
        </p:spPr>
        <p:txBody>
          <a:bodyPr anchor="t" rtlCol="false" tIns="0" lIns="0" bIns="0" rIns="0">
            <a:spAutoFit/>
          </a:bodyPr>
          <a:lstStyle/>
          <a:p>
            <a:pPr algn="ctr">
              <a:lnSpc>
                <a:spcPts val="1649"/>
              </a:lnSpc>
            </a:pPr>
            <a:r>
              <a:rPr lang="en-US" sz="1374" b="true">
                <a:solidFill>
                  <a:srgbClr val="2B2B2B"/>
                </a:solidFill>
                <a:latin typeface="Calibri (MS) Bold"/>
                <a:ea typeface="Calibri (MS) Bold"/>
                <a:cs typeface="Calibri (MS) Bold"/>
                <a:sym typeface="Calibri (MS) Bold"/>
              </a:rPr>
              <a:t>Supplier disruptions</a:t>
            </a:r>
          </a:p>
          <a:p>
            <a:pPr algn="ctr">
              <a:lnSpc>
                <a:spcPts val="1559"/>
              </a:lnSpc>
            </a:pPr>
            <a:r>
              <a:rPr lang="en-US" sz="1299" i="true">
                <a:solidFill>
                  <a:srgbClr val="5A5A5A"/>
                </a:solidFill>
                <a:latin typeface="Calibri (MS) Italics"/>
                <a:ea typeface="Calibri (MS) Italics"/>
                <a:cs typeface="Calibri (MS) Italics"/>
                <a:sym typeface="Calibri (MS) Italics"/>
              </a:rPr>
              <a:t>Most likely explanation</a:t>
            </a:r>
          </a:p>
        </p:txBody>
      </p:sp>
      <p:grpSp>
        <p:nvGrpSpPr>
          <p:cNvPr name="Group 66" id="66"/>
          <p:cNvGrpSpPr/>
          <p:nvPr/>
        </p:nvGrpSpPr>
        <p:grpSpPr>
          <a:xfrm rot="0">
            <a:off x="12828041" y="5138166"/>
            <a:ext cx="1478280" cy="1478280"/>
            <a:chOff x="0" y="0"/>
            <a:chExt cx="1971040" cy="1971040"/>
          </a:xfrm>
        </p:grpSpPr>
        <p:sp>
          <p:nvSpPr>
            <p:cNvPr name="Freeform 67" id="67"/>
            <p:cNvSpPr/>
            <p:nvPr/>
          </p:nvSpPr>
          <p:spPr>
            <a:xfrm flipH="false" flipV="false" rot="0">
              <a:off x="0" y="0"/>
              <a:ext cx="1971040" cy="1971040"/>
            </a:xfrm>
            <a:custGeom>
              <a:avLst/>
              <a:gdLst/>
              <a:ahLst/>
              <a:cxnLst/>
              <a:rect r="r" b="b" t="t" l="l"/>
              <a:pathLst>
                <a:path h="1971040" w="1971040">
                  <a:moveTo>
                    <a:pt x="0" y="985520"/>
                  </a:moveTo>
                  <a:cubicBezTo>
                    <a:pt x="0" y="441198"/>
                    <a:pt x="441198" y="0"/>
                    <a:pt x="985520" y="0"/>
                  </a:cubicBezTo>
                  <a:cubicBezTo>
                    <a:pt x="1529842" y="0"/>
                    <a:pt x="1971040" y="441198"/>
                    <a:pt x="1971040" y="985520"/>
                  </a:cubicBezTo>
                  <a:cubicBezTo>
                    <a:pt x="1971040" y="1529842"/>
                    <a:pt x="1529842" y="1971040"/>
                    <a:pt x="985520" y="1971040"/>
                  </a:cubicBezTo>
                  <a:cubicBezTo>
                    <a:pt x="441198" y="1971040"/>
                    <a:pt x="0" y="1529842"/>
                    <a:pt x="0" y="985520"/>
                  </a:cubicBezTo>
                  <a:close/>
                </a:path>
              </a:pathLst>
            </a:custGeom>
            <a:solidFill>
              <a:srgbClr val="F4EEFC"/>
            </a:solidFill>
            <a:ln w="38100" cap="sq">
              <a:solidFill>
                <a:srgbClr val="6E2FA6"/>
              </a:solidFill>
              <a:prstDash val="solid"/>
              <a:miter/>
            </a:ln>
          </p:spPr>
        </p:sp>
      </p:grpSp>
      <p:grpSp>
        <p:nvGrpSpPr>
          <p:cNvPr name="Group 68" id="68"/>
          <p:cNvGrpSpPr/>
          <p:nvPr/>
        </p:nvGrpSpPr>
        <p:grpSpPr>
          <a:xfrm rot="0">
            <a:off x="12847091" y="5157216"/>
            <a:ext cx="1440180" cy="1440180"/>
            <a:chOff x="0" y="0"/>
            <a:chExt cx="1920240" cy="1920240"/>
          </a:xfrm>
        </p:grpSpPr>
        <p:sp>
          <p:nvSpPr>
            <p:cNvPr name="Freeform 69" id="69"/>
            <p:cNvSpPr/>
            <p:nvPr/>
          </p:nvSpPr>
          <p:spPr>
            <a:xfrm flipH="false" flipV="false" rot="0">
              <a:off x="0" y="0"/>
              <a:ext cx="1920240" cy="1920240"/>
            </a:xfrm>
            <a:custGeom>
              <a:avLst/>
              <a:gdLst/>
              <a:ahLst/>
              <a:cxnLst/>
              <a:rect r="r" b="b" t="t" l="l"/>
              <a:pathLst>
                <a:path h="1920240" w="1920240">
                  <a:moveTo>
                    <a:pt x="0" y="0"/>
                  </a:moveTo>
                  <a:lnTo>
                    <a:pt x="1920240" y="0"/>
                  </a:lnTo>
                  <a:lnTo>
                    <a:pt x="1920240" y="1920240"/>
                  </a:lnTo>
                  <a:lnTo>
                    <a:pt x="0" y="1920240"/>
                  </a:lnTo>
                  <a:close/>
                </a:path>
              </a:pathLst>
            </a:custGeom>
            <a:blipFill>
              <a:blip r:embed="rId2">
                <a:alphaModFix amt="0"/>
              </a:blip>
              <a:stretch>
                <a:fillRect l="-78303" t="0" r="-78303" b="0"/>
              </a:stretch>
            </a:blipFill>
          </p:spPr>
        </p:sp>
        <p:sp>
          <p:nvSpPr>
            <p:cNvPr name="TextBox 70" id="70"/>
            <p:cNvSpPr txBox="true"/>
            <p:nvPr/>
          </p:nvSpPr>
          <p:spPr>
            <a:xfrm>
              <a:off x="0" y="-66675"/>
              <a:ext cx="1920240" cy="1986915"/>
            </a:xfrm>
            <a:prstGeom prst="rect">
              <a:avLst/>
            </a:prstGeom>
          </p:spPr>
          <p:txBody>
            <a:bodyPr anchor="ctr" rtlCol="false" tIns="0" lIns="0" bIns="0" rIns="0"/>
            <a:lstStyle/>
            <a:p>
              <a:pPr algn="ctr">
                <a:lnSpc>
                  <a:spcPts val="3600"/>
                </a:lnSpc>
              </a:pPr>
              <a:r>
                <a:rPr lang="en-US" sz="3000" b="true">
                  <a:solidFill>
                    <a:srgbClr val="4B1D75"/>
                  </a:solidFill>
                  <a:latin typeface="Calibri (MS) Bold"/>
                  <a:ea typeface="Calibri (MS) Bold"/>
                  <a:cs typeface="Calibri (MS) Bold"/>
                  <a:sym typeface="Calibri (MS) Bold"/>
                </a:rPr>
                <a:t>67%</a:t>
              </a:r>
            </a:p>
          </p:txBody>
        </p:sp>
      </p:grpSp>
      <p:sp>
        <p:nvSpPr>
          <p:cNvPr name="TextBox 71" id="71"/>
          <p:cNvSpPr txBox="true"/>
          <p:nvPr/>
        </p:nvSpPr>
        <p:spPr>
          <a:xfrm rot="0">
            <a:off x="12641351" y="6651117"/>
            <a:ext cx="1851660" cy="419100"/>
          </a:xfrm>
          <a:prstGeom prst="rect">
            <a:avLst/>
          </a:prstGeom>
        </p:spPr>
        <p:txBody>
          <a:bodyPr anchor="t" rtlCol="false" tIns="0" lIns="0" bIns="0" rIns="0">
            <a:spAutoFit/>
          </a:bodyPr>
          <a:lstStyle/>
          <a:p>
            <a:pPr algn="ctr">
              <a:lnSpc>
                <a:spcPts val="1649"/>
              </a:lnSpc>
            </a:pPr>
            <a:r>
              <a:rPr lang="en-US" sz="1374" b="true">
                <a:solidFill>
                  <a:srgbClr val="2B2B2B"/>
                </a:solidFill>
                <a:latin typeface="Calibri (MS) Bold"/>
                <a:ea typeface="Calibri (MS) Bold"/>
                <a:cs typeface="Calibri (MS) Bold"/>
                <a:sym typeface="Calibri (MS) Bold"/>
              </a:rPr>
              <a:t>Customer dissatisfaction</a:t>
            </a:r>
          </a:p>
          <a:p>
            <a:pPr algn="ctr">
              <a:lnSpc>
                <a:spcPts val="1559"/>
              </a:lnSpc>
            </a:pPr>
            <a:r>
              <a:rPr lang="en-US" sz="1299" i="true">
                <a:solidFill>
                  <a:srgbClr val="5A5A5A"/>
                </a:solidFill>
                <a:latin typeface="Calibri (MS) Italics"/>
                <a:ea typeface="Calibri (MS) Italics"/>
                <a:cs typeface="Calibri (MS) Italics"/>
                <a:sym typeface="Calibri (MS) Italics"/>
              </a:rPr>
              <a:t>Secondary explanation</a:t>
            </a:r>
          </a:p>
        </p:txBody>
      </p:sp>
      <p:grpSp>
        <p:nvGrpSpPr>
          <p:cNvPr name="Group 72" id="72"/>
          <p:cNvGrpSpPr/>
          <p:nvPr/>
        </p:nvGrpSpPr>
        <p:grpSpPr>
          <a:xfrm rot="0">
            <a:off x="16279673" y="5138166"/>
            <a:ext cx="1478280" cy="1478280"/>
            <a:chOff x="0" y="0"/>
            <a:chExt cx="1971040" cy="1971040"/>
          </a:xfrm>
        </p:grpSpPr>
        <p:sp>
          <p:nvSpPr>
            <p:cNvPr name="Freeform 73" id="73"/>
            <p:cNvSpPr/>
            <p:nvPr/>
          </p:nvSpPr>
          <p:spPr>
            <a:xfrm flipH="false" flipV="false" rot="0">
              <a:off x="0" y="0"/>
              <a:ext cx="1971040" cy="1971040"/>
            </a:xfrm>
            <a:custGeom>
              <a:avLst/>
              <a:gdLst/>
              <a:ahLst/>
              <a:cxnLst/>
              <a:rect r="r" b="b" t="t" l="l"/>
              <a:pathLst>
                <a:path h="1971040" w="1971040">
                  <a:moveTo>
                    <a:pt x="0" y="985520"/>
                  </a:moveTo>
                  <a:cubicBezTo>
                    <a:pt x="0" y="441198"/>
                    <a:pt x="441198" y="0"/>
                    <a:pt x="985520" y="0"/>
                  </a:cubicBezTo>
                  <a:cubicBezTo>
                    <a:pt x="1529842" y="0"/>
                    <a:pt x="1971040" y="441198"/>
                    <a:pt x="1971040" y="985520"/>
                  </a:cubicBezTo>
                  <a:cubicBezTo>
                    <a:pt x="1971040" y="1529842"/>
                    <a:pt x="1529842" y="1971040"/>
                    <a:pt x="985520" y="1971040"/>
                  </a:cubicBezTo>
                  <a:cubicBezTo>
                    <a:pt x="441198" y="1971040"/>
                    <a:pt x="0" y="1529842"/>
                    <a:pt x="0" y="985520"/>
                  </a:cubicBezTo>
                  <a:close/>
                </a:path>
              </a:pathLst>
            </a:custGeom>
            <a:solidFill>
              <a:srgbClr val="F4EEFC"/>
            </a:solidFill>
            <a:ln w="38100" cap="sq">
              <a:solidFill>
                <a:srgbClr val="6E2FA6"/>
              </a:solidFill>
              <a:prstDash val="solid"/>
              <a:miter/>
            </a:ln>
          </p:spPr>
        </p:sp>
      </p:grpSp>
      <p:grpSp>
        <p:nvGrpSpPr>
          <p:cNvPr name="Group 74" id="74"/>
          <p:cNvGrpSpPr/>
          <p:nvPr/>
        </p:nvGrpSpPr>
        <p:grpSpPr>
          <a:xfrm rot="0">
            <a:off x="16298723" y="5157216"/>
            <a:ext cx="1440180" cy="1440180"/>
            <a:chOff x="0" y="0"/>
            <a:chExt cx="1920240" cy="1920240"/>
          </a:xfrm>
        </p:grpSpPr>
        <p:sp>
          <p:nvSpPr>
            <p:cNvPr name="Freeform 75" id="75"/>
            <p:cNvSpPr/>
            <p:nvPr/>
          </p:nvSpPr>
          <p:spPr>
            <a:xfrm flipH="false" flipV="false" rot="0">
              <a:off x="0" y="0"/>
              <a:ext cx="1920240" cy="1920240"/>
            </a:xfrm>
            <a:custGeom>
              <a:avLst/>
              <a:gdLst/>
              <a:ahLst/>
              <a:cxnLst/>
              <a:rect r="r" b="b" t="t" l="l"/>
              <a:pathLst>
                <a:path h="1920240" w="1920240">
                  <a:moveTo>
                    <a:pt x="0" y="0"/>
                  </a:moveTo>
                  <a:lnTo>
                    <a:pt x="1920240" y="0"/>
                  </a:lnTo>
                  <a:lnTo>
                    <a:pt x="1920240" y="1920240"/>
                  </a:lnTo>
                  <a:lnTo>
                    <a:pt x="0" y="1920240"/>
                  </a:lnTo>
                  <a:close/>
                </a:path>
              </a:pathLst>
            </a:custGeom>
            <a:blipFill>
              <a:blip r:embed="rId2">
                <a:alphaModFix amt="0"/>
              </a:blip>
              <a:stretch>
                <a:fillRect l="-78303" t="0" r="-78303" b="0"/>
              </a:stretch>
            </a:blipFill>
          </p:spPr>
        </p:sp>
        <p:sp>
          <p:nvSpPr>
            <p:cNvPr name="TextBox 76" id="76"/>
            <p:cNvSpPr txBox="true"/>
            <p:nvPr/>
          </p:nvSpPr>
          <p:spPr>
            <a:xfrm>
              <a:off x="0" y="-66675"/>
              <a:ext cx="1920240" cy="1986915"/>
            </a:xfrm>
            <a:prstGeom prst="rect">
              <a:avLst/>
            </a:prstGeom>
          </p:spPr>
          <p:txBody>
            <a:bodyPr anchor="ctr" rtlCol="false" tIns="0" lIns="0" bIns="0" rIns="0"/>
            <a:lstStyle/>
            <a:p>
              <a:pPr algn="ctr">
                <a:lnSpc>
                  <a:spcPts val="3600"/>
                </a:lnSpc>
              </a:pPr>
              <a:r>
                <a:rPr lang="en-US" sz="3000" b="true">
                  <a:solidFill>
                    <a:srgbClr val="4B1D75"/>
                  </a:solidFill>
                  <a:latin typeface="Calibri (MS) Bold"/>
                  <a:ea typeface="Calibri (MS) Bold"/>
                  <a:cs typeface="Calibri (MS) Bold"/>
                  <a:sym typeface="Calibri (MS) Bold"/>
                </a:rPr>
                <a:t>51%</a:t>
              </a:r>
            </a:p>
          </p:txBody>
        </p:sp>
      </p:grpSp>
      <p:sp>
        <p:nvSpPr>
          <p:cNvPr name="TextBox 77" id="77"/>
          <p:cNvSpPr txBox="true"/>
          <p:nvPr/>
        </p:nvSpPr>
        <p:spPr>
          <a:xfrm rot="0">
            <a:off x="16092983" y="6651117"/>
            <a:ext cx="1851660" cy="419100"/>
          </a:xfrm>
          <a:prstGeom prst="rect">
            <a:avLst/>
          </a:prstGeom>
        </p:spPr>
        <p:txBody>
          <a:bodyPr anchor="t" rtlCol="false" tIns="0" lIns="0" bIns="0" rIns="0">
            <a:spAutoFit/>
          </a:bodyPr>
          <a:lstStyle/>
          <a:p>
            <a:pPr algn="ctr">
              <a:lnSpc>
                <a:spcPts val="1649"/>
              </a:lnSpc>
            </a:pPr>
            <a:r>
              <a:rPr lang="en-US" sz="1374" b="true">
                <a:solidFill>
                  <a:srgbClr val="2B2B2B"/>
                </a:solidFill>
                <a:latin typeface="Calibri (MS) Bold"/>
                <a:ea typeface="Calibri (MS) Bold"/>
                <a:cs typeface="Calibri (MS) Bold"/>
                <a:sym typeface="Calibri (MS) Bold"/>
              </a:rPr>
              <a:t>Competitive pressure</a:t>
            </a:r>
          </a:p>
          <a:p>
            <a:pPr algn="ctr">
              <a:lnSpc>
                <a:spcPts val="1559"/>
              </a:lnSpc>
            </a:pPr>
            <a:r>
              <a:rPr lang="en-US" sz="1299" i="true">
                <a:solidFill>
                  <a:srgbClr val="5A5A5A"/>
                </a:solidFill>
                <a:latin typeface="Calibri (MS) Italics"/>
                <a:ea typeface="Calibri (MS) Italics"/>
                <a:cs typeface="Calibri (MS) Italics"/>
                <a:sym typeface="Calibri (MS) Italics"/>
              </a:rPr>
              <a:t>Alternative explanation</a:t>
            </a:r>
          </a:p>
        </p:txBody>
      </p:sp>
      <p:sp>
        <p:nvSpPr>
          <p:cNvPr name="TextBox 78" id="78"/>
          <p:cNvSpPr txBox="true"/>
          <p:nvPr/>
        </p:nvSpPr>
        <p:spPr>
          <a:xfrm rot="0">
            <a:off x="9395460" y="7231380"/>
            <a:ext cx="8343443" cy="490804"/>
          </a:xfrm>
          <a:prstGeom prst="rect">
            <a:avLst/>
          </a:prstGeom>
        </p:spPr>
        <p:txBody>
          <a:bodyPr anchor="t" rtlCol="false" tIns="0" lIns="0" bIns="0" rIns="0">
            <a:spAutoFit/>
          </a:bodyPr>
          <a:lstStyle/>
          <a:p>
            <a:pPr algn="l">
              <a:lnSpc>
                <a:spcPts val="1805"/>
              </a:lnSpc>
            </a:pPr>
            <a:r>
              <a:rPr lang="en-US" sz="1474">
                <a:solidFill>
                  <a:srgbClr val="2B2B2B"/>
                </a:solidFill>
                <a:latin typeface="Calibri (MS)"/>
                <a:ea typeface="Calibri (MS)"/>
                <a:cs typeface="Calibri (MS)"/>
                <a:sym typeface="Calibri (MS)"/>
              </a:rPr>
              <a:t>Business events rarely have a single cause. StoryLens AI evaluates several possibilities and communicates the relative strength of each explanation. This approach prevents uncertainty from being presented as certainty.</a:t>
            </a:r>
          </a:p>
        </p:txBody>
      </p:sp>
      <p:grpSp>
        <p:nvGrpSpPr>
          <p:cNvPr name="Group 79" id="79"/>
          <p:cNvGrpSpPr/>
          <p:nvPr/>
        </p:nvGrpSpPr>
        <p:grpSpPr>
          <a:xfrm rot="0">
            <a:off x="548640" y="8023860"/>
            <a:ext cx="8503920" cy="2162937"/>
            <a:chOff x="0" y="0"/>
            <a:chExt cx="11338560" cy="2883916"/>
          </a:xfrm>
        </p:grpSpPr>
        <p:sp>
          <p:nvSpPr>
            <p:cNvPr name="Freeform 80" id="80"/>
            <p:cNvSpPr/>
            <p:nvPr/>
          </p:nvSpPr>
          <p:spPr>
            <a:xfrm flipH="false" flipV="false" rot="0">
              <a:off x="0" y="0"/>
              <a:ext cx="11338560" cy="2883916"/>
            </a:xfrm>
            <a:custGeom>
              <a:avLst/>
              <a:gdLst/>
              <a:ahLst/>
              <a:cxnLst/>
              <a:rect r="r" b="b" t="t" l="l"/>
              <a:pathLst>
                <a:path h="2883916" w="11338560">
                  <a:moveTo>
                    <a:pt x="0" y="0"/>
                  </a:moveTo>
                  <a:lnTo>
                    <a:pt x="11338560" y="0"/>
                  </a:lnTo>
                  <a:lnTo>
                    <a:pt x="11338560" y="2883916"/>
                  </a:lnTo>
                  <a:lnTo>
                    <a:pt x="0" y="2883916"/>
                  </a:lnTo>
                  <a:close/>
                </a:path>
              </a:pathLst>
            </a:custGeom>
            <a:solidFill>
              <a:srgbClr val="6E2FA6"/>
            </a:solidFill>
          </p:spPr>
        </p:sp>
      </p:grpSp>
      <p:sp>
        <p:nvSpPr>
          <p:cNvPr name="TextBox 81" id="81"/>
          <p:cNvSpPr txBox="true"/>
          <p:nvPr/>
        </p:nvSpPr>
        <p:spPr>
          <a:xfrm rot="0">
            <a:off x="754380" y="8081772"/>
            <a:ext cx="8092440" cy="304800"/>
          </a:xfrm>
          <a:prstGeom prst="rect">
            <a:avLst/>
          </a:prstGeom>
        </p:spPr>
        <p:txBody>
          <a:bodyPr anchor="t" rtlCol="false" tIns="0" lIns="0" bIns="0" rIns="0">
            <a:spAutoFit/>
          </a:bodyPr>
          <a:lstStyle/>
          <a:p>
            <a:pPr algn="l">
              <a:lnSpc>
                <a:spcPts val="2129"/>
              </a:lnSpc>
            </a:pPr>
            <a:r>
              <a:rPr lang="en-US" b="true" sz="1774" u="sng">
                <a:solidFill>
                  <a:srgbClr val="FFFFFF"/>
                </a:solidFill>
                <a:latin typeface="Calibri (MS) Bold"/>
                <a:ea typeface="Calibri (MS) Bold"/>
                <a:cs typeface="Calibri (MS) Bold"/>
                <a:sym typeface="Calibri (MS) Bold"/>
              </a:rPr>
              <a:t>WHAT MAKES STORYLENS AI DIFFERENT</a:t>
            </a:r>
          </a:p>
        </p:txBody>
      </p:sp>
      <p:sp>
        <p:nvSpPr>
          <p:cNvPr name="TextBox 82" id="82"/>
          <p:cNvSpPr txBox="true"/>
          <p:nvPr/>
        </p:nvSpPr>
        <p:spPr>
          <a:xfrm rot="0">
            <a:off x="754380" y="8416290"/>
            <a:ext cx="8092440" cy="226924"/>
          </a:xfrm>
          <a:prstGeom prst="rect">
            <a:avLst/>
          </a:prstGeom>
        </p:spPr>
        <p:txBody>
          <a:bodyPr anchor="t" rtlCol="false" tIns="0" lIns="0" bIns="0" rIns="0">
            <a:spAutoFit/>
          </a:bodyPr>
          <a:lstStyle/>
          <a:p>
            <a:pPr algn="l">
              <a:lnSpc>
                <a:spcPts val="1573"/>
              </a:lnSpc>
            </a:pPr>
            <a:r>
              <a:rPr lang="en-US" sz="1424" b="true">
                <a:solidFill>
                  <a:srgbClr val="FFFFFF"/>
                </a:solidFill>
                <a:latin typeface="Calibri (MS) Bold"/>
                <a:ea typeface="Calibri (MS) Bold"/>
                <a:cs typeface="Calibri (MS) Bold"/>
                <a:sym typeface="Calibri (MS) Bold"/>
              </a:rPr>
              <a:t>Evidence-based explanations:  </a:t>
            </a:r>
            <a:r>
              <a:rPr lang="en-US" sz="1424">
                <a:solidFill>
                  <a:srgbClr val="EAE0F7"/>
                </a:solidFill>
                <a:latin typeface="Calibri (MS)"/>
                <a:ea typeface="Calibri (MS)"/>
                <a:cs typeface="Calibri (MS)"/>
                <a:sym typeface="Calibri (MS)"/>
              </a:rPr>
              <a:t>Every conclusion is supported by verifiable evidence.</a:t>
            </a:r>
          </a:p>
        </p:txBody>
      </p:sp>
      <p:sp>
        <p:nvSpPr>
          <p:cNvPr name="TextBox 83" id="83"/>
          <p:cNvSpPr txBox="true"/>
          <p:nvPr/>
        </p:nvSpPr>
        <p:spPr>
          <a:xfrm rot="0">
            <a:off x="754380" y="8748217"/>
            <a:ext cx="8092440" cy="417424"/>
          </a:xfrm>
          <a:prstGeom prst="rect">
            <a:avLst/>
          </a:prstGeom>
        </p:spPr>
        <p:txBody>
          <a:bodyPr anchor="t" rtlCol="false" tIns="0" lIns="0" bIns="0" rIns="0">
            <a:spAutoFit/>
          </a:bodyPr>
          <a:lstStyle/>
          <a:p>
            <a:pPr algn="l">
              <a:lnSpc>
                <a:spcPts val="1573"/>
              </a:lnSpc>
            </a:pPr>
            <a:r>
              <a:rPr lang="en-US" sz="1424" b="true">
                <a:solidFill>
                  <a:srgbClr val="FFFFFF"/>
                </a:solidFill>
                <a:latin typeface="Calibri (MS) Bold"/>
                <a:ea typeface="Calibri (MS) Bold"/>
                <a:cs typeface="Calibri (MS) Bold"/>
                <a:sym typeface="Calibri (MS) Bold"/>
              </a:rPr>
              <a:t>Investigation instead of reporting:  </a:t>
            </a:r>
            <a:r>
              <a:rPr lang="en-US" sz="1424">
                <a:solidFill>
                  <a:srgbClr val="EAE0F7"/>
                </a:solidFill>
                <a:latin typeface="Calibri (MS)"/>
                <a:ea typeface="Calibri (MS)"/>
                <a:cs typeface="Calibri (MS)"/>
                <a:sym typeface="Calibri (MS)"/>
              </a:rPr>
              <a:t>The system actively searches for relationships between events rather than simply displaying metrics.</a:t>
            </a:r>
          </a:p>
        </p:txBody>
      </p:sp>
      <p:sp>
        <p:nvSpPr>
          <p:cNvPr name="TextBox 84" id="84"/>
          <p:cNvSpPr txBox="true"/>
          <p:nvPr/>
        </p:nvSpPr>
        <p:spPr>
          <a:xfrm rot="0">
            <a:off x="754380" y="9412072"/>
            <a:ext cx="8092440" cy="226924"/>
          </a:xfrm>
          <a:prstGeom prst="rect">
            <a:avLst/>
          </a:prstGeom>
        </p:spPr>
        <p:txBody>
          <a:bodyPr anchor="t" rtlCol="false" tIns="0" lIns="0" bIns="0" rIns="0">
            <a:spAutoFit/>
          </a:bodyPr>
          <a:lstStyle/>
          <a:p>
            <a:pPr algn="l">
              <a:lnSpc>
                <a:spcPts val="1573"/>
              </a:lnSpc>
            </a:pPr>
            <a:r>
              <a:rPr lang="en-US" sz="1424" b="true">
                <a:solidFill>
                  <a:srgbClr val="FFFFFF"/>
                </a:solidFill>
                <a:latin typeface="Calibri (MS) Bold"/>
                <a:ea typeface="Calibri (MS) Bold"/>
                <a:cs typeface="Calibri (MS) Bold"/>
                <a:sym typeface="Calibri (MS) Bold"/>
              </a:rPr>
              <a:t>Clear business narratives:  </a:t>
            </a:r>
            <a:r>
              <a:rPr lang="en-US" sz="1424">
                <a:solidFill>
                  <a:srgbClr val="EAE0F7"/>
                </a:solidFill>
                <a:latin typeface="Calibri (MS)"/>
                <a:ea typeface="Calibri (MS)"/>
                <a:cs typeface="Calibri (MS)"/>
                <a:sym typeface="Calibri (MS)"/>
              </a:rPr>
              <a:t>Findings are translated into language that executives can immediately understand.</a:t>
            </a:r>
          </a:p>
        </p:txBody>
      </p:sp>
      <p:sp>
        <p:nvSpPr>
          <p:cNvPr name="TextBox 85" id="85"/>
          <p:cNvSpPr txBox="true"/>
          <p:nvPr/>
        </p:nvSpPr>
        <p:spPr>
          <a:xfrm rot="0">
            <a:off x="754380" y="9743999"/>
            <a:ext cx="8092440" cy="226924"/>
          </a:xfrm>
          <a:prstGeom prst="rect">
            <a:avLst/>
          </a:prstGeom>
        </p:spPr>
        <p:txBody>
          <a:bodyPr anchor="t" rtlCol="false" tIns="0" lIns="0" bIns="0" rIns="0">
            <a:spAutoFit/>
          </a:bodyPr>
          <a:lstStyle/>
          <a:p>
            <a:pPr algn="l">
              <a:lnSpc>
                <a:spcPts val="1573"/>
              </a:lnSpc>
            </a:pPr>
            <a:r>
              <a:rPr lang="en-US" sz="1424" b="true">
                <a:solidFill>
                  <a:srgbClr val="FFFFFF"/>
                </a:solidFill>
                <a:latin typeface="Calibri (MS) Bold"/>
                <a:ea typeface="Calibri (MS) Bold"/>
                <a:cs typeface="Calibri (MS) Bold"/>
                <a:sym typeface="Calibri (MS) Bold"/>
              </a:rPr>
              <a:t>Action-oriented insights:  </a:t>
            </a:r>
            <a:r>
              <a:rPr lang="en-US" sz="1424">
                <a:solidFill>
                  <a:srgbClr val="EAE0F7"/>
                </a:solidFill>
                <a:latin typeface="Calibri (MS)"/>
                <a:ea typeface="Calibri (MS)"/>
                <a:cs typeface="Calibri (MS)"/>
                <a:sym typeface="Calibri (MS)"/>
              </a:rPr>
              <a:t>Every investigation concludes with practical recommendations.</a:t>
            </a:r>
          </a:p>
        </p:txBody>
      </p:sp>
      <p:grpSp>
        <p:nvGrpSpPr>
          <p:cNvPr name="Group 86" id="86"/>
          <p:cNvGrpSpPr/>
          <p:nvPr/>
        </p:nvGrpSpPr>
        <p:grpSpPr>
          <a:xfrm rot="0">
            <a:off x="9385935" y="8014335"/>
            <a:ext cx="8362493" cy="2172462"/>
            <a:chOff x="0" y="0"/>
            <a:chExt cx="11149990" cy="2896616"/>
          </a:xfrm>
        </p:grpSpPr>
        <p:sp>
          <p:nvSpPr>
            <p:cNvPr name="Freeform 87" id="87"/>
            <p:cNvSpPr/>
            <p:nvPr/>
          </p:nvSpPr>
          <p:spPr>
            <a:xfrm flipH="false" flipV="false" rot="0">
              <a:off x="0" y="0"/>
              <a:ext cx="11149965" cy="2896616"/>
            </a:xfrm>
            <a:custGeom>
              <a:avLst/>
              <a:gdLst/>
              <a:ahLst/>
              <a:cxnLst/>
              <a:rect r="r" b="b" t="t" l="l"/>
              <a:pathLst>
                <a:path h="2896616" w="11149965">
                  <a:moveTo>
                    <a:pt x="0" y="0"/>
                  </a:moveTo>
                  <a:lnTo>
                    <a:pt x="11149965" y="0"/>
                  </a:lnTo>
                  <a:lnTo>
                    <a:pt x="11149965" y="2896616"/>
                  </a:lnTo>
                  <a:lnTo>
                    <a:pt x="0" y="2896616"/>
                  </a:lnTo>
                  <a:close/>
                </a:path>
              </a:pathLst>
            </a:custGeom>
            <a:solidFill>
              <a:srgbClr val="FFFFFF"/>
            </a:solidFill>
            <a:ln w="19050" cap="sq">
              <a:solidFill>
                <a:srgbClr val="B9A6DD"/>
              </a:solidFill>
              <a:prstDash val="solid"/>
              <a:miter/>
            </a:ln>
          </p:spPr>
        </p:sp>
      </p:grpSp>
      <p:sp>
        <p:nvSpPr>
          <p:cNvPr name="TextBox 88" id="88"/>
          <p:cNvSpPr txBox="true"/>
          <p:nvPr/>
        </p:nvSpPr>
        <p:spPr>
          <a:xfrm rot="0">
            <a:off x="9601200" y="8081772"/>
            <a:ext cx="7931963" cy="285750"/>
          </a:xfrm>
          <a:prstGeom prst="rect">
            <a:avLst/>
          </a:prstGeom>
        </p:spPr>
        <p:txBody>
          <a:bodyPr anchor="t" rtlCol="false" tIns="0" lIns="0" bIns="0" rIns="0">
            <a:spAutoFit/>
          </a:bodyPr>
          <a:lstStyle/>
          <a:p>
            <a:pPr algn="l">
              <a:lnSpc>
                <a:spcPts val="2009"/>
              </a:lnSpc>
            </a:pPr>
            <a:r>
              <a:rPr lang="en-US" b="true" sz="1674" u="sng">
                <a:solidFill>
                  <a:srgbClr val="6E2FA6"/>
                </a:solidFill>
                <a:latin typeface="Calibri (MS) Bold"/>
                <a:ea typeface="Calibri (MS) Bold"/>
                <a:cs typeface="Calibri (MS) Bold"/>
                <a:sym typeface="Calibri (MS) Bold"/>
              </a:rPr>
              <a:t>FOUNDATIONAL ASSUMPTIONS</a:t>
            </a:r>
          </a:p>
        </p:txBody>
      </p:sp>
      <p:sp>
        <p:nvSpPr>
          <p:cNvPr name="TextBox 89" id="89"/>
          <p:cNvSpPr txBox="true"/>
          <p:nvPr/>
        </p:nvSpPr>
        <p:spPr>
          <a:xfrm rot="0">
            <a:off x="9601200" y="8416290"/>
            <a:ext cx="7931963" cy="226924"/>
          </a:xfrm>
          <a:prstGeom prst="rect">
            <a:avLst/>
          </a:prstGeom>
        </p:spPr>
        <p:txBody>
          <a:bodyPr anchor="t" rtlCol="false" tIns="0" lIns="0" bIns="0" rIns="0">
            <a:spAutoFit/>
          </a:bodyPr>
          <a:lstStyle/>
          <a:p>
            <a:pPr algn="l">
              <a:lnSpc>
                <a:spcPts val="1573"/>
              </a:lnSpc>
            </a:pPr>
            <a:r>
              <a:rPr lang="en-US" sz="1424" b="true">
                <a:solidFill>
                  <a:srgbClr val="4B1D75"/>
                </a:solidFill>
                <a:latin typeface="Calibri (MS) Bold"/>
                <a:ea typeface="Calibri (MS) Bold"/>
                <a:cs typeface="Calibri (MS) Bold"/>
                <a:sym typeface="Calibri (MS) Bold"/>
              </a:rPr>
              <a:t>Existing business systems remain unchanged:  </a:t>
            </a:r>
            <a:r>
              <a:rPr lang="en-US" sz="1424">
                <a:solidFill>
                  <a:srgbClr val="2B2B2B"/>
                </a:solidFill>
                <a:latin typeface="Calibri (MS)"/>
                <a:ea typeface="Calibri (MS)"/>
                <a:cs typeface="Calibri (MS)"/>
                <a:sym typeface="Calibri (MS)"/>
              </a:rPr>
              <a:t>The solution works with existing organizational data.</a:t>
            </a:r>
          </a:p>
        </p:txBody>
      </p:sp>
      <p:sp>
        <p:nvSpPr>
          <p:cNvPr name="TextBox 90" id="90"/>
          <p:cNvSpPr txBox="true"/>
          <p:nvPr/>
        </p:nvSpPr>
        <p:spPr>
          <a:xfrm rot="0">
            <a:off x="9601200" y="8969502"/>
            <a:ext cx="7931963" cy="417424"/>
          </a:xfrm>
          <a:prstGeom prst="rect">
            <a:avLst/>
          </a:prstGeom>
        </p:spPr>
        <p:txBody>
          <a:bodyPr anchor="t" rtlCol="false" tIns="0" lIns="0" bIns="0" rIns="0">
            <a:spAutoFit/>
          </a:bodyPr>
          <a:lstStyle/>
          <a:p>
            <a:pPr algn="l">
              <a:lnSpc>
                <a:spcPts val="1573"/>
              </a:lnSpc>
            </a:pPr>
            <a:r>
              <a:rPr lang="en-US" sz="1424" b="true">
                <a:solidFill>
                  <a:srgbClr val="4B1D75"/>
                </a:solidFill>
                <a:latin typeface="Calibri (MS) Bold"/>
                <a:ea typeface="Calibri (MS) Bold"/>
                <a:cs typeface="Calibri (MS) Bold"/>
                <a:sym typeface="Calibri (MS) Bold"/>
              </a:rPr>
              <a:t>Decision makers remain in control:  </a:t>
            </a:r>
            <a:r>
              <a:rPr lang="en-US" sz="1424">
                <a:solidFill>
                  <a:srgbClr val="2B2B2B"/>
                </a:solidFill>
                <a:latin typeface="Calibri (MS)"/>
                <a:ea typeface="Calibri (MS)"/>
                <a:cs typeface="Calibri (MS)"/>
                <a:sym typeface="Calibri (MS)"/>
              </a:rPr>
              <a:t>The system recommends actions but does not make final business decisions.</a:t>
            </a:r>
          </a:p>
        </p:txBody>
      </p:sp>
      <p:sp>
        <p:nvSpPr>
          <p:cNvPr name="TextBox 91" id="91"/>
          <p:cNvSpPr txBox="true"/>
          <p:nvPr/>
        </p:nvSpPr>
        <p:spPr>
          <a:xfrm rot="0">
            <a:off x="9601200" y="9522714"/>
            <a:ext cx="7931963" cy="417424"/>
          </a:xfrm>
          <a:prstGeom prst="rect">
            <a:avLst/>
          </a:prstGeom>
        </p:spPr>
        <p:txBody>
          <a:bodyPr anchor="t" rtlCol="false" tIns="0" lIns="0" bIns="0" rIns="0">
            <a:spAutoFit/>
          </a:bodyPr>
          <a:lstStyle/>
          <a:p>
            <a:pPr algn="l">
              <a:lnSpc>
                <a:spcPts val="1573"/>
              </a:lnSpc>
            </a:pPr>
            <a:r>
              <a:rPr lang="en-US" sz="1424" b="true">
                <a:solidFill>
                  <a:srgbClr val="4B1D75"/>
                </a:solidFill>
                <a:latin typeface="Calibri (MS) Bold"/>
                <a:ea typeface="Calibri (MS) Bold"/>
                <a:cs typeface="Calibri (MS) Bold"/>
                <a:sym typeface="Calibri (MS) Bold"/>
              </a:rPr>
              <a:t>Continuous learning:  </a:t>
            </a:r>
            <a:r>
              <a:rPr lang="en-US" sz="1424">
                <a:solidFill>
                  <a:srgbClr val="2B2B2B"/>
                </a:solidFill>
                <a:latin typeface="Calibri (MS)"/>
                <a:ea typeface="Calibri (MS)"/>
                <a:cs typeface="Calibri (MS)"/>
                <a:sym typeface="Calibri (MS)"/>
              </a:rPr>
              <a:t>Previous investigations can be referenced when similar business events occur in the future.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8640" y="411480"/>
            <a:ext cx="438912" cy="2770632"/>
            <a:chOff x="0" y="0"/>
            <a:chExt cx="585216" cy="3694176"/>
          </a:xfrm>
        </p:grpSpPr>
        <p:sp>
          <p:nvSpPr>
            <p:cNvPr name="Freeform 3" id="3"/>
            <p:cNvSpPr/>
            <p:nvPr/>
          </p:nvSpPr>
          <p:spPr>
            <a:xfrm flipH="false" flipV="false" rot="0">
              <a:off x="0" y="0"/>
              <a:ext cx="585216" cy="3694176"/>
            </a:xfrm>
            <a:custGeom>
              <a:avLst/>
              <a:gdLst/>
              <a:ahLst/>
              <a:cxnLst/>
              <a:rect r="r" b="b" t="t" l="l"/>
              <a:pathLst>
                <a:path h="3694176" w="585216">
                  <a:moveTo>
                    <a:pt x="0" y="0"/>
                  </a:moveTo>
                  <a:lnTo>
                    <a:pt x="585216" y="0"/>
                  </a:lnTo>
                  <a:lnTo>
                    <a:pt x="585216" y="3694176"/>
                  </a:lnTo>
                  <a:lnTo>
                    <a:pt x="0" y="3694176"/>
                  </a:lnTo>
                  <a:close/>
                </a:path>
              </a:pathLst>
            </a:custGeom>
            <a:solidFill>
              <a:srgbClr val="7A00CC"/>
            </a:solidFill>
          </p:spPr>
        </p:sp>
      </p:grpSp>
      <p:grpSp>
        <p:nvGrpSpPr>
          <p:cNvPr name="Group 4" id="4"/>
          <p:cNvGrpSpPr/>
          <p:nvPr/>
        </p:nvGrpSpPr>
        <p:grpSpPr>
          <a:xfrm rot="-5400000">
            <a:off x="-586599" y="1546719"/>
            <a:ext cx="2697861" cy="427384"/>
            <a:chOff x="0" y="0"/>
            <a:chExt cx="3694176" cy="585216"/>
          </a:xfrm>
        </p:grpSpPr>
        <p:sp>
          <p:nvSpPr>
            <p:cNvPr name="Freeform 5" id="5"/>
            <p:cNvSpPr/>
            <p:nvPr/>
          </p:nvSpPr>
          <p:spPr>
            <a:xfrm flipH="false" flipV="false" rot="0">
              <a:off x="0" y="0"/>
              <a:ext cx="3694176" cy="585216"/>
            </a:xfrm>
            <a:custGeom>
              <a:avLst/>
              <a:gdLst/>
              <a:ahLst/>
              <a:cxnLst/>
              <a:rect r="r" b="b" t="t" l="l"/>
              <a:pathLst>
                <a:path h="585216" w="3694176">
                  <a:moveTo>
                    <a:pt x="0" y="0"/>
                  </a:moveTo>
                  <a:lnTo>
                    <a:pt x="3694176" y="0"/>
                  </a:lnTo>
                  <a:lnTo>
                    <a:pt x="3694176" y="585216"/>
                  </a:lnTo>
                  <a:lnTo>
                    <a:pt x="0" y="585216"/>
                  </a:lnTo>
                  <a:close/>
                </a:path>
              </a:pathLst>
            </a:custGeom>
            <a:blipFill>
              <a:blip r:embed="rId2">
                <a:alphaModFix amt="0"/>
              </a:blip>
              <a:stretch>
                <a:fillRect l="0" t="-72999" r="0" b="-72999"/>
              </a:stretch>
            </a:blipFill>
          </p:spPr>
        </p:sp>
        <p:sp>
          <p:nvSpPr>
            <p:cNvPr name="TextBox 6" id="6"/>
            <p:cNvSpPr txBox="true"/>
            <p:nvPr/>
          </p:nvSpPr>
          <p:spPr>
            <a:xfrm>
              <a:off x="0" y="-47625"/>
              <a:ext cx="3694176" cy="632841"/>
            </a:xfrm>
            <a:prstGeom prst="rect">
              <a:avLst/>
            </a:prstGeom>
          </p:spPr>
          <p:txBody>
            <a:bodyPr anchor="ctr" rtlCol="false" tIns="0" lIns="0" bIns="0" rIns="0"/>
            <a:lstStyle/>
            <a:p>
              <a:pPr algn="ctr">
                <a:lnSpc>
                  <a:spcPts val="2219"/>
                </a:lnSpc>
              </a:pPr>
              <a:r>
                <a:rPr lang="en-US" sz="1849" b="true">
                  <a:solidFill>
                    <a:srgbClr val="FFFFFF"/>
                  </a:solidFill>
                  <a:latin typeface="Calibri (MS) Bold"/>
                  <a:ea typeface="Calibri (MS) Bold"/>
                  <a:cs typeface="Calibri (MS) Bold"/>
                  <a:sym typeface="Calibri (MS) Bold"/>
                </a:rPr>
                <a:t>SCENARIO</a:t>
              </a:r>
            </a:p>
          </p:txBody>
        </p:sp>
      </p:grpSp>
      <p:sp>
        <p:nvSpPr>
          <p:cNvPr name="TextBox 7" id="7"/>
          <p:cNvSpPr txBox="true"/>
          <p:nvPr/>
        </p:nvSpPr>
        <p:spPr>
          <a:xfrm rot="0">
            <a:off x="1152144" y="354330"/>
            <a:ext cx="16582644" cy="598018"/>
          </a:xfrm>
          <a:prstGeom prst="rect">
            <a:avLst/>
          </a:prstGeom>
        </p:spPr>
        <p:txBody>
          <a:bodyPr anchor="t" rtlCol="false" tIns="0" lIns="0" bIns="0" rIns="0">
            <a:spAutoFit/>
          </a:bodyPr>
          <a:lstStyle/>
          <a:p>
            <a:pPr algn="l">
              <a:lnSpc>
                <a:spcPts val="2251"/>
              </a:lnSpc>
            </a:pPr>
            <a:r>
              <a:rPr lang="en-US" sz="1674">
                <a:solidFill>
                  <a:srgbClr val="222222"/>
                </a:solidFill>
                <a:latin typeface="Calibri (MS)"/>
                <a:ea typeface="Calibri (MS)"/>
                <a:cs typeface="Calibri (MS)"/>
                <a:sym typeface="Calibri (MS)"/>
              </a:rPr>
              <a:t>StoryLens AI investigates a business event in three stages, and each stage produces a decision-ready output on its own. Financial, customer, operational, and market data are drawn together automatically — no analyst has to chase the numbers by hand.</a:t>
            </a:r>
          </a:p>
        </p:txBody>
      </p:sp>
      <p:grpSp>
        <p:nvGrpSpPr>
          <p:cNvPr name="Group 8" id="8"/>
          <p:cNvGrpSpPr/>
          <p:nvPr/>
        </p:nvGrpSpPr>
        <p:grpSpPr>
          <a:xfrm rot="0">
            <a:off x="1142619" y="1170051"/>
            <a:ext cx="5317617" cy="1939290"/>
            <a:chOff x="0" y="0"/>
            <a:chExt cx="7090156" cy="2585720"/>
          </a:xfrm>
        </p:grpSpPr>
        <p:sp>
          <p:nvSpPr>
            <p:cNvPr name="Freeform 9" id="9"/>
            <p:cNvSpPr/>
            <p:nvPr/>
          </p:nvSpPr>
          <p:spPr>
            <a:xfrm flipH="false" flipV="false" rot="0">
              <a:off x="0" y="0"/>
              <a:ext cx="7090156" cy="2585720"/>
            </a:xfrm>
            <a:custGeom>
              <a:avLst/>
              <a:gdLst/>
              <a:ahLst/>
              <a:cxnLst/>
              <a:rect r="r" b="b" t="t" l="l"/>
              <a:pathLst>
                <a:path h="2585720" w="7090156">
                  <a:moveTo>
                    <a:pt x="0" y="0"/>
                  </a:moveTo>
                  <a:lnTo>
                    <a:pt x="7090156" y="0"/>
                  </a:lnTo>
                  <a:lnTo>
                    <a:pt x="7090156" y="2585720"/>
                  </a:lnTo>
                  <a:lnTo>
                    <a:pt x="0" y="2585720"/>
                  </a:lnTo>
                  <a:close/>
                </a:path>
              </a:pathLst>
            </a:custGeom>
            <a:solidFill>
              <a:srgbClr val="EAF3FF"/>
            </a:solidFill>
            <a:ln w="19050" cap="sq">
              <a:solidFill>
                <a:srgbClr val="A9C9E8"/>
              </a:solidFill>
              <a:prstDash val="solid"/>
              <a:miter/>
            </a:ln>
          </p:spPr>
        </p:sp>
      </p:grpSp>
      <p:grpSp>
        <p:nvGrpSpPr>
          <p:cNvPr name="Group 10" id="10"/>
          <p:cNvGrpSpPr/>
          <p:nvPr/>
        </p:nvGrpSpPr>
        <p:grpSpPr>
          <a:xfrm rot="0">
            <a:off x="1261872" y="1001268"/>
            <a:ext cx="987552" cy="329184"/>
            <a:chOff x="0" y="0"/>
            <a:chExt cx="1316736" cy="438912"/>
          </a:xfrm>
        </p:grpSpPr>
        <p:sp>
          <p:nvSpPr>
            <p:cNvPr name="Freeform 11" id="11"/>
            <p:cNvSpPr/>
            <p:nvPr/>
          </p:nvSpPr>
          <p:spPr>
            <a:xfrm flipH="false" flipV="false" rot="0">
              <a:off x="0" y="0"/>
              <a:ext cx="1316736" cy="438912"/>
            </a:xfrm>
            <a:custGeom>
              <a:avLst/>
              <a:gdLst/>
              <a:ahLst/>
              <a:cxnLst/>
              <a:rect r="r" b="b" t="t" l="l"/>
              <a:pathLst>
                <a:path h="438912" w="1316736">
                  <a:moveTo>
                    <a:pt x="0" y="73152"/>
                  </a:moveTo>
                  <a:cubicBezTo>
                    <a:pt x="0" y="32766"/>
                    <a:pt x="32766" y="0"/>
                    <a:pt x="73152" y="0"/>
                  </a:cubicBezTo>
                  <a:lnTo>
                    <a:pt x="1243584" y="0"/>
                  </a:lnTo>
                  <a:cubicBezTo>
                    <a:pt x="1283970" y="0"/>
                    <a:pt x="1316736" y="32766"/>
                    <a:pt x="1316736" y="73152"/>
                  </a:cubicBezTo>
                  <a:lnTo>
                    <a:pt x="1316736" y="365760"/>
                  </a:lnTo>
                  <a:cubicBezTo>
                    <a:pt x="1316736" y="406146"/>
                    <a:pt x="1283970" y="438912"/>
                    <a:pt x="1243584" y="438912"/>
                  </a:cubicBezTo>
                  <a:lnTo>
                    <a:pt x="73152" y="438912"/>
                  </a:lnTo>
                  <a:cubicBezTo>
                    <a:pt x="32766" y="438912"/>
                    <a:pt x="0" y="406146"/>
                    <a:pt x="0" y="365760"/>
                  </a:cubicBezTo>
                  <a:close/>
                </a:path>
              </a:pathLst>
            </a:custGeom>
            <a:solidFill>
              <a:srgbClr val="7A00CC"/>
            </a:solidFill>
          </p:spPr>
        </p:sp>
      </p:grpSp>
      <p:grpSp>
        <p:nvGrpSpPr>
          <p:cNvPr name="Group 12" id="12"/>
          <p:cNvGrpSpPr/>
          <p:nvPr/>
        </p:nvGrpSpPr>
        <p:grpSpPr>
          <a:xfrm rot="0">
            <a:off x="1261872" y="1001268"/>
            <a:ext cx="987552" cy="329184"/>
            <a:chOff x="0" y="0"/>
            <a:chExt cx="1316736" cy="438912"/>
          </a:xfrm>
        </p:grpSpPr>
        <p:sp>
          <p:nvSpPr>
            <p:cNvPr name="Freeform 13" id="13"/>
            <p:cNvSpPr/>
            <p:nvPr/>
          </p:nvSpPr>
          <p:spPr>
            <a:xfrm flipH="false" flipV="false" rot="0">
              <a:off x="0" y="0"/>
              <a:ext cx="1316736" cy="438912"/>
            </a:xfrm>
            <a:custGeom>
              <a:avLst/>
              <a:gdLst/>
              <a:ahLst/>
              <a:cxnLst/>
              <a:rect r="r" b="b" t="t" l="l"/>
              <a:pathLst>
                <a:path h="438912" w="1316736">
                  <a:moveTo>
                    <a:pt x="0" y="0"/>
                  </a:moveTo>
                  <a:lnTo>
                    <a:pt x="1316736" y="0"/>
                  </a:lnTo>
                  <a:lnTo>
                    <a:pt x="1316736" y="438912"/>
                  </a:lnTo>
                  <a:lnTo>
                    <a:pt x="0" y="438912"/>
                  </a:lnTo>
                  <a:close/>
                </a:path>
              </a:pathLst>
            </a:custGeom>
            <a:blipFill>
              <a:blip r:embed="rId2">
                <a:alphaModFix amt="0"/>
              </a:blip>
              <a:stretch>
                <a:fillRect l="0" t="-8455" r="0" b="-8455"/>
              </a:stretch>
            </a:blipFill>
          </p:spPr>
        </p:sp>
        <p:sp>
          <p:nvSpPr>
            <p:cNvPr name="TextBox 14" id="14"/>
            <p:cNvSpPr txBox="true"/>
            <p:nvPr/>
          </p:nvSpPr>
          <p:spPr>
            <a:xfrm>
              <a:off x="0" y="-28575"/>
              <a:ext cx="1316736" cy="467487"/>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STEP 1</a:t>
              </a:r>
            </a:p>
          </p:txBody>
        </p:sp>
      </p:grpSp>
      <p:grpSp>
        <p:nvGrpSpPr>
          <p:cNvPr name="Group 15" id="15"/>
          <p:cNvGrpSpPr/>
          <p:nvPr/>
        </p:nvGrpSpPr>
        <p:grpSpPr>
          <a:xfrm rot="0">
            <a:off x="1344168" y="1399032"/>
            <a:ext cx="4686300" cy="343449"/>
            <a:chOff x="0" y="0"/>
            <a:chExt cx="6248400" cy="457932"/>
          </a:xfrm>
        </p:grpSpPr>
        <p:sp>
          <p:nvSpPr>
            <p:cNvPr name="Freeform 16" id="16"/>
            <p:cNvSpPr/>
            <p:nvPr/>
          </p:nvSpPr>
          <p:spPr>
            <a:xfrm flipH="false" flipV="false" rot="0">
              <a:off x="0" y="0"/>
              <a:ext cx="6248400" cy="457932"/>
            </a:xfrm>
            <a:custGeom>
              <a:avLst/>
              <a:gdLst/>
              <a:ahLst/>
              <a:cxnLst/>
              <a:rect r="r" b="b" t="t" l="l"/>
              <a:pathLst>
                <a:path h="457932" w="6248400">
                  <a:moveTo>
                    <a:pt x="0" y="0"/>
                  </a:moveTo>
                  <a:lnTo>
                    <a:pt x="6248400" y="0"/>
                  </a:lnTo>
                  <a:lnTo>
                    <a:pt x="6248400" y="457932"/>
                  </a:lnTo>
                  <a:lnTo>
                    <a:pt x="0" y="457932"/>
                  </a:lnTo>
                  <a:close/>
                </a:path>
              </a:pathLst>
            </a:custGeom>
            <a:blipFill>
              <a:blip r:embed="rId2">
                <a:alphaModFix amt="0"/>
              </a:blip>
              <a:stretch>
                <a:fillRect l="0" t="-221940" r="0" b="-209799"/>
              </a:stretch>
            </a:blipFill>
          </p:spPr>
        </p:sp>
        <p:sp>
          <p:nvSpPr>
            <p:cNvPr name="TextBox 17" id="17"/>
            <p:cNvSpPr txBox="true"/>
            <p:nvPr/>
          </p:nvSpPr>
          <p:spPr>
            <a:xfrm>
              <a:off x="0" y="-38100"/>
              <a:ext cx="6248400" cy="496032"/>
            </a:xfrm>
            <a:prstGeom prst="rect">
              <a:avLst/>
            </a:prstGeom>
          </p:spPr>
          <p:txBody>
            <a:bodyPr anchor="ctr" rtlCol="false" tIns="0" lIns="0" bIns="0" rIns="0"/>
            <a:lstStyle/>
            <a:p>
              <a:pPr algn="l">
                <a:lnSpc>
                  <a:spcPts val="2099"/>
                </a:lnSpc>
              </a:pPr>
              <a:r>
                <a:rPr lang="en-US" b="true" sz="1749" u="sng">
                  <a:solidFill>
                    <a:srgbClr val="5B0E96"/>
                  </a:solidFill>
                  <a:latin typeface="Calibri (MS) Bold"/>
                  <a:ea typeface="Calibri (MS) Bold"/>
                  <a:cs typeface="Calibri (MS) Bold"/>
                  <a:sym typeface="Calibri (MS) Bold"/>
                </a:rPr>
                <a:t>Evidence Collection</a:t>
              </a:r>
            </a:p>
          </p:txBody>
        </p:sp>
      </p:grpSp>
      <p:sp>
        <p:nvSpPr>
          <p:cNvPr name="TextBox 18" id="18"/>
          <p:cNvSpPr txBox="true"/>
          <p:nvPr/>
        </p:nvSpPr>
        <p:spPr>
          <a:xfrm rot="0">
            <a:off x="1344168" y="1680591"/>
            <a:ext cx="4686300" cy="851154"/>
          </a:xfrm>
          <a:prstGeom prst="rect">
            <a:avLst/>
          </a:prstGeom>
        </p:spPr>
        <p:txBody>
          <a:bodyPr anchor="t" rtlCol="false" tIns="0" lIns="0" bIns="0" rIns="0">
            <a:spAutoFit/>
          </a:bodyPr>
          <a:lstStyle/>
          <a:p>
            <a:pPr algn="l">
              <a:lnSpc>
                <a:spcPts val="2177"/>
              </a:lnSpc>
            </a:pPr>
            <a:r>
              <a:rPr lang="en-US" sz="1649">
                <a:solidFill>
                  <a:srgbClr val="222222"/>
                </a:solidFill>
                <a:latin typeface="Calibri (MS)"/>
                <a:ea typeface="Calibri (MS)"/>
                <a:cs typeface="Calibri (MS)"/>
                <a:sym typeface="Calibri (MS)"/>
              </a:rPr>
              <a:t>Financial, customer, and operational records are pulled together automatically. Revenue is down 8%, complaints up 24%, and shipment delays up 18%.</a:t>
            </a:r>
          </a:p>
        </p:txBody>
      </p:sp>
      <p:grpSp>
        <p:nvGrpSpPr>
          <p:cNvPr name="Group 19" id="19"/>
          <p:cNvGrpSpPr/>
          <p:nvPr/>
        </p:nvGrpSpPr>
        <p:grpSpPr>
          <a:xfrm rot="0">
            <a:off x="6222492" y="1933956"/>
            <a:ext cx="685800" cy="411480"/>
            <a:chOff x="0" y="0"/>
            <a:chExt cx="914400" cy="548640"/>
          </a:xfrm>
        </p:grpSpPr>
        <p:sp>
          <p:nvSpPr>
            <p:cNvPr name="Freeform 20" id="20"/>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21" id="21"/>
            <p:cNvSpPr txBox="true"/>
            <p:nvPr/>
          </p:nvSpPr>
          <p:spPr>
            <a:xfrm>
              <a:off x="0" y="-38100"/>
              <a:ext cx="914400" cy="586740"/>
            </a:xfrm>
            <a:prstGeom prst="rect">
              <a:avLst/>
            </a:prstGeom>
          </p:spPr>
          <p:txBody>
            <a:bodyPr anchor="ctr" rtlCol="false" tIns="0" lIns="0" bIns="0" rIns="0"/>
            <a:lstStyle/>
            <a:p>
              <a:pPr algn="ctr">
                <a:lnSpc>
                  <a:spcPts val="2879"/>
                </a:lnSpc>
              </a:pPr>
              <a:r>
                <a:rPr lang="en-US" sz="2400" b="true">
                  <a:solidFill>
                    <a:srgbClr val="8FB6DE"/>
                  </a:solidFill>
                  <a:latin typeface="Calibri (MS) Bold"/>
                  <a:ea typeface="Calibri (MS) Bold"/>
                  <a:cs typeface="Calibri (MS) Bold"/>
                  <a:sym typeface="Calibri (MS) Bold"/>
                </a:rPr>
                <a:t>▸</a:t>
              </a:r>
            </a:p>
          </p:txBody>
        </p:sp>
      </p:grpSp>
      <p:grpSp>
        <p:nvGrpSpPr>
          <p:cNvPr name="Group 22" id="22"/>
          <p:cNvGrpSpPr/>
          <p:nvPr/>
        </p:nvGrpSpPr>
        <p:grpSpPr>
          <a:xfrm rot="0">
            <a:off x="6793611" y="1170051"/>
            <a:ext cx="5313426" cy="1939290"/>
            <a:chOff x="0" y="0"/>
            <a:chExt cx="7084568" cy="2585720"/>
          </a:xfrm>
        </p:grpSpPr>
        <p:sp>
          <p:nvSpPr>
            <p:cNvPr name="Freeform 23" id="23"/>
            <p:cNvSpPr/>
            <p:nvPr/>
          </p:nvSpPr>
          <p:spPr>
            <a:xfrm flipH="false" flipV="false" rot="0">
              <a:off x="0" y="0"/>
              <a:ext cx="7084568" cy="2585720"/>
            </a:xfrm>
            <a:custGeom>
              <a:avLst/>
              <a:gdLst/>
              <a:ahLst/>
              <a:cxnLst/>
              <a:rect r="r" b="b" t="t" l="l"/>
              <a:pathLst>
                <a:path h="2585720" w="7084568">
                  <a:moveTo>
                    <a:pt x="0" y="0"/>
                  </a:moveTo>
                  <a:lnTo>
                    <a:pt x="7084568" y="0"/>
                  </a:lnTo>
                  <a:lnTo>
                    <a:pt x="7084568" y="2585720"/>
                  </a:lnTo>
                  <a:lnTo>
                    <a:pt x="0" y="2585720"/>
                  </a:lnTo>
                  <a:close/>
                </a:path>
              </a:pathLst>
            </a:custGeom>
            <a:solidFill>
              <a:srgbClr val="EAF3FF"/>
            </a:solidFill>
            <a:ln w="19050" cap="sq">
              <a:solidFill>
                <a:srgbClr val="A9C9E8"/>
              </a:solidFill>
              <a:prstDash val="solid"/>
              <a:miter/>
            </a:ln>
          </p:spPr>
        </p:sp>
      </p:grpSp>
      <p:grpSp>
        <p:nvGrpSpPr>
          <p:cNvPr name="Group 24" id="24"/>
          <p:cNvGrpSpPr/>
          <p:nvPr/>
        </p:nvGrpSpPr>
        <p:grpSpPr>
          <a:xfrm rot="0">
            <a:off x="6908292" y="1028700"/>
            <a:ext cx="987552" cy="329184"/>
            <a:chOff x="0" y="0"/>
            <a:chExt cx="1316736" cy="438912"/>
          </a:xfrm>
        </p:grpSpPr>
        <p:sp>
          <p:nvSpPr>
            <p:cNvPr name="Freeform 25" id="25"/>
            <p:cNvSpPr/>
            <p:nvPr/>
          </p:nvSpPr>
          <p:spPr>
            <a:xfrm flipH="false" flipV="false" rot="0">
              <a:off x="0" y="0"/>
              <a:ext cx="1316736" cy="438912"/>
            </a:xfrm>
            <a:custGeom>
              <a:avLst/>
              <a:gdLst/>
              <a:ahLst/>
              <a:cxnLst/>
              <a:rect r="r" b="b" t="t" l="l"/>
              <a:pathLst>
                <a:path h="438912" w="1316736">
                  <a:moveTo>
                    <a:pt x="0" y="73152"/>
                  </a:moveTo>
                  <a:cubicBezTo>
                    <a:pt x="0" y="32766"/>
                    <a:pt x="32766" y="0"/>
                    <a:pt x="73152" y="0"/>
                  </a:cubicBezTo>
                  <a:lnTo>
                    <a:pt x="1243584" y="0"/>
                  </a:lnTo>
                  <a:cubicBezTo>
                    <a:pt x="1283970" y="0"/>
                    <a:pt x="1316736" y="32766"/>
                    <a:pt x="1316736" y="73152"/>
                  </a:cubicBezTo>
                  <a:lnTo>
                    <a:pt x="1316736" y="365760"/>
                  </a:lnTo>
                  <a:cubicBezTo>
                    <a:pt x="1316736" y="406146"/>
                    <a:pt x="1283970" y="438912"/>
                    <a:pt x="1243584" y="438912"/>
                  </a:cubicBezTo>
                  <a:lnTo>
                    <a:pt x="73152" y="438912"/>
                  </a:lnTo>
                  <a:cubicBezTo>
                    <a:pt x="32766" y="438912"/>
                    <a:pt x="0" y="406146"/>
                    <a:pt x="0" y="365760"/>
                  </a:cubicBezTo>
                  <a:close/>
                </a:path>
              </a:pathLst>
            </a:custGeom>
            <a:solidFill>
              <a:srgbClr val="7A00CC"/>
            </a:solidFill>
          </p:spPr>
        </p:sp>
      </p:grpSp>
      <p:grpSp>
        <p:nvGrpSpPr>
          <p:cNvPr name="Group 26" id="26"/>
          <p:cNvGrpSpPr/>
          <p:nvPr/>
        </p:nvGrpSpPr>
        <p:grpSpPr>
          <a:xfrm rot="0">
            <a:off x="6908292" y="1001268"/>
            <a:ext cx="987552" cy="329184"/>
            <a:chOff x="0" y="0"/>
            <a:chExt cx="1316736" cy="438912"/>
          </a:xfrm>
        </p:grpSpPr>
        <p:sp>
          <p:nvSpPr>
            <p:cNvPr name="Freeform 27" id="27"/>
            <p:cNvSpPr/>
            <p:nvPr/>
          </p:nvSpPr>
          <p:spPr>
            <a:xfrm flipH="false" flipV="false" rot="0">
              <a:off x="0" y="0"/>
              <a:ext cx="1316736" cy="438912"/>
            </a:xfrm>
            <a:custGeom>
              <a:avLst/>
              <a:gdLst/>
              <a:ahLst/>
              <a:cxnLst/>
              <a:rect r="r" b="b" t="t" l="l"/>
              <a:pathLst>
                <a:path h="438912" w="1316736">
                  <a:moveTo>
                    <a:pt x="0" y="0"/>
                  </a:moveTo>
                  <a:lnTo>
                    <a:pt x="1316736" y="0"/>
                  </a:lnTo>
                  <a:lnTo>
                    <a:pt x="1316736" y="438912"/>
                  </a:lnTo>
                  <a:lnTo>
                    <a:pt x="0" y="438912"/>
                  </a:lnTo>
                  <a:close/>
                </a:path>
              </a:pathLst>
            </a:custGeom>
            <a:blipFill>
              <a:blip r:embed="rId2">
                <a:alphaModFix amt="0"/>
              </a:blip>
              <a:stretch>
                <a:fillRect l="0" t="-8455" r="0" b="-8455"/>
              </a:stretch>
            </a:blipFill>
          </p:spPr>
        </p:sp>
        <p:sp>
          <p:nvSpPr>
            <p:cNvPr name="TextBox 28" id="28"/>
            <p:cNvSpPr txBox="true"/>
            <p:nvPr/>
          </p:nvSpPr>
          <p:spPr>
            <a:xfrm>
              <a:off x="0" y="-28575"/>
              <a:ext cx="1316736" cy="467487"/>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STEP 2</a:t>
              </a:r>
            </a:p>
          </p:txBody>
        </p:sp>
      </p:grpSp>
      <p:grpSp>
        <p:nvGrpSpPr>
          <p:cNvPr name="Group 29" id="29"/>
          <p:cNvGrpSpPr/>
          <p:nvPr/>
        </p:nvGrpSpPr>
        <p:grpSpPr>
          <a:xfrm rot="0">
            <a:off x="6901815" y="1401531"/>
            <a:ext cx="4686300" cy="343449"/>
            <a:chOff x="0" y="0"/>
            <a:chExt cx="6248400" cy="457932"/>
          </a:xfrm>
        </p:grpSpPr>
        <p:sp>
          <p:nvSpPr>
            <p:cNvPr name="Freeform 30" id="30"/>
            <p:cNvSpPr/>
            <p:nvPr/>
          </p:nvSpPr>
          <p:spPr>
            <a:xfrm flipH="false" flipV="false" rot="0">
              <a:off x="0" y="0"/>
              <a:ext cx="6248400" cy="457932"/>
            </a:xfrm>
            <a:custGeom>
              <a:avLst/>
              <a:gdLst/>
              <a:ahLst/>
              <a:cxnLst/>
              <a:rect r="r" b="b" t="t" l="l"/>
              <a:pathLst>
                <a:path h="457932" w="6248400">
                  <a:moveTo>
                    <a:pt x="0" y="0"/>
                  </a:moveTo>
                  <a:lnTo>
                    <a:pt x="6248400" y="0"/>
                  </a:lnTo>
                  <a:lnTo>
                    <a:pt x="6248400" y="457932"/>
                  </a:lnTo>
                  <a:lnTo>
                    <a:pt x="0" y="457932"/>
                  </a:lnTo>
                  <a:close/>
                </a:path>
              </a:pathLst>
            </a:custGeom>
            <a:blipFill>
              <a:blip r:embed="rId2">
                <a:alphaModFix amt="0"/>
              </a:blip>
              <a:stretch>
                <a:fillRect l="0" t="-221940" r="0" b="-209799"/>
              </a:stretch>
            </a:blipFill>
          </p:spPr>
        </p:sp>
        <p:sp>
          <p:nvSpPr>
            <p:cNvPr name="TextBox 31" id="31"/>
            <p:cNvSpPr txBox="true"/>
            <p:nvPr/>
          </p:nvSpPr>
          <p:spPr>
            <a:xfrm>
              <a:off x="0" y="-38100"/>
              <a:ext cx="6248400" cy="496032"/>
            </a:xfrm>
            <a:prstGeom prst="rect">
              <a:avLst/>
            </a:prstGeom>
          </p:spPr>
          <p:txBody>
            <a:bodyPr anchor="ctr" rtlCol="false" tIns="0" lIns="0" bIns="0" rIns="0"/>
            <a:lstStyle/>
            <a:p>
              <a:pPr algn="l">
                <a:lnSpc>
                  <a:spcPts val="2099"/>
                </a:lnSpc>
              </a:pPr>
              <a:r>
                <a:rPr lang="en-US" b="true" sz="1749" u="sng">
                  <a:solidFill>
                    <a:srgbClr val="5B0E96"/>
                  </a:solidFill>
                  <a:latin typeface="Calibri (MS) Bold"/>
                  <a:ea typeface="Calibri (MS) Bold"/>
                  <a:cs typeface="Calibri (MS) Bold"/>
                  <a:sym typeface="Calibri (MS) Bold"/>
                </a:rPr>
                <a:t>Pattern Correlation</a:t>
              </a:r>
            </a:p>
          </p:txBody>
        </p:sp>
      </p:grpSp>
      <p:sp>
        <p:nvSpPr>
          <p:cNvPr name="TextBox 32" id="32"/>
          <p:cNvSpPr txBox="true"/>
          <p:nvPr/>
        </p:nvSpPr>
        <p:spPr>
          <a:xfrm rot="0">
            <a:off x="6908292" y="1697355"/>
            <a:ext cx="4686300" cy="851154"/>
          </a:xfrm>
          <a:prstGeom prst="rect">
            <a:avLst/>
          </a:prstGeom>
        </p:spPr>
        <p:txBody>
          <a:bodyPr anchor="t" rtlCol="false" tIns="0" lIns="0" bIns="0" rIns="0">
            <a:spAutoFit/>
          </a:bodyPr>
          <a:lstStyle/>
          <a:p>
            <a:pPr algn="l">
              <a:lnSpc>
                <a:spcPts val="2177"/>
              </a:lnSpc>
            </a:pPr>
            <a:r>
              <a:rPr lang="en-US" sz="1649">
                <a:solidFill>
                  <a:srgbClr val="222222"/>
                </a:solidFill>
                <a:latin typeface="Calibri (MS)"/>
                <a:ea typeface="Calibri (MS)"/>
                <a:cs typeface="Calibri (MS)"/>
                <a:sym typeface="Calibri (MS)"/>
              </a:rPr>
              <a:t>Operational and market signals are cross-checked against customer behavior. Delivery disruptions line up almost exactly with the drop in repeat purchases.</a:t>
            </a:r>
          </a:p>
        </p:txBody>
      </p:sp>
      <p:grpSp>
        <p:nvGrpSpPr>
          <p:cNvPr name="Group 33" id="33"/>
          <p:cNvGrpSpPr/>
          <p:nvPr/>
        </p:nvGrpSpPr>
        <p:grpSpPr>
          <a:xfrm rot="0">
            <a:off x="11878056" y="1970341"/>
            <a:ext cx="685800" cy="411480"/>
            <a:chOff x="0" y="0"/>
            <a:chExt cx="914400" cy="548640"/>
          </a:xfrm>
        </p:grpSpPr>
        <p:sp>
          <p:nvSpPr>
            <p:cNvPr name="Freeform 34" id="34"/>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35" id="35"/>
            <p:cNvSpPr txBox="true"/>
            <p:nvPr/>
          </p:nvSpPr>
          <p:spPr>
            <a:xfrm>
              <a:off x="0" y="-38100"/>
              <a:ext cx="914400" cy="586740"/>
            </a:xfrm>
            <a:prstGeom prst="rect">
              <a:avLst/>
            </a:prstGeom>
          </p:spPr>
          <p:txBody>
            <a:bodyPr anchor="ctr" rtlCol="false" tIns="0" lIns="0" bIns="0" rIns="0"/>
            <a:lstStyle/>
            <a:p>
              <a:pPr algn="ctr">
                <a:lnSpc>
                  <a:spcPts val="2879"/>
                </a:lnSpc>
              </a:pPr>
              <a:r>
                <a:rPr lang="en-US" sz="2400" b="true">
                  <a:solidFill>
                    <a:srgbClr val="8FB6DE"/>
                  </a:solidFill>
                  <a:latin typeface="Calibri (MS) Bold"/>
                  <a:ea typeface="Calibri (MS) Bold"/>
                  <a:cs typeface="Calibri (MS) Bold"/>
                  <a:sym typeface="Calibri (MS) Bold"/>
                </a:rPr>
                <a:t>▸</a:t>
              </a:r>
            </a:p>
          </p:txBody>
        </p:sp>
      </p:grpSp>
      <p:grpSp>
        <p:nvGrpSpPr>
          <p:cNvPr name="Group 36" id="36"/>
          <p:cNvGrpSpPr/>
          <p:nvPr/>
        </p:nvGrpSpPr>
        <p:grpSpPr>
          <a:xfrm rot="0">
            <a:off x="12459462" y="1170051"/>
            <a:ext cx="5284851" cy="1939290"/>
            <a:chOff x="0" y="0"/>
            <a:chExt cx="7046468" cy="2585720"/>
          </a:xfrm>
        </p:grpSpPr>
        <p:sp>
          <p:nvSpPr>
            <p:cNvPr name="Freeform 37" id="37"/>
            <p:cNvSpPr/>
            <p:nvPr/>
          </p:nvSpPr>
          <p:spPr>
            <a:xfrm flipH="false" flipV="false" rot="0">
              <a:off x="0" y="0"/>
              <a:ext cx="7046468" cy="2585720"/>
            </a:xfrm>
            <a:custGeom>
              <a:avLst/>
              <a:gdLst/>
              <a:ahLst/>
              <a:cxnLst/>
              <a:rect r="r" b="b" t="t" l="l"/>
              <a:pathLst>
                <a:path h="2585720" w="7046468">
                  <a:moveTo>
                    <a:pt x="0" y="0"/>
                  </a:moveTo>
                  <a:lnTo>
                    <a:pt x="7046468" y="0"/>
                  </a:lnTo>
                  <a:lnTo>
                    <a:pt x="7046468" y="2585720"/>
                  </a:lnTo>
                  <a:lnTo>
                    <a:pt x="0" y="2585720"/>
                  </a:lnTo>
                  <a:close/>
                </a:path>
              </a:pathLst>
            </a:custGeom>
            <a:solidFill>
              <a:srgbClr val="EAF3FF"/>
            </a:solidFill>
            <a:ln w="19050" cap="sq">
              <a:solidFill>
                <a:srgbClr val="A9C9E8"/>
              </a:solidFill>
              <a:prstDash val="solid"/>
              <a:miter/>
            </a:ln>
          </p:spPr>
        </p:sp>
      </p:grpSp>
      <p:grpSp>
        <p:nvGrpSpPr>
          <p:cNvPr name="Group 38" id="38"/>
          <p:cNvGrpSpPr/>
          <p:nvPr/>
        </p:nvGrpSpPr>
        <p:grpSpPr>
          <a:xfrm rot="0">
            <a:off x="12646152" y="1001268"/>
            <a:ext cx="987552" cy="329184"/>
            <a:chOff x="0" y="0"/>
            <a:chExt cx="1316736" cy="438912"/>
          </a:xfrm>
        </p:grpSpPr>
        <p:sp>
          <p:nvSpPr>
            <p:cNvPr name="Freeform 39" id="39"/>
            <p:cNvSpPr/>
            <p:nvPr/>
          </p:nvSpPr>
          <p:spPr>
            <a:xfrm flipH="false" flipV="false" rot="0">
              <a:off x="0" y="0"/>
              <a:ext cx="1316736" cy="438912"/>
            </a:xfrm>
            <a:custGeom>
              <a:avLst/>
              <a:gdLst/>
              <a:ahLst/>
              <a:cxnLst/>
              <a:rect r="r" b="b" t="t" l="l"/>
              <a:pathLst>
                <a:path h="438912" w="1316736">
                  <a:moveTo>
                    <a:pt x="0" y="73152"/>
                  </a:moveTo>
                  <a:cubicBezTo>
                    <a:pt x="0" y="32766"/>
                    <a:pt x="32766" y="0"/>
                    <a:pt x="73152" y="0"/>
                  </a:cubicBezTo>
                  <a:lnTo>
                    <a:pt x="1243584" y="0"/>
                  </a:lnTo>
                  <a:cubicBezTo>
                    <a:pt x="1283970" y="0"/>
                    <a:pt x="1316736" y="32766"/>
                    <a:pt x="1316736" y="73152"/>
                  </a:cubicBezTo>
                  <a:lnTo>
                    <a:pt x="1316736" y="365760"/>
                  </a:lnTo>
                  <a:cubicBezTo>
                    <a:pt x="1316736" y="406146"/>
                    <a:pt x="1283970" y="438912"/>
                    <a:pt x="1243584" y="438912"/>
                  </a:cubicBezTo>
                  <a:lnTo>
                    <a:pt x="73152" y="438912"/>
                  </a:lnTo>
                  <a:cubicBezTo>
                    <a:pt x="32766" y="438912"/>
                    <a:pt x="0" y="406146"/>
                    <a:pt x="0" y="365760"/>
                  </a:cubicBezTo>
                  <a:close/>
                </a:path>
              </a:pathLst>
            </a:custGeom>
            <a:solidFill>
              <a:srgbClr val="7A00CC"/>
            </a:solidFill>
          </p:spPr>
        </p:sp>
      </p:grpSp>
      <p:grpSp>
        <p:nvGrpSpPr>
          <p:cNvPr name="Group 40" id="40"/>
          <p:cNvGrpSpPr/>
          <p:nvPr/>
        </p:nvGrpSpPr>
        <p:grpSpPr>
          <a:xfrm rot="0">
            <a:off x="12646152" y="1001268"/>
            <a:ext cx="987552" cy="329184"/>
            <a:chOff x="0" y="0"/>
            <a:chExt cx="1316736" cy="438912"/>
          </a:xfrm>
        </p:grpSpPr>
        <p:sp>
          <p:nvSpPr>
            <p:cNvPr name="Freeform 41" id="41"/>
            <p:cNvSpPr/>
            <p:nvPr/>
          </p:nvSpPr>
          <p:spPr>
            <a:xfrm flipH="false" flipV="false" rot="0">
              <a:off x="0" y="0"/>
              <a:ext cx="1316736" cy="438912"/>
            </a:xfrm>
            <a:custGeom>
              <a:avLst/>
              <a:gdLst/>
              <a:ahLst/>
              <a:cxnLst/>
              <a:rect r="r" b="b" t="t" l="l"/>
              <a:pathLst>
                <a:path h="438912" w="1316736">
                  <a:moveTo>
                    <a:pt x="0" y="0"/>
                  </a:moveTo>
                  <a:lnTo>
                    <a:pt x="1316736" y="0"/>
                  </a:lnTo>
                  <a:lnTo>
                    <a:pt x="1316736" y="438912"/>
                  </a:lnTo>
                  <a:lnTo>
                    <a:pt x="0" y="438912"/>
                  </a:lnTo>
                  <a:close/>
                </a:path>
              </a:pathLst>
            </a:custGeom>
            <a:blipFill>
              <a:blip r:embed="rId2">
                <a:alphaModFix amt="0"/>
              </a:blip>
              <a:stretch>
                <a:fillRect l="0" t="-8455" r="0" b="-8455"/>
              </a:stretch>
            </a:blipFill>
          </p:spPr>
        </p:sp>
        <p:sp>
          <p:nvSpPr>
            <p:cNvPr name="TextBox 42" id="42"/>
            <p:cNvSpPr txBox="true"/>
            <p:nvPr/>
          </p:nvSpPr>
          <p:spPr>
            <a:xfrm>
              <a:off x="0" y="-28575"/>
              <a:ext cx="1316736" cy="467487"/>
            </a:xfrm>
            <a:prstGeom prst="rect">
              <a:avLst/>
            </a:prstGeom>
          </p:spPr>
          <p:txBody>
            <a:bodyPr anchor="ctr" rtlCol="false" tIns="0" lIns="0" bIns="0" rIns="0"/>
            <a:lstStyle/>
            <a:p>
              <a:pPr algn="ctr">
                <a:lnSpc>
                  <a:spcPts val="1679"/>
                </a:lnSpc>
              </a:pPr>
              <a:r>
                <a:rPr lang="en-US" sz="1399" b="true">
                  <a:solidFill>
                    <a:srgbClr val="FFFFFF"/>
                  </a:solidFill>
                  <a:latin typeface="Calibri (MS) Bold"/>
                  <a:ea typeface="Calibri (MS) Bold"/>
                  <a:cs typeface="Calibri (MS) Bold"/>
                  <a:sym typeface="Calibri (MS) Bold"/>
                </a:rPr>
                <a:t>STEP 3</a:t>
              </a:r>
            </a:p>
          </p:txBody>
        </p:sp>
      </p:grpSp>
      <p:grpSp>
        <p:nvGrpSpPr>
          <p:cNvPr name="Group 43" id="43"/>
          <p:cNvGrpSpPr/>
          <p:nvPr/>
        </p:nvGrpSpPr>
        <p:grpSpPr>
          <a:xfrm rot="0">
            <a:off x="12664440" y="1399032"/>
            <a:ext cx="4686300" cy="343449"/>
            <a:chOff x="0" y="0"/>
            <a:chExt cx="6248400" cy="457932"/>
          </a:xfrm>
        </p:grpSpPr>
        <p:sp>
          <p:nvSpPr>
            <p:cNvPr name="Freeform 44" id="44"/>
            <p:cNvSpPr/>
            <p:nvPr/>
          </p:nvSpPr>
          <p:spPr>
            <a:xfrm flipH="false" flipV="false" rot="0">
              <a:off x="0" y="0"/>
              <a:ext cx="6248400" cy="457932"/>
            </a:xfrm>
            <a:custGeom>
              <a:avLst/>
              <a:gdLst/>
              <a:ahLst/>
              <a:cxnLst/>
              <a:rect r="r" b="b" t="t" l="l"/>
              <a:pathLst>
                <a:path h="457932" w="6248400">
                  <a:moveTo>
                    <a:pt x="0" y="0"/>
                  </a:moveTo>
                  <a:lnTo>
                    <a:pt x="6248400" y="0"/>
                  </a:lnTo>
                  <a:lnTo>
                    <a:pt x="6248400" y="457932"/>
                  </a:lnTo>
                  <a:lnTo>
                    <a:pt x="0" y="457932"/>
                  </a:lnTo>
                  <a:close/>
                </a:path>
              </a:pathLst>
            </a:custGeom>
            <a:blipFill>
              <a:blip r:embed="rId2">
                <a:alphaModFix amt="0"/>
              </a:blip>
              <a:stretch>
                <a:fillRect l="0" t="-221940" r="0" b="-209799"/>
              </a:stretch>
            </a:blipFill>
          </p:spPr>
        </p:sp>
        <p:sp>
          <p:nvSpPr>
            <p:cNvPr name="TextBox 45" id="45"/>
            <p:cNvSpPr txBox="true"/>
            <p:nvPr/>
          </p:nvSpPr>
          <p:spPr>
            <a:xfrm>
              <a:off x="0" y="-38100"/>
              <a:ext cx="6248400" cy="496032"/>
            </a:xfrm>
            <a:prstGeom prst="rect">
              <a:avLst/>
            </a:prstGeom>
          </p:spPr>
          <p:txBody>
            <a:bodyPr anchor="ctr" rtlCol="false" tIns="0" lIns="0" bIns="0" rIns="0"/>
            <a:lstStyle/>
            <a:p>
              <a:pPr algn="l">
                <a:lnSpc>
                  <a:spcPts val="2099"/>
                </a:lnSpc>
              </a:pPr>
              <a:r>
                <a:rPr lang="en-US" b="true" sz="1749" u="sng">
                  <a:solidFill>
                    <a:srgbClr val="5B0E96"/>
                  </a:solidFill>
                  <a:latin typeface="Calibri (MS) Bold"/>
                  <a:ea typeface="Calibri (MS) Bold"/>
                  <a:cs typeface="Calibri (MS) Bold"/>
                  <a:sym typeface="Calibri (MS) Bold"/>
                </a:rPr>
                <a:t>Narrative Generation</a:t>
              </a:r>
            </a:p>
          </p:txBody>
        </p:sp>
      </p:grpSp>
      <p:sp>
        <p:nvSpPr>
          <p:cNvPr name="TextBox 46" id="46"/>
          <p:cNvSpPr txBox="true"/>
          <p:nvPr/>
        </p:nvSpPr>
        <p:spPr>
          <a:xfrm rot="0">
            <a:off x="12664440" y="1697355"/>
            <a:ext cx="4686300" cy="851154"/>
          </a:xfrm>
          <a:prstGeom prst="rect">
            <a:avLst/>
          </a:prstGeom>
        </p:spPr>
        <p:txBody>
          <a:bodyPr anchor="t" rtlCol="false" tIns="0" lIns="0" bIns="0" rIns="0">
            <a:spAutoFit/>
          </a:bodyPr>
          <a:lstStyle/>
          <a:p>
            <a:pPr algn="l">
              <a:lnSpc>
                <a:spcPts val="2177"/>
              </a:lnSpc>
            </a:pPr>
            <a:r>
              <a:rPr lang="en-US" sz="1649">
                <a:solidFill>
                  <a:srgbClr val="222222"/>
                </a:solidFill>
                <a:latin typeface="Calibri (MS)"/>
                <a:ea typeface="Calibri (MS)"/>
                <a:cs typeface="Calibri (MS)"/>
                <a:sym typeface="Calibri (MS)"/>
              </a:rPr>
              <a:t>The evidence is combined into one plain-language business story, with a confidence score and a recommended set of actions attached.</a:t>
            </a:r>
          </a:p>
        </p:txBody>
      </p:sp>
      <p:grpSp>
        <p:nvGrpSpPr>
          <p:cNvPr name="Group 47" id="47"/>
          <p:cNvGrpSpPr/>
          <p:nvPr/>
        </p:nvGrpSpPr>
        <p:grpSpPr>
          <a:xfrm rot="0">
            <a:off x="548640" y="3264408"/>
            <a:ext cx="438912" cy="1659636"/>
            <a:chOff x="0" y="0"/>
            <a:chExt cx="585216" cy="2212848"/>
          </a:xfrm>
        </p:grpSpPr>
        <p:sp>
          <p:nvSpPr>
            <p:cNvPr name="Freeform 48" id="48"/>
            <p:cNvSpPr/>
            <p:nvPr/>
          </p:nvSpPr>
          <p:spPr>
            <a:xfrm flipH="false" flipV="false" rot="0">
              <a:off x="0" y="0"/>
              <a:ext cx="585216" cy="2212848"/>
            </a:xfrm>
            <a:custGeom>
              <a:avLst/>
              <a:gdLst/>
              <a:ahLst/>
              <a:cxnLst/>
              <a:rect r="r" b="b" t="t" l="l"/>
              <a:pathLst>
                <a:path h="2212848" w="585216">
                  <a:moveTo>
                    <a:pt x="0" y="0"/>
                  </a:moveTo>
                  <a:lnTo>
                    <a:pt x="585216" y="0"/>
                  </a:lnTo>
                  <a:lnTo>
                    <a:pt x="585216" y="2212848"/>
                  </a:lnTo>
                  <a:lnTo>
                    <a:pt x="0" y="2212848"/>
                  </a:lnTo>
                  <a:close/>
                </a:path>
              </a:pathLst>
            </a:custGeom>
            <a:solidFill>
              <a:srgbClr val="7A00CC"/>
            </a:solidFill>
          </p:spPr>
        </p:sp>
      </p:grpSp>
      <p:grpSp>
        <p:nvGrpSpPr>
          <p:cNvPr name="Group 49" id="49"/>
          <p:cNvGrpSpPr/>
          <p:nvPr/>
        </p:nvGrpSpPr>
        <p:grpSpPr>
          <a:xfrm rot="-5400000">
            <a:off x="-61722" y="3874770"/>
            <a:ext cx="1659636" cy="438912"/>
            <a:chOff x="0" y="0"/>
            <a:chExt cx="2212848" cy="585216"/>
          </a:xfrm>
        </p:grpSpPr>
        <p:sp>
          <p:nvSpPr>
            <p:cNvPr name="Freeform 50" id="50"/>
            <p:cNvSpPr/>
            <p:nvPr/>
          </p:nvSpPr>
          <p:spPr>
            <a:xfrm flipH="false" flipV="false" rot="0">
              <a:off x="0" y="0"/>
              <a:ext cx="2212848" cy="585216"/>
            </a:xfrm>
            <a:custGeom>
              <a:avLst/>
              <a:gdLst/>
              <a:ahLst/>
              <a:cxnLst/>
              <a:rect r="r" b="b" t="t" l="l"/>
              <a:pathLst>
                <a:path h="585216" w="2212848">
                  <a:moveTo>
                    <a:pt x="0" y="0"/>
                  </a:moveTo>
                  <a:lnTo>
                    <a:pt x="2212848" y="0"/>
                  </a:lnTo>
                  <a:lnTo>
                    <a:pt x="2212848" y="585216"/>
                  </a:lnTo>
                  <a:lnTo>
                    <a:pt x="0" y="585216"/>
                  </a:lnTo>
                  <a:close/>
                </a:path>
              </a:pathLst>
            </a:custGeom>
            <a:blipFill>
              <a:blip r:embed="rId2">
                <a:alphaModFix amt="0"/>
              </a:blip>
              <a:stretch>
                <a:fillRect l="0" t="-23677" r="0" b="-23677"/>
              </a:stretch>
            </a:blipFill>
          </p:spPr>
        </p:sp>
        <p:sp>
          <p:nvSpPr>
            <p:cNvPr name="TextBox 51" id="51"/>
            <p:cNvSpPr txBox="true"/>
            <p:nvPr/>
          </p:nvSpPr>
          <p:spPr>
            <a:xfrm>
              <a:off x="0" y="-47625"/>
              <a:ext cx="2212848" cy="632841"/>
            </a:xfrm>
            <a:prstGeom prst="rect">
              <a:avLst/>
            </a:prstGeom>
          </p:spPr>
          <p:txBody>
            <a:bodyPr anchor="ctr" rtlCol="false" tIns="0" lIns="0" bIns="0" rIns="0"/>
            <a:lstStyle/>
            <a:p>
              <a:pPr algn="ctr">
                <a:lnSpc>
                  <a:spcPts val="2219"/>
                </a:lnSpc>
              </a:pPr>
              <a:r>
                <a:rPr lang="en-US" sz="1849" b="true">
                  <a:solidFill>
                    <a:srgbClr val="FFFFFF"/>
                  </a:solidFill>
                  <a:latin typeface="Calibri (MS) Bold"/>
                  <a:ea typeface="Calibri (MS) Bold"/>
                  <a:cs typeface="Calibri (MS) Bold"/>
                  <a:sym typeface="Calibri (MS) Bold"/>
                </a:rPr>
                <a:t>FINDINGS</a:t>
              </a:r>
            </a:p>
          </p:txBody>
        </p:sp>
      </p:grpSp>
      <p:grpSp>
        <p:nvGrpSpPr>
          <p:cNvPr name="Group 52" id="52"/>
          <p:cNvGrpSpPr/>
          <p:nvPr/>
        </p:nvGrpSpPr>
        <p:grpSpPr>
          <a:xfrm rot="0">
            <a:off x="1142619" y="3254883"/>
            <a:ext cx="5317617" cy="1678686"/>
            <a:chOff x="0" y="0"/>
            <a:chExt cx="7090156" cy="2238248"/>
          </a:xfrm>
        </p:grpSpPr>
        <p:sp>
          <p:nvSpPr>
            <p:cNvPr name="Freeform 53" id="53"/>
            <p:cNvSpPr/>
            <p:nvPr/>
          </p:nvSpPr>
          <p:spPr>
            <a:xfrm flipH="false" flipV="false" rot="0">
              <a:off x="0" y="0"/>
              <a:ext cx="7090156" cy="2238248"/>
            </a:xfrm>
            <a:custGeom>
              <a:avLst/>
              <a:gdLst/>
              <a:ahLst/>
              <a:cxnLst/>
              <a:rect r="r" b="b" t="t" l="l"/>
              <a:pathLst>
                <a:path h="2238248" w="7090156">
                  <a:moveTo>
                    <a:pt x="0" y="0"/>
                  </a:moveTo>
                  <a:lnTo>
                    <a:pt x="7090156" y="0"/>
                  </a:lnTo>
                  <a:lnTo>
                    <a:pt x="7090156" y="2238248"/>
                  </a:lnTo>
                  <a:lnTo>
                    <a:pt x="0" y="2238248"/>
                  </a:lnTo>
                  <a:close/>
                </a:path>
              </a:pathLst>
            </a:custGeom>
            <a:solidFill>
              <a:srgbClr val="E9F9EF"/>
            </a:solidFill>
            <a:ln w="19050" cap="sq">
              <a:solidFill>
                <a:srgbClr val="A9C9E8"/>
              </a:solidFill>
              <a:prstDash val="solid"/>
              <a:miter/>
            </a:ln>
          </p:spPr>
        </p:sp>
      </p:grpSp>
      <p:grpSp>
        <p:nvGrpSpPr>
          <p:cNvPr name="Group 54" id="54"/>
          <p:cNvGrpSpPr/>
          <p:nvPr/>
        </p:nvGrpSpPr>
        <p:grpSpPr>
          <a:xfrm rot="0">
            <a:off x="1316736" y="3374136"/>
            <a:ext cx="4741164" cy="411480"/>
            <a:chOff x="0" y="0"/>
            <a:chExt cx="6321552" cy="548640"/>
          </a:xfrm>
        </p:grpSpPr>
        <p:sp>
          <p:nvSpPr>
            <p:cNvPr name="Freeform 55" id="55"/>
            <p:cNvSpPr/>
            <p:nvPr/>
          </p:nvSpPr>
          <p:spPr>
            <a:xfrm flipH="false" flipV="false" rot="0">
              <a:off x="0" y="0"/>
              <a:ext cx="6321552" cy="548640"/>
            </a:xfrm>
            <a:custGeom>
              <a:avLst/>
              <a:gdLst/>
              <a:ahLst/>
              <a:cxnLst/>
              <a:rect r="r" b="b" t="t" l="l"/>
              <a:pathLst>
                <a:path h="548640" w="6321552">
                  <a:moveTo>
                    <a:pt x="0" y="0"/>
                  </a:moveTo>
                  <a:lnTo>
                    <a:pt x="6321552" y="0"/>
                  </a:lnTo>
                  <a:lnTo>
                    <a:pt x="6321552" y="548640"/>
                  </a:lnTo>
                  <a:lnTo>
                    <a:pt x="0" y="548640"/>
                  </a:lnTo>
                  <a:close/>
                </a:path>
              </a:pathLst>
            </a:custGeom>
            <a:blipFill>
              <a:blip r:embed="rId2">
                <a:alphaModFix amt="0"/>
              </a:blip>
              <a:stretch>
                <a:fillRect l="0" t="-174510" r="0" b="-174510"/>
              </a:stretch>
            </a:blipFill>
          </p:spPr>
        </p:sp>
        <p:sp>
          <p:nvSpPr>
            <p:cNvPr name="TextBox 56" id="56"/>
            <p:cNvSpPr txBox="true"/>
            <p:nvPr/>
          </p:nvSpPr>
          <p:spPr>
            <a:xfrm>
              <a:off x="0" y="-38100"/>
              <a:ext cx="6321552" cy="586740"/>
            </a:xfrm>
            <a:prstGeom prst="rect">
              <a:avLst/>
            </a:prstGeom>
          </p:spPr>
          <p:txBody>
            <a:bodyPr anchor="ctr" rtlCol="false" tIns="0" lIns="0" bIns="0" rIns="0"/>
            <a:lstStyle/>
            <a:p>
              <a:pPr algn="l">
                <a:lnSpc>
                  <a:spcPts val="1800"/>
                </a:lnSpc>
              </a:pPr>
              <a:r>
                <a:rPr lang="en-US" b="true" sz="1500" u="sng">
                  <a:solidFill>
                    <a:srgbClr val="5B0E96"/>
                  </a:solidFill>
                  <a:latin typeface="Calibri (MS) Bold"/>
                  <a:ea typeface="Calibri (MS) Bold"/>
                  <a:cs typeface="Calibri (MS) Bold"/>
                  <a:sym typeface="Calibri (MS) Bold"/>
                </a:rPr>
                <a:t>PRIMARY DRIVER — SUPPLIER PERFORMANCE</a:t>
              </a:r>
            </a:p>
          </p:txBody>
        </p:sp>
      </p:grpSp>
      <p:sp>
        <p:nvSpPr>
          <p:cNvPr name="TextBox 57" id="57"/>
          <p:cNvSpPr txBox="true"/>
          <p:nvPr/>
        </p:nvSpPr>
        <p:spPr>
          <a:xfrm rot="0">
            <a:off x="1316736" y="3728466"/>
            <a:ext cx="4741164" cy="1062228"/>
          </a:xfrm>
          <a:prstGeom prst="rect">
            <a:avLst/>
          </a:prstGeom>
        </p:spPr>
        <p:txBody>
          <a:bodyPr anchor="t" rtlCol="false" tIns="0" lIns="0" bIns="0" rIns="0">
            <a:spAutoFit/>
          </a:bodyPr>
          <a:lstStyle/>
          <a:p>
            <a:pPr algn="l">
              <a:lnSpc>
                <a:spcPts val="2045"/>
              </a:lnSpc>
            </a:pPr>
            <a:r>
              <a:rPr lang="en-US" sz="1549">
                <a:solidFill>
                  <a:srgbClr val="222222"/>
                </a:solidFill>
                <a:latin typeface="Calibri (MS)"/>
                <a:ea typeface="Calibri (MS)"/>
                <a:cs typeface="Calibri (MS)"/>
                <a:sym typeface="Calibri (MS)"/>
              </a:rPr>
              <a:t>Shipment delays rose 18% and cut product availability, directly affecting the customer experience. This is the strongest single explanation the evidence supports, at 84% confidence.</a:t>
            </a:r>
          </a:p>
        </p:txBody>
      </p:sp>
      <p:grpSp>
        <p:nvGrpSpPr>
          <p:cNvPr name="Group 58" id="58"/>
          <p:cNvGrpSpPr/>
          <p:nvPr/>
        </p:nvGrpSpPr>
        <p:grpSpPr>
          <a:xfrm rot="0">
            <a:off x="6793611" y="3254883"/>
            <a:ext cx="5313426" cy="1678686"/>
            <a:chOff x="0" y="0"/>
            <a:chExt cx="7084568" cy="2238248"/>
          </a:xfrm>
        </p:grpSpPr>
        <p:sp>
          <p:nvSpPr>
            <p:cNvPr name="Freeform 59" id="59"/>
            <p:cNvSpPr/>
            <p:nvPr/>
          </p:nvSpPr>
          <p:spPr>
            <a:xfrm flipH="false" flipV="false" rot="0">
              <a:off x="0" y="0"/>
              <a:ext cx="7084568" cy="2238248"/>
            </a:xfrm>
            <a:custGeom>
              <a:avLst/>
              <a:gdLst/>
              <a:ahLst/>
              <a:cxnLst/>
              <a:rect r="r" b="b" t="t" l="l"/>
              <a:pathLst>
                <a:path h="2238248" w="7084568">
                  <a:moveTo>
                    <a:pt x="0" y="0"/>
                  </a:moveTo>
                  <a:lnTo>
                    <a:pt x="7084568" y="0"/>
                  </a:lnTo>
                  <a:lnTo>
                    <a:pt x="7084568" y="2238248"/>
                  </a:lnTo>
                  <a:lnTo>
                    <a:pt x="0" y="2238248"/>
                  </a:lnTo>
                  <a:close/>
                </a:path>
              </a:pathLst>
            </a:custGeom>
            <a:solidFill>
              <a:srgbClr val="E9F9EF"/>
            </a:solidFill>
            <a:ln w="19050" cap="sq">
              <a:solidFill>
                <a:srgbClr val="A9C9E8"/>
              </a:solidFill>
              <a:prstDash val="solid"/>
              <a:miter/>
            </a:ln>
          </p:spPr>
        </p:sp>
      </p:grpSp>
      <p:grpSp>
        <p:nvGrpSpPr>
          <p:cNvPr name="Group 60" id="60"/>
          <p:cNvGrpSpPr/>
          <p:nvPr/>
        </p:nvGrpSpPr>
        <p:grpSpPr>
          <a:xfrm rot="0">
            <a:off x="6908292" y="3364611"/>
            <a:ext cx="4741164" cy="411480"/>
            <a:chOff x="0" y="0"/>
            <a:chExt cx="6321552" cy="548640"/>
          </a:xfrm>
        </p:grpSpPr>
        <p:sp>
          <p:nvSpPr>
            <p:cNvPr name="Freeform 61" id="61"/>
            <p:cNvSpPr/>
            <p:nvPr/>
          </p:nvSpPr>
          <p:spPr>
            <a:xfrm flipH="false" flipV="false" rot="0">
              <a:off x="0" y="0"/>
              <a:ext cx="6321552" cy="548640"/>
            </a:xfrm>
            <a:custGeom>
              <a:avLst/>
              <a:gdLst/>
              <a:ahLst/>
              <a:cxnLst/>
              <a:rect r="r" b="b" t="t" l="l"/>
              <a:pathLst>
                <a:path h="548640" w="6321552">
                  <a:moveTo>
                    <a:pt x="0" y="0"/>
                  </a:moveTo>
                  <a:lnTo>
                    <a:pt x="6321552" y="0"/>
                  </a:lnTo>
                  <a:lnTo>
                    <a:pt x="6321552" y="548640"/>
                  </a:lnTo>
                  <a:lnTo>
                    <a:pt x="0" y="548640"/>
                  </a:lnTo>
                  <a:close/>
                </a:path>
              </a:pathLst>
            </a:custGeom>
            <a:blipFill>
              <a:blip r:embed="rId2">
                <a:alphaModFix amt="0"/>
              </a:blip>
              <a:stretch>
                <a:fillRect l="0" t="-174510" r="0" b="-174510"/>
              </a:stretch>
            </a:blipFill>
          </p:spPr>
        </p:sp>
        <p:sp>
          <p:nvSpPr>
            <p:cNvPr name="TextBox 62" id="62"/>
            <p:cNvSpPr txBox="true"/>
            <p:nvPr/>
          </p:nvSpPr>
          <p:spPr>
            <a:xfrm>
              <a:off x="0" y="-38100"/>
              <a:ext cx="6321552" cy="586740"/>
            </a:xfrm>
            <a:prstGeom prst="rect">
              <a:avLst/>
            </a:prstGeom>
          </p:spPr>
          <p:txBody>
            <a:bodyPr anchor="ctr" rtlCol="false" tIns="0" lIns="0" bIns="0" rIns="0"/>
            <a:lstStyle/>
            <a:p>
              <a:pPr algn="l">
                <a:lnSpc>
                  <a:spcPts val="1800"/>
                </a:lnSpc>
              </a:pPr>
              <a:r>
                <a:rPr lang="en-US" b="true" sz="1500" u="sng">
                  <a:solidFill>
                    <a:srgbClr val="5B0E96"/>
                  </a:solidFill>
                  <a:latin typeface="Calibri (MS) Bold"/>
                  <a:ea typeface="Calibri (MS) Bold"/>
                  <a:cs typeface="Calibri (MS) Bold"/>
                  <a:sym typeface="Calibri (MS) Bold"/>
                </a:rPr>
                <a:t>CUSTOMER IMPACT WAS DIRECT</a:t>
              </a:r>
            </a:p>
          </p:txBody>
        </p:sp>
      </p:grpSp>
      <p:sp>
        <p:nvSpPr>
          <p:cNvPr name="TextBox 63" id="63"/>
          <p:cNvSpPr txBox="true"/>
          <p:nvPr/>
        </p:nvSpPr>
        <p:spPr>
          <a:xfrm rot="0">
            <a:off x="6908292" y="3728466"/>
            <a:ext cx="4741164" cy="805053"/>
          </a:xfrm>
          <a:prstGeom prst="rect">
            <a:avLst/>
          </a:prstGeom>
        </p:spPr>
        <p:txBody>
          <a:bodyPr anchor="t" rtlCol="false" tIns="0" lIns="0" bIns="0" rIns="0">
            <a:spAutoFit/>
          </a:bodyPr>
          <a:lstStyle/>
          <a:p>
            <a:pPr algn="l">
              <a:lnSpc>
                <a:spcPts val="2045"/>
              </a:lnSpc>
            </a:pPr>
            <a:r>
              <a:rPr lang="en-US" sz="1549">
                <a:solidFill>
                  <a:srgbClr val="222222"/>
                </a:solidFill>
                <a:latin typeface="Calibri (MS)"/>
                <a:ea typeface="Calibri (MS)"/>
                <a:cs typeface="Calibri (MS)"/>
                <a:sym typeface="Calibri (MS)"/>
              </a:rPr>
              <a:t>Complaints rose 24% and satisfaction fell as deliveries slipped. Fewer repeat purchases followed, and that decline in retention shows up directly in revenue.</a:t>
            </a:r>
          </a:p>
        </p:txBody>
      </p:sp>
      <p:grpSp>
        <p:nvGrpSpPr>
          <p:cNvPr name="Group 64" id="64"/>
          <p:cNvGrpSpPr/>
          <p:nvPr/>
        </p:nvGrpSpPr>
        <p:grpSpPr>
          <a:xfrm rot="0">
            <a:off x="12440412" y="3254883"/>
            <a:ext cx="5303901" cy="1678686"/>
            <a:chOff x="0" y="0"/>
            <a:chExt cx="7071868" cy="2238248"/>
          </a:xfrm>
        </p:grpSpPr>
        <p:sp>
          <p:nvSpPr>
            <p:cNvPr name="Freeform 65" id="65"/>
            <p:cNvSpPr/>
            <p:nvPr/>
          </p:nvSpPr>
          <p:spPr>
            <a:xfrm flipH="false" flipV="false" rot="0">
              <a:off x="0" y="0"/>
              <a:ext cx="7071868" cy="2238248"/>
            </a:xfrm>
            <a:custGeom>
              <a:avLst/>
              <a:gdLst/>
              <a:ahLst/>
              <a:cxnLst/>
              <a:rect r="r" b="b" t="t" l="l"/>
              <a:pathLst>
                <a:path h="2238248" w="7071868">
                  <a:moveTo>
                    <a:pt x="0" y="0"/>
                  </a:moveTo>
                  <a:lnTo>
                    <a:pt x="7071868" y="0"/>
                  </a:lnTo>
                  <a:lnTo>
                    <a:pt x="7071868" y="2238248"/>
                  </a:lnTo>
                  <a:lnTo>
                    <a:pt x="0" y="2238248"/>
                  </a:lnTo>
                  <a:close/>
                </a:path>
              </a:pathLst>
            </a:custGeom>
            <a:solidFill>
              <a:srgbClr val="E9F9EF"/>
            </a:solidFill>
            <a:ln w="19050" cap="sq">
              <a:solidFill>
                <a:srgbClr val="A9C9E8"/>
              </a:solidFill>
              <a:prstDash val="solid"/>
              <a:miter/>
            </a:ln>
          </p:spPr>
        </p:sp>
      </p:grpSp>
      <p:grpSp>
        <p:nvGrpSpPr>
          <p:cNvPr name="Group 66" id="66"/>
          <p:cNvGrpSpPr/>
          <p:nvPr/>
        </p:nvGrpSpPr>
        <p:grpSpPr>
          <a:xfrm rot="0">
            <a:off x="12664440" y="3374136"/>
            <a:ext cx="4741164" cy="411480"/>
            <a:chOff x="0" y="0"/>
            <a:chExt cx="6321552" cy="548640"/>
          </a:xfrm>
        </p:grpSpPr>
        <p:sp>
          <p:nvSpPr>
            <p:cNvPr name="Freeform 67" id="67"/>
            <p:cNvSpPr/>
            <p:nvPr/>
          </p:nvSpPr>
          <p:spPr>
            <a:xfrm flipH="false" flipV="false" rot="0">
              <a:off x="0" y="0"/>
              <a:ext cx="6321552" cy="548640"/>
            </a:xfrm>
            <a:custGeom>
              <a:avLst/>
              <a:gdLst/>
              <a:ahLst/>
              <a:cxnLst/>
              <a:rect r="r" b="b" t="t" l="l"/>
              <a:pathLst>
                <a:path h="548640" w="6321552">
                  <a:moveTo>
                    <a:pt x="0" y="0"/>
                  </a:moveTo>
                  <a:lnTo>
                    <a:pt x="6321552" y="0"/>
                  </a:lnTo>
                  <a:lnTo>
                    <a:pt x="6321552" y="548640"/>
                  </a:lnTo>
                  <a:lnTo>
                    <a:pt x="0" y="548640"/>
                  </a:lnTo>
                  <a:close/>
                </a:path>
              </a:pathLst>
            </a:custGeom>
            <a:blipFill>
              <a:blip r:embed="rId2">
                <a:alphaModFix amt="0"/>
              </a:blip>
              <a:stretch>
                <a:fillRect l="0" t="-174510" r="0" b="-174510"/>
              </a:stretch>
            </a:blipFill>
          </p:spPr>
        </p:sp>
        <p:sp>
          <p:nvSpPr>
            <p:cNvPr name="TextBox 68" id="68"/>
            <p:cNvSpPr txBox="true"/>
            <p:nvPr/>
          </p:nvSpPr>
          <p:spPr>
            <a:xfrm>
              <a:off x="0" y="-38100"/>
              <a:ext cx="6321552" cy="586740"/>
            </a:xfrm>
            <a:prstGeom prst="rect">
              <a:avLst/>
            </a:prstGeom>
          </p:spPr>
          <p:txBody>
            <a:bodyPr anchor="ctr" rtlCol="false" tIns="0" lIns="0" bIns="0" rIns="0"/>
            <a:lstStyle/>
            <a:p>
              <a:pPr algn="l">
                <a:lnSpc>
                  <a:spcPts val="1800"/>
                </a:lnSpc>
              </a:pPr>
              <a:r>
                <a:rPr lang="en-US" b="true" sz="1500" u="sng">
                  <a:solidFill>
                    <a:srgbClr val="5B0E96"/>
                  </a:solidFill>
                  <a:latin typeface="Calibri (MS) Bold"/>
                  <a:ea typeface="Calibri (MS) Bold"/>
                  <a:cs typeface="Calibri (MS) Bold"/>
                  <a:sym typeface="Calibri (MS) Bold"/>
                </a:rPr>
                <a:t>OPERATIONS AND CUSTOMERS ARE LINKED</a:t>
              </a:r>
            </a:p>
          </p:txBody>
        </p:sp>
      </p:grpSp>
      <p:sp>
        <p:nvSpPr>
          <p:cNvPr name="TextBox 69" id="69"/>
          <p:cNvSpPr txBox="true"/>
          <p:nvPr/>
        </p:nvSpPr>
        <p:spPr>
          <a:xfrm rot="0">
            <a:off x="12664440" y="3728466"/>
            <a:ext cx="4741164" cy="1062228"/>
          </a:xfrm>
          <a:prstGeom prst="rect">
            <a:avLst/>
          </a:prstGeom>
        </p:spPr>
        <p:txBody>
          <a:bodyPr anchor="t" rtlCol="false" tIns="0" lIns="0" bIns="0" rIns="0">
            <a:spAutoFit/>
          </a:bodyPr>
          <a:lstStyle/>
          <a:p>
            <a:pPr algn="l">
              <a:lnSpc>
                <a:spcPts val="2045"/>
              </a:lnSpc>
            </a:pPr>
            <a:r>
              <a:rPr lang="en-US" sz="1549">
                <a:solidFill>
                  <a:srgbClr val="222222"/>
                </a:solidFill>
                <a:latin typeface="Calibri (MS)"/>
                <a:ea typeface="Calibri (MS)"/>
                <a:cs typeface="Calibri (MS)"/>
                <a:sym typeface="Calibri (MS)"/>
              </a:rPr>
              <a:t>The investigation shows operational disruption and customer behavior moving together, not as two separate problems — which is why fixing one side alone won't be enough.</a:t>
            </a:r>
          </a:p>
        </p:txBody>
      </p:sp>
      <p:grpSp>
        <p:nvGrpSpPr>
          <p:cNvPr name="Group 70" id="70"/>
          <p:cNvGrpSpPr/>
          <p:nvPr/>
        </p:nvGrpSpPr>
        <p:grpSpPr>
          <a:xfrm rot="0">
            <a:off x="548640" y="5006340"/>
            <a:ext cx="438912" cy="4690872"/>
            <a:chOff x="0" y="0"/>
            <a:chExt cx="585216" cy="6254496"/>
          </a:xfrm>
        </p:grpSpPr>
        <p:sp>
          <p:nvSpPr>
            <p:cNvPr name="Freeform 71" id="71"/>
            <p:cNvSpPr/>
            <p:nvPr/>
          </p:nvSpPr>
          <p:spPr>
            <a:xfrm flipH="false" flipV="false" rot="0">
              <a:off x="0" y="0"/>
              <a:ext cx="585216" cy="6254496"/>
            </a:xfrm>
            <a:custGeom>
              <a:avLst/>
              <a:gdLst/>
              <a:ahLst/>
              <a:cxnLst/>
              <a:rect r="r" b="b" t="t" l="l"/>
              <a:pathLst>
                <a:path h="6254496" w="585216">
                  <a:moveTo>
                    <a:pt x="0" y="0"/>
                  </a:moveTo>
                  <a:lnTo>
                    <a:pt x="585216" y="0"/>
                  </a:lnTo>
                  <a:lnTo>
                    <a:pt x="585216" y="6254496"/>
                  </a:lnTo>
                  <a:lnTo>
                    <a:pt x="0" y="6254496"/>
                  </a:lnTo>
                  <a:close/>
                </a:path>
              </a:pathLst>
            </a:custGeom>
            <a:solidFill>
              <a:srgbClr val="7A00CC"/>
            </a:solidFill>
          </p:spPr>
        </p:sp>
      </p:grpSp>
      <p:grpSp>
        <p:nvGrpSpPr>
          <p:cNvPr name="Group 72" id="72"/>
          <p:cNvGrpSpPr/>
          <p:nvPr/>
        </p:nvGrpSpPr>
        <p:grpSpPr>
          <a:xfrm rot="-5400000">
            <a:off x="-1577340" y="7132320"/>
            <a:ext cx="4690872" cy="438912"/>
            <a:chOff x="0" y="0"/>
            <a:chExt cx="6254496" cy="585216"/>
          </a:xfrm>
        </p:grpSpPr>
        <p:sp>
          <p:nvSpPr>
            <p:cNvPr name="Freeform 73" id="73"/>
            <p:cNvSpPr/>
            <p:nvPr/>
          </p:nvSpPr>
          <p:spPr>
            <a:xfrm flipH="false" flipV="false" rot="0">
              <a:off x="0" y="0"/>
              <a:ext cx="6254496" cy="585216"/>
            </a:xfrm>
            <a:custGeom>
              <a:avLst/>
              <a:gdLst/>
              <a:ahLst/>
              <a:cxnLst/>
              <a:rect r="r" b="b" t="t" l="l"/>
              <a:pathLst>
                <a:path h="585216" w="6254496">
                  <a:moveTo>
                    <a:pt x="0" y="0"/>
                  </a:moveTo>
                  <a:lnTo>
                    <a:pt x="6254496" y="0"/>
                  </a:lnTo>
                  <a:lnTo>
                    <a:pt x="6254496" y="585216"/>
                  </a:lnTo>
                  <a:lnTo>
                    <a:pt x="0" y="585216"/>
                  </a:lnTo>
                  <a:close/>
                </a:path>
              </a:pathLst>
            </a:custGeom>
            <a:blipFill>
              <a:blip r:embed="rId2">
                <a:alphaModFix amt="0"/>
              </a:blip>
              <a:stretch>
                <a:fillRect l="0" t="-158246" r="0" b="-158246"/>
              </a:stretch>
            </a:blipFill>
          </p:spPr>
        </p:sp>
        <p:sp>
          <p:nvSpPr>
            <p:cNvPr name="TextBox 74" id="74"/>
            <p:cNvSpPr txBox="true"/>
            <p:nvPr/>
          </p:nvSpPr>
          <p:spPr>
            <a:xfrm>
              <a:off x="0" y="-47625"/>
              <a:ext cx="6254496" cy="632841"/>
            </a:xfrm>
            <a:prstGeom prst="rect">
              <a:avLst/>
            </a:prstGeom>
          </p:spPr>
          <p:txBody>
            <a:bodyPr anchor="ctr" rtlCol="false" tIns="0" lIns="0" bIns="0" rIns="0"/>
            <a:lstStyle/>
            <a:p>
              <a:pPr algn="ctr">
                <a:lnSpc>
                  <a:spcPts val="2219"/>
                </a:lnSpc>
              </a:pPr>
              <a:r>
                <a:rPr lang="en-US" sz="1849" b="true">
                  <a:solidFill>
                    <a:srgbClr val="FFFFFF"/>
                  </a:solidFill>
                  <a:latin typeface="Calibri (MS) Bold"/>
                  <a:ea typeface="Calibri (MS) Bold"/>
                  <a:cs typeface="Calibri (MS) Bold"/>
                  <a:sym typeface="Calibri (MS) Bold"/>
                </a:rPr>
                <a:t>ACTIONS</a:t>
              </a:r>
            </a:p>
          </p:txBody>
        </p:sp>
      </p:grpSp>
      <p:grpSp>
        <p:nvGrpSpPr>
          <p:cNvPr name="Group 75" id="75"/>
          <p:cNvGrpSpPr/>
          <p:nvPr/>
        </p:nvGrpSpPr>
        <p:grpSpPr>
          <a:xfrm rot="0">
            <a:off x="1152144" y="5006340"/>
            <a:ext cx="5308092" cy="576072"/>
            <a:chOff x="0" y="0"/>
            <a:chExt cx="7077456" cy="768096"/>
          </a:xfrm>
        </p:grpSpPr>
        <p:sp>
          <p:nvSpPr>
            <p:cNvPr name="Freeform 76" id="76"/>
            <p:cNvSpPr/>
            <p:nvPr/>
          </p:nvSpPr>
          <p:spPr>
            <a:xfrm flipH="false" flipV="false" rot="0">
              <a:off x="0" y="0"/>
              <a:ext cx="7077456" cy="768096"/>
            </a:xfrm>
            <a:custGeom>
              <a:avLst/>
              <a:gdLst/>
              <a:ahLst/>
              <a:cxnLst/>
              <a:rect r="r" b="b" t="t" l="l"/>
              <a:pathLst>
                <a:path h="768096" w="7077456">
                  <a:moveTo>
                    <a:pt x="0" y="0"/>
                  </a:moveTo>
                  <a:lnTo>
                    <a:pt x="7077456" y="0"/>
                  </a:lnTo>
                  <a:lnTo>
                    <a:pt x="7077456" y="768096"/>
                  </a:lnTo>
                  <a:lnTo>
                    <a:pt x="0" y="768096"/>
                  </a:lnTo>
                  <a:close/>
                </a:path>
              </a:pathLst>
            </a:custGeom>
            <a:solidFill>
              <a:srgbClr val="7A00CC"/>
            </a:solidFill>
          </p:spPr>
        </p:sp>
      </p:grpSp>
      <p:grpSp>
        <p:nvGrpSpPr>
          <p:cNvPr name="Group 77" id="77"/>
          <p:cNvGrpSpPr/>
          <p:nvPr/>
        </p:nvGrpSpPr>
        <p:grpSpPr>
          <a:xfrm rot="0">
            <a:off x="1565683" y="5006340"/>
            <a:ext cx="4243269" cy="460510"/>
            <a:chOff x="0" y="0"/>
            <a:chExt cx="7077456" cy="768096"/>
          </a:xfrm>
        </p:grpSpPr>
        <p:sp>
          <p:nvSpPr>
            <p:cNvPr name="Freeform 78" id="78"/>
            <p:cNvSpPr/>
            <p:nvPr/>
          </p:nvSpPr>
          <p:spPr>
            <a:xfrm flipH="false" flipV="false" rot="0">
              <a:off x="0" y="0"/>
              <a:ext cx="7077456" cy="768096"/>
            </a:xfrm>
            <a:custGeom>
              <a:avLst/>
              <a:gdLst/>
              <a:ahLst/>
              <a:cxnLst/>
              <a:rect r="r" b="b" t="t" l="l"/>
              <a:pathLst>
                <a:path h="768096" w="7077456">
                  <a:moveTo>
                    <a:pt x="0" y="0"/>
                  </a:moveTo>
                  <a:lnTo>
                    <a:pt x="7077456" y="0"/>
                  </a:lnTo>
                  <a:lnTo>
                    <a:pt x="7077456" y="768096"/>
                  </a:lnTo>
                  <a:lnTo>
                    <a:pt x="0" y="768096"/>
                  </a:lnTo>
                  <a:close/>
                </a:path>
              </a:pathLst>
            </a:custGeom>
            <a:blipFill>
              <a:blip r:embed="rId2">
                <a:alphaModFix amt="0"/>
              </a:blip>
              <a:stretch>
                <a:fillRect l="0" t="-129540" r="0" b="-129540"/>
              </a:stretch>
            </a:blipFill>
          </p:spPr>
        </p:sp>
        <p:sp>
          <p:nvSpPr>
            <p:cNvPr name="TextBox 79" id="79"/>
            <p:cNvSpPr txBox="true"/>
            <p:nvPr/>
          </p:nvSpPr>
          <p:spPr>
            <a:xfrm>
              <a:off x="0" y="-47625"/>
              <a:ext cx="7077456" cy="815721"/>
            </a:xfrm>
            <a:prstGeom prst="rect">
              <a:avLst/>
            </a:prstGeom>
          </p:spPr>
          <p:txBody>
            <a:bodyPr anchor="ctr" rtlCol="false" tIns="0" lIns="0" bIns="0" rIns="0"/>
            <a:lstStyle/>
            <a:p>
              <a:pPr algn="ctr">
                <a:lnSpc>
                  <a:spcPts val="2340"/>
                </a:lnSpc>
              </a:pPr>
              <a:r>
                <a:rPr lang="en-US" b="true" sz="1950">
                  <a:solidFill>
                    <a:srgbClr val="FFFFFF"/>
                  </a:solidFill>
                  <a:latin typeface="Calibri (MS) Bold"/>
                  <a:ea typeface="Calibri (MS) Bold"/>
                  <a:cs typeface="Calibri (MS) Bold"/>
                  <a:sym typeface="Calibri (MS) Bold"/>
                </a:rPr>
                <a:t>IMMEDIATE RESPONSE</a:t>
              </a:r>
            </a:p>
          </p:txBody>
        </p:sp>
      </p:grpSp>
      <p:grpSp>
        <p:nvGrpSpPr>
          <p:cNvPr name="Group 80" id="80"/>
          <p:cNvGrpSpPr/>
          <p:nvPr/>
        </p:nvGrpSpPr>
        <p:grpSpPr>
          <a:xfrm rot="0">
            <a:off x="1142619" y="5572887"/>
            <a:ext cx="5327142" cy="4133850"/>
            <a:chOff x="0" y="0"/>
            <a:chExt cx="7102856" cy="5511800"/>
          </a:xfrm>
        </p:grpSpPr>
        <p:sp>
          <p:nvSpPr>
            <p:cNvPr name="Freeform 81" id="81"/>
            <p:cNvSpPr/>
            <p:nvPr/>
          </p:nvSpPr>
          <p:spPr>
            <a:xfrm flipH="false" flipV="false" rot="0">
              <a:off x="0" y="0"/>
              <a:ext cx="7102856" cy="5511800"/>
            </a:xfrm>
            <a:custGeom>
              <a:avLst/>
              <a:gdLst/>
              <a:ahLst/>
              <a:cxnLst/>
              <a:rect r="r" b="b" t="t" l="l"/>
              <a:pathLst>
                <a:path h="5511800" w="7102856">
                  <a:moveTo>
                    <a:pt x="0" y="0"/>
                  </a:moveTo>
                  <a:lnTo>
                    <a:pt x="7102856" y="0"/>
                  </a:lnTo>
                  <a:lnTo>
                    <a:pt x="7102856" y="5511800"/>
                  </a:lnTo>
                  <a:lnTo>
                    <a:pt x="0" y="5511800"/>
                  </a:lnTo>
                  <a:close/>
                </a:path>
              </a:pathLst>
            </a:custGeom>
            <a:solidFill>
              <a:srgbClr val="FFFFFF"/>
            </a:solidFill>
            <a:ln w="19050" cap="sq">
              <a:solidFill>
                <a:srgbClr val="A9C9E8"/>
              </a:solidFill>
              <a:prstDash val="solid"/>
              <a:miter/>
            </a:ln>
          </p:spPr>
        </p:sp>
      </p:grpSp>
      <p:grpSp>
        <p:nvGrpSpPr>
          <p:cNvPr name="Group 82" id="82"/>
          <p:cNvGrpSpPr/>
          <p:nvPr/>
        </p:nvGrpSpPr>
        <p:grpSpPr>
          <a:xfrm rot="0">
            <a:off x="1371600" y="5801868"/>
            <a:ext cx="4869180" cy="343449"/>
            <a:chOff x="0" y="0"/>
            <a:chExt cx="6492240" cy="457932"/>
          </a:xfrm>
        </p:grpSpPr>
        <p:sp>
          <p:nvSpPr>
            <p:cNvPr name="Freeform 83" id="83"/>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84" id="84"/>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What we recommend</a:t>
              </a:r>
            </a:p>
          </p:txBody>
        </p:sp>
      </p:grpSp>
      <p:sp>
        <p:nvSpPr>
          <p:cNvPr name="TextBox 85" id="85"/>
          <p:cNvSpPr txBox="true"/>
          <p:nvPr/>
        </p:nvSpPr>
        <p:spPr>
          <a:xfrm rot="0">
            <a:off x="1371600" y="6101334"/>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Prioritize delayed orders, resolve pending customer deliveries, and improve customer communication.</a:t>
            </a:r>
          </a:p>
        </p:txBody>
      </p:sp>
      <p:grpSp>
        <p:nvGrpSpPr>
          <p:cNvPr name="Group 86" id="86"/>
          <p:cNvGrpSpPr/>
          <p:nvPr/>
        </p:nvGrpSpPr>
        <p:grpSpPr>
          <a:xfrm rot="0">
            <a:off x="1371600" y="7091172"/>
            <a:ext cx="4869180" cy="343449"/>
            <a:chOff x="0" y="0"/>
            <a:chExt cx="6492240" cy="457932"/>
          </a:xfrm>
        </p:grpSpPr>
        <p:sp>
          <p:nvSpPr>
            <p:cNvPr name="Freeform 87" id="87"/>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88" id="88"/>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Why it matters</a:t>
              </a:r>
            </a:p>
          </p:txBody>
        </p:sp>
      </p:grpSp>
      <p:sp>
        <p:nvSpPr>
          <p:cNvPr name="TextBox 89" id="89"/>
          <p:cNvSpPr txBox="true"/>
          <p:nvPr/>
        </p:nvSpPr>
        <p:spPr>
          <a:xfrm rot="0">
            <a:off x="1371600" y="7390638"/>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Fast resolution stops complaint escalation and rebuilds trust with the customers already affected.</a:t>
            </a:r>
          </a:p>
        </p:txBody>
      </p:sp>
      <p:grpSp>
        <p:nvGrpSpPr>
          <p:cNvPr name="Group 90" id="90"/>
          <p:cNvGrpSpPr/>
          <p:nvPr/>
        </p:nvGrpSpPr>
        <p:grpSpPr>
          <a:xfrm rot="0">
            <a:off x="1371600" y="8380476"/>
            <a:ext cx="4869180" cy="343449"/>
            <a:chOff x="0" y="0"/>
            <a:chExt cx="6492240" cy="457932"/>
          </a:xfrm>
        </p:grpSpPr>
        <p:sp>
          <p:nvSpPr>
            <p:cNvPr name="Freeform 91" id="91"/>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92" id="92"/>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Pilot target</a:t>
              </a:r>
            </a:p>
          </p:txBody>
        </p:sp>
      </p:grpSp>
      <p:sp>
        <p:nvSpPr>
          <p:cNvPr name="TextBox 93" id="93"/>
          <p:cNvSpPr txBox="true"/>
          <p:nvPr/>
        </p:nvSpPr>
        <p:spPr>
          <a:xfrm rot="0">
            <a:off x="1371600" y="8679942"/>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Clear the high-priority delivery backlog within two weeks of rollout.</a:t>
            </a:r>
          </a:p>
        </p:txBody>
      </p:sp>
      <p:grpSp>
        <p:nvGrpSpPr>
          <p:cNvPr name="Group 94" id="94"/>
          <p:cNvGrpSpPr/>
          <p:nvPr/>
        </p:nvGrpSpPr>
        <p:grpSpPr>
          <a:xfrm rot="0">
            <a:off x="6789420" y="5006340"/>
            <a:ext cx="5308092" cy="576072"/>
            <a:chOff x="0" y="0"/>
            <a:chExt cx="7077456" cy="768096"/>
          </a:xfrm>
        </p:grpSpPr>
        <p:sp>
          <p:nvSpPr>
            <p:cNvPr name="Freeform 95" id="95"/>
            <p:cNvSpPr/>
            <p:nvPr/>
          </p:nvSpPr>
          <p:spPr>
            <a:xfrm flipH="false" flipV="false" rot="0">
              <a:off x="0" y="0"/>
              <a:ext cx="7077456" cy="768096"/>
            </a:xfrm>
            <a:custGeom>
              <a:avLst/>
              <a:gdLst/>
              <a:ahLst/>
              <a:cxnLst/>
              <a:rect r="r" b="b" t="t" l="l"/>
              <a:pathLst>
                <a:path h="768096" w="7077456">
                  <a:moveTo>
                    <a:pt x="0" y="0"/>
                  </a:moveTo>
                  <a:lnTo>
                    <a:pt x="7077456" y="0"/>
                  </a:lnTo>
                  <a:lnTo>
                    <a:pt x="7077456" y="768096"/>
                  </a:lnTo>
                  <a:lnTo>
                    <a:pt x="0" y="768096"/>
                  </a:lnTo>
                  <a:close/>
                </a:path>
              </a:pathLst>
            </a:custGeom>
            <a:solidFill>
              <a:srgbClr val="7A00CC"/>
            </a:solidFill>
          </p:spPr>
        </p:sp>
      </p:grpSp>
      <p:grpSp>
        <p:nvGrpSpPr>
          <p:cNvPr name="Group 96" id="96"/>
          <p:cNvGrpSpPr/>
          <p:nvPr/>
        </p:nvGrpSpPr>
        <p:grpSpPr>
          <a:xfrm rot="0">
            <a:off x="7157239" y="5006340"/>
            <a:ext cx="4243269" cy="460510"/>
            <a:chOff x="0" y="0"/>
            <a:chExt cx="7077456" cy="768096"/>
          </a:xfrm>
        </p:grpSpPr>
        <p:sp>
          <p:nvSpPr>
            <p:cNvPr name="Freeform 97" id="97"/>
            <p:cNvSpPr/>
            <p:nvPr/>
          </p:nvSpPr>
          <p:spPr>
            <a:xfrm flipH="false" flipV="false" rot="0">
              <a:off x="0" y="0"/>
              <a:ext cx="7077456" cy="768096"/>
            </a:xfrm>
            <a:custGeom>
              <a:avLst/>
              <a:gdLst/>
              <a:ahLst/>
              <a:cxnLst/>
              <a:rect r="r" b="b" t="t" l="l"/>
              <a:pathLst>
                <a:path h="768096" w="7077456">
                  <a:moveTo>
                    <a:pt x="0" y="0"/>
                  </a:moveTo>
                  <a:lnTo>
                    <a:pt x="7077456" y="0"/>
                  </a:lnTo>
                  <a:lnTo>
                    <a:pt x="7077456" y="768096"/>
                  </a:lnTo>
                  <a:lnTo>
                    <a:pt x="0" y="768096"/>
                  </a:lnTo>
                  <a:close/>
                </a:path>
              </a:pathLst>
            </a:custGeom>
            <a:blipFill>
              <a:blip r:embed="rId2">
                <a:alphaModFix amt="0"/>
              </a:blip>
              <a:stretch>
                <a:fillRect l="0" t="-129540" r="0" b="-129540"/>
              </a:stretch>
            </a:blipFill>
          </p:spPr>
        </p:sp>
        <p:sp>
          <p:nvSpPr>
            <p:cNvPr name="TextBox 98" id="98"/>
            <p:cNvSpPr txBox="true"/>
            <p:nvPr/>
          </p:nvSpPr>
          <p:spPr>
            <a:xfrm>
              <a:off x="0" y="-47625"/>
              <a:ext cx="707745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SHORT-TERM RESPONSE</a:t>
              </a:r>
            </a:p>
          </p:txBody>
        </p:sp>
      </p:grpSp>
      <p:grpSp>
        <p:nvGrpSpPr>
          <p:cNvPr name="Group 99" id="99"/>
          <p:cNvGrpSpPr/>
          <p:nvPr/>
        </p:nvGrpSpPr>
        <p:grpSpPr>
          <a:xfrm rot="0">
            <a:off x="6779895" y="5572887"/>
            <a:ext cx="5327142" cy="4133850"/>
            <a:chOff x="0" y="0"/>
            <a:chExt cx="7102856" cy="5511800"/>
          </a:xfrm>
        </p:grpSpPr>
        <p:sp>
          <p:nvSpPr>
            <p:cNvPr name="Freeform 100" id="100"/>
            <p:cNvSpPr/>
            <p:nvPr/>
          </p:nvSpPr>
          <p:spPr>
            <a:xfrm flipH="false" flipV="false" rot="0">
              <a:off x="0" y="0"/>
              <a:ext cx="7102856" cy="5511800"/>
            </a:xfrm>
            <a:custGeom>
              <a:avLst/>
              <a:gdLst/>
              <a:ahLst/>
              <a:cxnLst/>
              <a:rect r="r" b="b" t="t" l="l"/>
              <a:pathLst>
                <a:path h="5511800" w="7102856">
                  <a:moveTo>
                    <a:pt x="0" y="0"/>
                  </a:moveTo>
                  <a:lnTo>
                    <a:pt x="7102856" y="0"/>
                  </a:lnTo>
                  <a:lnTo>
                    <a:pt x="7102856" y="5511800"/>
                  </a:lnTo>
                  <a:lnTo>
                    <a:pt x="0" y="5511800"/>
                  </a:lnTo>
                  <a:close/>
                </a:path>
              </a:pathLst>
            </a:custGeom>
            <a:solidFill>
              <a:srgbClr val="FFFFFF"/>
            </a:solidFill>
            <a:ln w="19050" cap="sq">
              <a:solidFill>
                <a:srgbClr val="A9C9E8"/>
              </a:solidFill>
              <a:prstDash val="solid"/>
              <a:miter/>
            </a:ln>
          </p:spPr>
        </p:sp>
      </p:grpSp>
      <p:grpSp>
        <p:nvGrpSpPr>
          <p:cNvPr name="Group 101" id="101"/>
          <p:cNvGrpSpPr/>
          <p:nvPr/>
        </p:nvGrpSpPr>
        <p:grpSpPr>
          <a:xfrm rot="0">
            <a:off x="7008876" y="5801868"/>
            <a:ext cx="4869180" cy="343449"/>
            <a:chOff x="0" y="0"/>
            <a:chExt cx="6492240" cy="457932"/>
          </a:xfrm>
        </p:grpSpPr>
        <p:sp>
          <p:nvSpPr>
            <p:cNvPr name="Freeform 102" id="102"/>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103" id="103"/>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What we recommend</a:t>
              </a:r>
            </a:p>
          </p:txBody>
        </p:sp>
      </p:grpSp>
      <p:sp>
        <p:nvSpPr>
          <p:cNvPr name="TextBox 104" id="104"/>
          <p:cNvSpPr txBox="true"/>
          <p:nvPr/>
        </p:nvSpPr>
        <p:spPr>
          <a:xfrm rot="0">
            <a:off x="7008876" y="6101334"/>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Review supplier performance, strengthen inventory monitoring, and identify process bottlenecks.</a:t>
            </a:r>
          </a:p>
        </p:txBody>
      </p:sp>
      <p:grpSp>
        <p:nvGrpSpPr>
          <p:cNvPr name="Group 105" id="105"/>
          <p:cNvGrpSpPr/>
          <p:nvPr/>
        </p:nvGrpSpPr>
        <p:grpSpPr>
          <a:xfrm rot="0">
            <a:off x="7008876" y="7091172"/>
            <a:ext cx="4869180" cy="343449"/>
            <a:chOff x="0" y="0"/>
            <a:chExt cx="6492240" cy="457932"/>
          </a:xfrm>
        </p:grpSpPr>
        <p:sp>
          <p:nvSpPr>
            <p:cNvPr name="Freeform 106" id="106"/>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107" id="107"/>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Why it matters</a:t>
              </a:r>
            </a:p>
          </p:txBody>
        </p:sp>
      </p:grpSp>
      <p:sp>
        <p:nvSpPr>
          <p:cNvPr name="TextBox 108" id="108"/>
          <p:cNvSpPr txBox="true"/>
          <p:nvPr/>
        </p:nvSpPr>
        <p:spPr>
          <a:xfrm rot="0">
            <a:off x="7008876" y="7390638"/>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Fixing the operational root cause is what stops the delays and complaints from coming back.</a:t>
            </a:r>
          </a:p>
        </p:txBody>
      </p:sp>
      <p:grpSp>
        <p:nvGrpSpPr>
          <p:cNvPr name="Group 109" id="109"/>
          <p:cNvGrpSpPr/>
          <p:nvPr/>
        </p:nvGrpSpPr>
        <p:grpSpPr>
          <a:xfrm rot="0">
            <a:off x="7008876" y="8380476"/>
            <a:ext cx="4869180" cy="343449"/>
            <a:chOff x="0" y="0"/>
            <a:chExt cx="6492240" cy="457932"/>
          </a:xfrm>
        </p:grpSpPr>
        <p:sp>
          <p:nvSpPr>
            <p:cNvPr name="Freeform 110" id="110"/>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111" id="111"/>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Pilot target</a:t>
              </a:r>
            </a:p>
          </p:txBody>
        </p:sp>
      </p:grpSp>
      <p:sp>
        <p:nvSpPr>
          <p:cNvPr name="TextBox 112" id="112"/>
          <p:cNvSpPr txBox="true"/>
          <p:nvPr/>
        </p:nvSpPr>
        <p:spPr>
          <a:xfrm rot="0">
            <a:off x="7008876" y="8679942"/>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Bring the 18% shipment-delay rate down to a single digit within one quarter.</a:t>
            </a:r>
          </a:p>
        </p:txBody>
      </p:sp>
      <p:grpSp>
        <p:nvGrpSpPr>
          <p:cNvPr name="Group 113" id="113"/>
          <p:cNvGrpSpPr/>
          <p:nvPr/>
        </p:nvGrpSpPr>
        <p:grpSpPr>
          <a:xfrm rot="0">
            <a:off x="12426696" y="5006340"/>
            <a:ext cx="5308092" cy="576072"/>
            <a:chOff x="0" y="0"/>
            <a:chExt cx="7077456" cy="768096"/>
          </a:xfrm>
        </p:grpSpPr>
        <p:sp>
          <p:nvSpPr>
            <p:cNvPr name="Freeform 114" id="114"/>
            <p:cNvSpPr/>
            <p:nvPr/>
          </p:nvSpPr>
          <p:spPr>
            <a:xfrm flipH="false" flipV="false" rot="0">
              <a:off x="0" y="0"/>
              <a:ext cx="7077456" cy="768096"/>
            </a:xfrm>
            <a:custGeom>
              <a:avLst/>
              <a:gdLst/>
              <a:ahLst/>
              <a:cxnLst/>
              <a:rect r="r" b="b" t="t" l="l"/>
              <a:pathLst>
                <a:path h="768096" w="7077456">
                  <a:moveTo>
                    <a:pt x="0" y="0"/>
                  </a:moveTo>
                  <a:lnTo>
                    <a:pt x="7077456" y="0"/>
                  </a:lnTo>
                  <a:lnTo>
                    <a:pt x="7077456" y="768096"/>
                  </a:lnTo>
                  <a:lnTo>
                    <a:pt x="0" y="768096"/>
                  </a:lnTo>
                  <a:close/>
                </a:path>
              </a:pathLst>
            </a:custGeom>
            <a:solidFill>
              <a:srgbClr val="7A00CC"/>
            </a:solidFill>
          </p:spPr>
        </p:sp>
      </p:grpSp>
      <p:grpSp>
        <p:nvGrpSpPr>
          <p:cNvPr name="Group 115" id="115"/>
          <p:cNvGrpSpPr/>
          <p:nvPr/>
        </p:nvGrpSpPr>
        <p:grpSpPr>
          <a:xfrm rot="0">
            <a:off x="12980253" y="5022973"/>
            <a:ext cx="4243269" cy="460510"/>
            <a:chOff x="0" y="0"/>
            <a:chExt cx="7077456" cy="768096"/>
          </a:xfrm>
        </p:grpSpPr>
        <p:sp>
          <p:nvSpPr>
            <p:cNvPr name="Freeform 116" id="116"/>
            <p:cNvSpPr/>
            <p:nvPr/>
          </p:nvSpPr>
          <p:spPr>
            <a:xfrm flipH="false" flipV="false" rot="0">
              <a:off x="0" y="0"/>
              <a:ext cx="7077456" cy="768096"/>
            </a:xfrm>
            <a:custGeom>
              <a:avLst/>
              <a:gdLst/>
              <a:ahLst/>
              <a:cxnLst/>
              <a:rect r="r" b="b" t="t" l="l"/>
              <a:pathLst>
                <a:path h="768096" w="7077456">
                  <a:moveTo>
                    <a:pt x="0" y="0"/>
                  </a:moveTo>
                  <a:lnTo>
                    <a:pt x="7077456" y="0"/>
                  </a:lnTo>
                  <a:lnTo>
                    <a:pt x="7077456" y="768096"/>
                  </a:lnTo>
                  <a:lnTo>
                    <a:pt x="0" y="768096"/>
                  </a:lnTo>
                  <a:close/>
                </a:path>
              </a:pathLst>
            </a:custGeom>
            <a:blipFill>
              <a:blip r:embed="rId2">
                <a:alphaModFix amt="0"/>
              </a:blip>
              <a:stretch>
                <a:fillRect l="0" t="-129540" r="0" b="-129540"/>
              </a:stretch>
            </a:blipFill>
          </p:spPr>
        </p:sp>
        <p:sp>
          <p:nvSpPr>
            <p:cNvPr name="TextBox 117" id="117"/>
            <p:cNvSpPr txBox="true"/>
            <p:nvPr/>
          </p:nvSpPr>
          <p:spPr>
            <a:xfrm>
              <a:off x="0" y="-47625"/>
              <a:ext cx="707745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LONG-TERM RESPONSE</a:t>
              </a:r>
            </a:p>
          </p:txBody>
        </p:sp>
      </p:grpSp>
      <p:grpSp>
        <p:nvGrpSpPr>
          <p:cNvPr name="Group 118" id="118"/>
          <p:cNvGrpSpPr/>
          <p:nvPr/>
        </p:nvGrpSpPr>
        <p:grpSpPr>
          <a:xfrm rot="0">
            <a:off x="12417171" y="5572887"/>
            <a:ext cx="5327142" cy="4133850"/>
            <a:chOff x="0" y="0"/>
            <a:chExt cx="7102856" cy="5511800"/>
          </a:xfrm>
        </p:grpSpPr>
        <p:sp>
          <p:nvSpPr>
            <p:cNvPr name="Freeform 119" id="119"/>
            <p:cNvSpPr/>
            <p:nvPr/>
          </p:nvSpPr>
          <p:spPr>
            <a:xfrm flipH="false" flipV="false" rot="0">
              <a:off x="0" y="0"/>
              <a:ext cx="7102856" cy="5511800"/>
            </a:xfrm>
            <a:custGeom>
              <a:avLst/>
              <a:gdLst/>
              <a:ahLst/>
              <a:cxnLst/>
              <a:rect r="r" b="b" t="t" l="l"/>
              <a:pathLst>
                <a:path h="5511800" w="7102856">
                  <a:moveTo>
                    <a:pt x="0" y="0"/>
                  </a:moveTo>
                  <a:lnTo>
                    <a:pt x="7102856" y="0"/>
                  </a:lnTo>
                  <a:lnTo>
                    <a:pt x="7102856" y="5511800"/>
                  </a:lnTo>
                  <a:lnTo>
                    <a:pt x="0" y="5511800"/>
                  </a:lnTo>
                  <a:close/>
                </a:path>
              </a:pathLst>
            </a:custGeom>
            <a:solidFill>
              <a:srgbClr val="FFFFFF"/>
            </a:solidFill>
            <a:ln w="19050" cap="sq">
              <a:solidFill>
                <a:srgbClr val="A9C9E8"/>
              </a:solidFill>
              <a:prstDash val="solid"/>
              <a:miter/>
            </a:ln>
          </p:spPr>
        </p:sp>
      </p:grpSp>
      <p:grpSp>
        <p:nvGrpSpPr>
          <p:cNvPr name="Group 120" id="120"/>
          <p:cNvGrpSpPr/>
          <p:nvPr/>
        </p:nvGrpSpPr>
        <p:grpSpPr>
          <a:xfrm rot="0">
            <a:off x="12646152" y="5801868"/>
            <a:ext cx="4869180" cy="343449"/>
            <a:chOff x="0" y="0"/>
            <a:chExt cx="6492240" cy="457932"/>
          </a:xfrm>
        </p:grpSpPr>
        <p:sp>
          <p:nvSpPr>
            <p:cNvPr name="Freeform 121" id="121"/>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122" id="122"/>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What we recommend</a:t>
              </a:r>
            </a:p>
          </p:txBody>
        </p:sp>
      </p:grpSp>
      <p:sp>
        <p:nvSpPr>
          <p:cNvPr name="TextBox 123" id="123"/>
          <p:cNvSpPr txBox="true"/>
          <p:nvPr/>
        </p:nvSpPr>
        <p:spPr>
          <a:xfrm rot="0">
            <a:off x="12646152" y="6101334"/>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Develop alternative supplier relationships, increase supply chain flexibility, and monitor continuously.</a:t>
            </a:r>
          </a:p>
        </p:txBody>
      </p:sp>
      <p:grpSp>
        <p:nvGrpSpPr>
          <p:cNvPr name="Group 124" id="124"/>
          <p:cNvGrpSpPr/>
          <p:nvPr/>
        </p:nvGrpSpPr>
        <p:grpSpPr>
          <a:xfrm rot="0">
            <a:off x="12646152" y="7091172"/>
            <a:ext cx="4869180" cy="343449"/>
            <a:chOff x="0" y="0"/>
            <a:chExt cx="6492240" cy="457932"/>
          </a:xfrm>
        </p:grpSpPr>
        <p:sp>
          <p:nvSpPr>
            <p:cNvPr name="Freeform 125" id="125"/>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126" id="126"/>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Why it matters</a:t>
              </a:r>
            </a:p>
          </p:txBody>
        </p:sp>
      </p:grpSp>
      <p:sp>
        <p:nvSpPr>
          <p:cNvPr name="TextBox 127" id="127"/>
          <p:cNvSpPr txBox="true"/>
          <p:nvPr/>
        </p:nvSpPr>
        <p:spPr>
          <a:xfrm rot="0">
            <a:off x="12646152" y="7390638"/>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A diversified, continuously-watched supply chain protects revenue the next time disruption hits.</a:t>
            </a:r>
          </a:p>
        </p:txBody>
      </p:sp>
      <p:grpSp>
        <p:nvGrpSpPr>
          <p:cNvPr name="Group 128" id="128"/>
          <p:cNvGrpSpPr/>
          <p:nvPr/>
        </p:nvGrpSpPr>
        <p:grpSpPr>
          <a:xfrm rot="0">
            <a:off x="12646152" y="8380476"/>
            <a:ext cx="4869180" cy="343449"/>
            <a:chOff x="0" y="0"/>
            <a:chExt cx="6492240" cy="457932"/>
          </a:xfrm>
        </p:grpSpPr>
        <p:sp>
          <p:nvSpPr>
            <p:cNvPr name="Freeform 129" id="129"/>
            <p:cNvSpPr/>
            <p:nvPr/>
          </p:nvSpPr>
          <p:spPr>
            <a:xfrm flipH="false" flipV="false" rot="0">
              <a:off x="0" y="0"/>
              <a:ext cx="6492240" cy="457932"/>
            </a:xfrm>
            <a:custGeom>
              <a:avLst/>
              <a:gdLst/>
              <a:ahLst/>
              <a:cxnLst/>
              <a:rect r="r" b="b" t="t" l="l"/>
              <a:pathLst>
                <a:path h="457932" w="6492240">
                  <a:moveTo>
                    <a:pt x="0" y="0"/>
                  </a:moveTo>
                  <a:lnTo>
                    <a:pt x="6492240" y="0"/>
                  </a:lnTo>
                  <a:lnTo>
                    <a:pt x="6492240" y="457932"/>
                  </a:lnTo>
                  <a:lnTo>
                    <a:pt x="0" y="457932"/>
                  </a:lnTo>
                  <a:close/>
                </a:path>
              </a:pathLst>
            </a:custGeom>
            <a:blipFill>
              <a:blip r:embed="rId2">
                <a:alphaModFix amt="0"/>
              </a:blip>
              <a:stretch>
                <a:fillRect l="0" t="-228322" r="0" b="-224168"/>
              </a:stretch>
            </a:blipFill>
          </p:spPr>
        </p:sp>
        <p:sp>
          <p:nvSpPr>
            <p:cNvPr name="TextBox 130" id="130"/>
            <p:cNvSpPr txBox="true"/>
            <p:nvPr/>
          </p:nvSpPr>
          <p:spPr>
            <a:xfrm>
              <a:off x="0" y="-38100"/>
              <a:ext cx="6492240" cy="496032"/>
            </a:xfrm>
            <a:prstGeom prst="rect">
              <a:avLst/>
            </a:prstGeom>
          </p:spPr>
          <p:txBody>
            <a:bodyPr anchor="ctr" rtlCol="false" tIns="0" lIns="0" bIns="0" rIns="0"/>
            <a:lstStyle/>
            <a:p>
              <a:pPr algn="l">
                <a:lnSpc>
                  <a:spcPts val="2099"/>
                </a:lnSpc>
              </a:pPr>
              <a:r>
                <a:rPr lang="en-US" sz="1749" b="true">
                  <a:solidFill>
                    <a:srgbClr val="9B1FCB"/>
                  </a:solidFill>
                  <a:latin typeface="Calibri (MS) Bold"/>
                  <a:ea typeface="Calibri (MS) Bold"/>
                  <a:cs typeface="Calibri (MS) Bold"/>
                  <a:sym typeface="Calibri (MS) Bold"/>
                </a:rPr>
                <a:t>Pilot target</a:t>
              </a:r>
            </a:p>
          </p:txBody>
        </p:sp>
      </p:grpSp>
      <p:sp>
        <p:nvSpPr>
          <p:cNvPr name="TextBox 131" id="131"/>
          <p:cNvSpPr txBox="true"/>
          <p:nvPr/>
        </p:nvSpPr>
        <p:spPr>
          <a:xfrm rot="0">
            <a:off x="12646152" y="8679942"/>
            <a:ext cx="4869180" cy="597560"/>
          </a:xfrm>
          <a:prstGeom prst="rect">
            <a:avLst/>
          </a:prstGeom>
        </p:spPr>
        <p:txBody>
          <a:bodyPr anchor="t" rtlCol="false" tIns="0" lIns="0" bIns="0" rIns="0">
            <a:spAutoFit/>
          </a:bodyPr>
          <a:lstStyle/>
          <a:p>
            <a:pPr algn="l">
              <a:lnSpc>
                <a:spcPts val="2284"/>
              </a:lnSpc>
            </a:pPr>
            <a:r>
              <a:rPr lang="en-US" sz="1699">
                <a:solidFill>
                  <a:srgbClr val="222222"/>
                </a:solidFill>
                <a:latin typeface="Calibri (MS)"/>
                <a:ea typeface="Calibri (MS)"/>
                <a:cs typeface="Calibri (MS)"/>
                <a:sym typeface="Calibri (MS)"/>
              </a:rPr>
              <a:t>No repeat of a supplier-driven revenue decline of this size within four quarters.</a:t>
            </a:r>
          </a:p>
        </p:txBody>
      </p:sp>
      <p:grpSp>
        <p:nvGrpSpPr>
          <p:cNvPr name="Group 132" id="132"/>
          <p:cNvGrpSpPr/>
          <p:nvPr/>
        </p:nvGrpSpPr>
        <p:grpSpPr>
          <a:xfrm rot="0">
            <a:off x="6216015" y="3953828"/>
            <a:ext cx="685800" cy="411480"/>
            <a:chOff x="0" y="0"/>
            <a:chExt cx="914400" cy="548640"/>
          </a:xfrm>
        </p:grpSpPr>
        <p:sp>
          <p:nvSpPr>
            <p:cNvPr name="Freeform 133" id="133"/>
            <p:cNvSpPr/>
            <p:nvPr/>
          </p:nvSpPr>
          <p:spPr>
            <a:xfrm flipH="false" flipV="false" rot="0">
              <a:off x="0" y="0"/>
              <a:ext cx="914400" cy="548640"/>
            </a:xfrm>
            <a:custGeom>
              <a:avLst/>
              <a:gdLst/>
              <a:ahLst/>
              <a:cxnLst/>
              <a:rect r="r" b="b" t="t" l="l"/>
              <a:pathLst>
                <a:path h="548640" w="914400">
                  <a:moveTo>
                    <a:pt x="0" y="0"/>
                  </a:moveTo>
                  <a:lnTo>
                    <a:pt x="914400" y="0"/>
                  </a:lnTo>
                  <a:lnTo>
                    <a:pt x="914400" y="548640"/>
                  </a:lnTo>
                  <a:lnTo>
                    <a:pt x="0" y="548640"/>
                  </a:lnTo>
                  <a:close/>
                </a:path>
              </a:pathLst>
            </a:custGeom>
            <a:blipFill>
              <a:blip r:embed="rId2">
                <a:alphaModFix amt="0"/>
              </a:blip>
              <a:stretch>
                <a:fillRect l="-26982" t="0" r="-26982" b="0"/>
              </a:stretch>
            </a:blipFill>
          </p:spPr>
        </p:sp>
        <p:sp>
          <p:nvSpPr>
            <p:cNvPr name="TextBox 134" id="134"/>
            <p:cNvSpPr txBox="true"/>
            <p:nvPr/>
          </p:nvSpPr>
          <p:spPr>
            <a:xfrm>
              <a:off x="0" y="-38100"/>
              <a:ext cx="914400" cy="586740"/>
            </a:xfrm>
            <a:prstGeom prst="rect">
              <a:avLst/>
            </a:prstGeom>
          </p:spPr>
          <p:txBody>
            <a:bodyPr anchor="ctr" rtlCol="false" tIns="0" lIns="0" bIns="0" rIns="0"/>
            <a:lstStyle/>
            <a:p>
              <a:pPr algn="ctr">
                <a:lnSpc>
                  <a:spcPts val="2879"/>
                </a:lnSpc>
              </a:pPr>
              <a:r>
                <a:rPr lang="en-US" sz="2400" b="true">
                  <a:solidFill>
                    <a:srgbClr val="8FB6DE"/>
                  </a:solidFill>
                  <a:latin typeface="Calibri (MS) Bold"/>
                  <a:ea typeface="Calibri (MS) Bold"/>
                  <a:cs typeface="Calibri (MS) Bold"/>
                  <a:sym typeface="Calibri (MS) Bold"/>
                </a:rPr>
                <a:t>▸</a:t>
              </a:r>
            </a:p>
          </p:txBody>
        </p:sp>
      </p:grpSp>
      <p:grpSp>
        <p:nvGrpSpPr>
          <p:cNvPr name="Group 135" id="135"/>
          <p:cNvGrpSpPr/>
          <p:nvPr/>
        </p:nvGrpSpPr>
        <p:grpSpPr>
          <a:xfrm rot="0">
            <a:off x="11878056" y="3953828"/>
            <a:ext cx="685800" cy="493967"/>
            <a:chOff x="0" y="0"/>
            <a:chExt cx="914400" cy="658622"/>
          </a:xfrm>
        </p:grpSpPr>
        <p:sp>
          <p:nvSpPr>
            <p:cNvPr name="Freeform 136" id="136"/>
            <p:cNvSpPr/>
            <p:nvPr/>
          </p:nvSpPr>
          <p:spPr>
            <a:xfrm flipH="false" flipV="false" rot="0">
              <a:off x="0" y="0"/>
              <a:ext cx="914400" cy="658622"/>
            </a:xfrm>
            <a:custGeom>
              <a:avLst/>
              <a:gdLst/>
              <a:ahLst/>
              <a:cxnLst/>
              <a:rect r="r" b="b" t="t" l="l"/>
              <a:pathLst>
                <a:path h="658622" w="914400">
                  <a:moveTo>
                    <a:pt x="0" y="0"/>
                  </a:moveTo>
                  <a:lnTo>
                    <a:pt x="914400" y="0"/>
                  </a:lnTo>
                  <a:lnTo>
                    <a:pt x="914400" y="658622"/>
                  </a:lnTo>
                  <a:lnTo>
                    <a:pt x="0" y="658622"/>
                  </a:lnTo>
                  <a:close/>
                </a:path>
              </a:pathLst>
            </a:custGeom>
            <a:blipFill>
              <a:blip r:embed="rId2">
                <a:alphaModFix amt="0"/>
              </a:blip>
              <a:stretch>
                <a:fillRect l="-26982" t="0" r="-26982" b="16698"/>
              </a:stretch>
            </a:blipFill>
          </p:spPr>
        </p:sp>
        <p:sp>
          <p:nvSpPr>
            <p:cNvPr name="TextBox 137" id="137"/>
            <p:cNvSpPr txBox="true"/>
            <p:nvPr/>
          </p:nvSpPr>
          <p:spPr>
            <a:xfrm>
              <a:off x="0" y="-38100"/>
              <a:ext cx="914400" cy="696722"/>
            </a:xfrm>
            <a:prstGeom prst="rect">
              <a:avLst/>
            </a:prstGeom>
          </p:spPr>
          <p:txBody>
            <a:bodyPr anchor="ctr" rtlCol="false" tIns="0" lIns="0" bIns="0" rIns="0"/>
            <a:lstStyle/>
            <a:p>
              <a:pPr algn="ctr">
                <a:lnSpc>
                  <a:spcPts val="2879"/>
                </a:lnSpc>
              </a:pPr>
              <a:r>
                <a:rPr lang="en-US" sz="2400" b="true">
                  <a:solidFill>
                    <a:srgbClr val="8FB6DE"/>
                  </a:solidFill>
                  <a:latin typeface="Calibri (MS) Bold"/>
                  <a:ea typeface="Calibri (MS) Bold"/>
                  <a:cs typeface="Calibri (MS) Bold"/>
                  <a:sym typeface="Calibri (MS) Bold"/>
                </a:rPr>
                <a: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1A3FF"/>
        </a:solidFill>
      </p:bgPr>
    </p:bg>
    <p:spTree>
      <p:nvGrpSpPr>
        <p:cNvPr id="1" name=""/>
        <p:cNvGrpSpPr/>
        <p:nvPr/>
      </p:nvGrpSpPr>
      <p:grpSpPr>
        <a:xfrm>
          <a:off x="0" y="0"/>
          <a:ext cx="0" cy="0"/>
          <a:chOff x="0" y="0"/>
          <a:chExt cx="0" cy="0"/>
        </a:xfrm>
      </p:grpSpPr>
      <p:grpSp>
        <p:nvGrpSpPr>
          <p:cNvPr name="Group 2" id="2"/>
          <p:cNvGrpSpPr/>
          <p:nvPr/>
        </p:nvGrpSpPr>
        <p:grpSpPr>
          <a:xfrm rot="5400000">
            <a:off x="4000500" y="-4000500"/>
            <a:ext cx="10287000" cy="18288000"/>
            <a:chOff x="0" y="0"/>
            <a:chExt cx="13716000" cy="24384000"/>
          </a:xfrm>
        </p:grpSpPr>
        <p:sp>
          <p:nvSpPr>
            <p:cNvPr name="Freeform 3" id="3" descr="A purple and black background  AI-generated content may be incorrect."/>
            <p:cNvSpPr/>
            <p:nvPr/>
          </p:nvSpPr>
          <p:spPr>
            <a:xfrm flipH="false" flipV="false" rot="0">
              <a:off x="0" y="0"/>
              <a:ext cx="13716000" cy="24384000"/>
            </a:xfrm>
            <a:custGeom>
              <a:avLst/>
              <a:gdLst/>
              <a:ahLst/>
              <a:cxnLst/>
              <a:rect r="r" b="b" t="t" l="l"/>
              <a:pathLst>
                <a:path h="24384000" w="13716000">
                  <a:moveTo>
                    <a:pt x="0" y="0"/>
                  </a:moveTo>
                  <a:lnTo>
                    <a:pt x="13716000" y="0"/>
                  </a:lnTo>
                  <a:lnTo>
                    <a:pt x="13716000" y="24384000"/>
                  </a:lnTo>
                  <a:lnTo>
                    <a:pt x="0" y="24384000"/>
                  </a:lnTo>
                  <a:lnTo>
                    <a:pt x="0" y="0"/>
                  </a:lnTo>
                  <a:close/>
                </a:path>
              </a:pathLst>
            </a:custGeom>
            <a:blipFill>
              <a:blip r:embed="rId2"/>
              <a:stretch>
                <a:fillRect l="0" t="0" r="-88" b="0"/>
              </a:stretch>
            </a:blipFill>
          </p:spPr>
        </p:sp>
      </p:grpSp>
      <p:grpSp>
        <p:nvGrpSpPr>
          <p:cNvPr name="Group 4" id="4"/>
          <p:cNvGrpSpPr/>
          <p:nvPr/>
        </p:nvGrpSpPr>
        <p:grpSpPr>
          <a:xfrm rot="0">
            <a:off x="13547865" y="9644777"/>
            <a:ext cx="3597135" cy="184671"/>
            <a:chOff x="0" y="0"/>
            <a:chExt cx="4796180" cy="246228"/>
          </a:xfrm>
        </p:grpSpPr>
        <p:sp>
          <p:nvSpPr>
            <p:cNvPr name="Freeform 5" id="5"/>
            <p:cNvSpPr/>
            <p:nvPr/>
          </p:nvSpPr>
          <p:spPr>
            <a:xfrm flipH="false" flipV="false" rot="0">
              <a:off x="0" y="0"/>
              <a:ext cx="4796184" cy="246222"/>
            </a:xfrm>
            <a:custGeom>
              <a:avLst/>
              <a:gdLst/>
              <a:ahLst/>
              <a:cxnLst/>
              <a:rect r="r" b="b" t="t" l="l"/>
              <a:pathLst>
                <a:path h="246222" w="4796184">
                  <a:moveTo>
                    <a:pt x="0" y="0"/>
                  </a:moveTo>
                  <a:lnTo>
                    <a:pt x="4796184" y="0"/>
                  </a:lnTo>
                  <a:lnTo>
                    <a:pt x="4796184" y="246222"/>
                  </a:lnTo>
                  <a:lnTo>
                    <a:pt x="0" y="246222"/>
                  </a:lnTo>
                  <a:close/>
                </a:path>
              </a:pathLst>
            </a:custGeom>
            <a:blipFill>
              <a:blip r:embed="rId3">
                <a:alphaModFix amt="0"/>
              </a:blip>
              <a:stretch>
                <a:fillRect l="0" t="-329549" r="0" b="-329551"/>
              </a:stretch>
            </a:blipFill>
          </p:spPr>
        </p:sp>
        <p:sp>
          <p:nvSpPr>
            <p:cNvPr name="TextBox 6" id="6"/>
            <p:cNvSpPr txBox="true"/>
            <p:nvPr/>
          </p:nvSpPr>
          <p:spPr>
            <a:xfrm>
              <a:off x="0" y="-19050"/>
              <a:ext cx="4796180" cy="265278"/>
            </a:xfrm>
            <a:prstGeom prst="rect">
              <a:avLst/>
            </a:prstGeom>
          </p:spPr>
          <p:txBody>
            <a:bodyPr anchor="ctr" rtlCol="false" tIns="0" lIns="0" bIns="0" rIns="0"/>
            <a:lstStyle/>
            <a:p>
              <a:pPr algn="r">
                <a:lnSpc>
                  <a:spcPts val="1439"/>
                </a:lnSpc>
              </a:pPr>
              <a:r>
                <a:rPr lang="en-US" sz="1200">
                  <a:solidFill>
                    <a:srgbClr val="D9D9D9"/>
                  </a:solidFill>
                  <a:latin typeface="Arimo"/>
                  <a:ea typeface="Arimo"/>
                  <a:cs typeface="Arimo"/>
                  <a:sym typeface="Arimo"/>
                </a:rPr>
                <a:t>Copyright © 2026 Accenture. All rights reserved.</a:t>
              </a:r>
            </a:p>
          </p:txBody>
        </p:sp>
      </p:grpSp>
      <p:grpSp>
        <p:nvGrpSpPr>
          <p:cNvPr name="Group 7" id="7"/>
          <p:cNvGrpSpPr/>
          <p:nvPr/>
        </p:nvGrpSpPr>
        <p:grpSpPr>
          <a:xfrm rot="0">
            <a:off x="17528943" y="9644777"/>
            <a:ext cx="187557" cy="184671"/>
            <a:chOff x="0" y="0"/>
            <a:chExt cx="250076" cy="246228"/>
          </a:xfrm>
        </p:grpSpPr>
        <p:sp>
          <p:nvSpPr>
            <p:cNvPr name="Freeform 8" id="8"/>
            <p:cNvSpPr/>
            <p:nvPr/>
          </p:nvSpPr>
          <p:spPr>
            <a:xfrm flipH="false" flipV="false" rot="0">
              <a:off x="0" y="0"/>
              <a:ext cx="250070" cy="246222"/>
            </a:xfrm>
            <a:custGeom>
              <a:avLst/>
              <a:gdLst/>
              <a:ahLst/>
              <a:cxnLst/>
              <a:rect r="r" b="b" t="t" l="l"/>
              <a:pathLst>
                <a:path h="246222" w="250070">
                  <a:moveTo>
                    <a:pt x="0" y="0"/>
                  </a:moveTo>
                  <a:lnTo>
                    <a:pt x="250070" y="0"/>
                  </a:lnTo>
                  <a:lnTo>
                    <a:pt x="250070" y="246222"/>
                  </a:lnTo>
                  <a:lnTo>
                    <a:pt x="0" y="246222"/>
                  </a:lnTo>
                  <a:close/>
                </a:path>
              </a:pathLst>
            </a:custGeom>
            <a:blipFill>
              <a:blip r:embed="rId3">
                <a:alphaModFix amt="0"/>
              </a:blip>
              <a:stretch>
                <a:fillRect l="-76331" t="0" r="-76333" b="-2"/>
              </a:stretch>
            </a:blipFill>
          </p:spPr>
        </p:sp>
        <p:sp>
          <p:nvSpPr>
            <p:cNvPr name="TextBox 9" id="9"/>
            <p:cNvSpPr txBox="true"/>
            <p:nvPr/>
          </p:nvSpPr>
          <p:spPr>
            <a:xfrm>
              <a:off x="0" y="-19050"/>
              <a:ext cx="250076" cy="265278"/>
            </a:xfrm>
            <a:prstGeom prst="rect">
              <a:avLst/>
            </a:prstGeom>
          </p:spPr>
          <p:txBody>
            <a:bodyPr anchor="ctr" rtlCol="false" tIns="0" lIns="0" bIns="0" rIns="0"/>
            <a:lstStyle/>
            <a:p>
              <a:pPr algn="r">
                <a:lnSpc>
                  <a:spcPts val="1439"/>
                </a:lnSpc>
              </a:pPr>
              <a:r>
                <a:rPr lang="en-US" sz="1200">
                  <a:solidFill>
                    <a:srgbClr val="D9D9D9"/>
                  </a:solidFill>
                  <a:latin typeface="Arimo"/>
                  <a:ea typeface="Arimo"/>
                  <a:cs typeface="Arimo"/>
                  <a:sym typeface="Arimo"/>
                </a:rPr>
                <a:t>‹#›</a:t>
              </a:r>
            </a:p>
          </p:txBody>
        </p:sp>
      </p:grpSp>
      <p:grpSp>
        <p:nvGrpSpPr>
          <p:cNvPr name="Group 10" id="10"/>
          <p:cNvGrpSpPr/>
          <p:nvPr/>
        </p:nvGrpSpPr>
        <p:grpSpPr>
          <a:xfrm rot="0">
            <a:off x="842401" y="9575997"/>
            <a:ext cx="274939" cy="301752"/>
            <a:chOff x="0" y="0"/>
            <a:chExt cx="366586" cy="402336"/>
          </a:xfrm>
        </p:grpSpPr>
        <p:sp>
          <p:nvSpPr>
            <p:cNvPr name="Freeform 11" id="11"/>
            <p:cNvSpPr/>
            <p:nvPr/>
          </p:nvSpPr>
          <p:spPr>
            <a:xfrm flipH="false" flipV="false" rot="0">
              <a:off x="0" y="0"/>
              <a:ext cx="366649" cy="402336"/>
            </a:xfrm>
            <a:custGeom>
              <a:avLst/>
              <a:gdLst/>
              <a:ahLst/>
              <a:cxnLst/>
              <a:rect r="r" b="b" t="t" l="l"/>
              <a:pathLst>
                <a:path h="402336" w="366649">
                  <a:moveTo>
                    <a:pt x="0" y="402336"/>
                  </a:moveTo>
                  <a:lnTo>
                    <a:pt x="366649" y="253619"/>
                  </a:lnTo>
                  <a:lnTo>
                    <a:pt x="366649" y="148717"/>
                  </a:lnTo>
                  <a:lnTo>
                    <a:pt x="0" y="0"/>
                  </a:lnTo>
                  <a:lnTo>
                    <a:pt x="0" y="105029"/>
                  </a:lnTo>
                  <a:lnTo>
                    <a:pt x="236982" y="201168"/>
                  </a:lnTo>
                  <a:lnTo>
                    <a:pt x="0" y="297307"/>
                  </a:lnTo>
                  <a:lnTo>
                    <a:pt x="0" y="402336"/>
                  </a:lnTo>
                  <a:close/>
                </a:path>
              </a:pathLst>
            </a:custGeom>
            <a:solidFill>
              <a:srgbClr val="FFFFFF"/>
            </a:solidFill>
          </p:spPr>
        </p:sp>
      </p:grpSp>
      <p:grpSp>
        <p:nvGrpSpPr>
          <p:cNvPr name="Group 12" id="12"/>
          <p:cNvGrpSpPr/>
          <p:nvPr/>
        </p:nvGrpSpPr>
        <p:grpSpPr>
          <a:xfrm rot="0">
            <a:off x="1787023" y="5143500"/>
            <a:ext cx="7785783" cy="1477327"/>
            <a:chOff x="0" y="0"/>
            <a:chExt cx="10381044" cy="1969770"/>
          </a:xfrm>
        </p:grpSpPr>
        <p:sp>
          <p:nvSpPr>
            <p:cNvPr name="Freeform 13" id="13"/>
            <p:cNvSpPr/>
            <p:nvPr/>
          </p:nvSpPr>
          <p:spPr>
            <a:xfrm flipH="false" flipV="false" rot="0">
              <a:off x="0" y="0"/>
              <a:ext cx="10381046" cy="1969770"/>
            </a:xfrm>
            <a:custGeom>
              <a:avLst/>
              <a:gdLst/>
              <a:ahLst/>
              <a:cxnLst/>
              <a:rect r="r" b="b" t="t" l="l"/>
              <a:pathLst>
                <a:path h="1969770" w="10381046">
                  <a:moveTo>
                    <a:pt x="0" y="0"/>
                  </a:moveTo>
                  <a:lnTo>
                    <a:pt x="10381046" y="0"/>
                  </a:lnTo>
                  <a:lnTo>
                    <a:pt x="10381046" y="1969770"/>
                  </a:lnTo>
                  <a:lnTo>
                    <a:pt x="0" y="1969770"/>
                  </a:lnTo>
                  <a:close/>
                </a:path>
              </a:pathLst>
            </a:custGeom>
            <a:blipFill>
              <a:blip r:embed="rId3">
                <a:alphaModFix amt="0"/>
              </a:blip>
              <a:stretch>
                <a:fillRect l="0" t="-52689" r="0" b="-52689"/>
              </a:stretch>
            </a:blipFill>
          </p:spPr>
        </p:sp>
        <p:sp>
          <p:nvSpPr>
            <p:cNvPr name="TextBox 14" id="14"/>
            <p:cNvSpPr txBox="true"/>
            <p:nvPr/>
          </p:nvSpPr>
          <p:spPr>
            <a:xfrm>
              <a:off x="0" y="228600"/>
              <a:ext cx="10381044" cy="1741170"/>
            </a:xfrm>
            <a:prstGeom prst="rect">
              <a:avLst/>
            </a:prstGeom>
          </p:spPr>
          <p:txBody>
            <a:bodyPr anchor="ctr" rtlCol="false" tIns="0" lIns="0" bIns="0" rIns="0"/>
            <a:lstStyle/>
            <a:p>
              <a:pPr algn="l">
                <a:lnSpc>
                  <a:spcPts val="11519"/>
                </a:lnSpc>
              </a:pPr>
              <a:r>
                <a:rPr lang="en-US" sz="12000">
                  <a:solidFill>
                    <a:srgbClr val="FFFFFF"/>
                  </a:solidFill>
                  <a:latin typeface="Arimo"/>
                  <a:ea typeface="Arimo"/>
                  <a:cs typeface="Arimo"/>
                  <a:sym typeface="Arimo"/>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Transforming Metrics</dc:description>
  <dc:identifier>DAHSW6DaheY</dc:identifier>
  <dcterms:modified xsi:type="dcterms:W3CDTF">2011-08-01T06:04:30Z</dcterms:modified>
  <cp:revision>1</cp:revision>
  <dc:title>Presentation - Transforming Metrics</dc:title>
</cp:coreProperties>
</file>